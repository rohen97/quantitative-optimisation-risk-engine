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73152" cy="507492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: WOLF QUANT MODEL"/>
          <p:cNvSpPr txBox="1"/>
          <p:nvPr/>
        </p:nvSpPr>
        <p:spPr>
          <a:xfrm>
            <a:off x="822960" y="585216"/>
            <a:ext cx="51206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FD7BF"/>
                </a:solidFill>
                <a:latin typeface="Aptos"/>
              </a:rPr>
              <a:t>WOLF QUANT MODEL</a:t>
            </a:r>
          </a:p>
        </p:txBody>
      </p:sp>
      <p:sp>
        <p:nvSpPr>
          <p:cNvPr id="4" name="Text: Investment committee&#10;briefing"/>
          <p:cNvSpPr txBox="1"/>
          <p:nvPr/>
        </p:nvSpPr>
        <p:spPr>
          <a:xfrm>
            <a:off x="804672" y="1078992"/>
            <a:ext cx="685800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tos Display"/>
              </a:rPr>
              <a:t>Investment committee
briefing</a:t>
            </a:r>
          </a:p>
        </p:txBody>
      </p:sp>
      <p:sp>
        <p:nvSpPr>
          <p:cNvPr id="5" name="Text: A disciplined global-equity decision system with p"/>
          <p:cNvSpPr txBox="1"/>
          <p:nvPr/>
        </p:nvSpPr>
        <p:spPr>
          <a:xfrm>
            <a:off x="832104" y="2487168"/>
            <a:ext cx="67665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D7E1DE"/>
                </a:solidFill>
                <a:latin typeface="Aptos"/>
              </a:rPr>
              <a:t>A disciplined global-equity decision system with portfolio constraints, stress testing and governance.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32104" y="3493008"/>
            <a:ext cx="5074920" cy="512064"/>
          </a:xfrm>
          <a:prstGeom prst="rect">
            <a:avLst/>
          </a:prstGeom>
          <a:solidFill>
            <a:srgbClr val="0B6F56"/>
          </a:solidFill>
          <a:ln w="10160">
            <a:solidFill>
              <a:srgbClr val="0B6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DECISION: CONTINUE PAPER AND SHADOW OPERATION"/>
          <p:cNvSpPr txBox="1"/>
          <p:nvPr/>
        </p:nvSpPr>
        <p:spPr>
          <a:xfrm>
            <a:off x="1024128" y="3639312"/>
            <a:ext cx="470916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DECISION: CONTINUE PAPER AND SHADOW OPERATION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32104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55,504"/>
          <p:cNvSpPr txBox="1"/>
          <p:nvPr/>
        </p:nvSpPr>
        <p:spPr>
          <a:xfrm>
            <a:off x="978408" y="4956048"/>
            <a:ext cx="21488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55,504</a:t>
            </a:r>
          </a:p>
        </p:txBody>
      </p:sp>
      <p:sp>
        <p:nvSpPr>
          <p:cNvPr id="10" name="Text: active equities"/>
          <p:cNvSpPr txBox="1"/>
          <p:nvPr/>
        </p:nvSpPr>
        <p:spPr>
          <a:xfrm>
            <a:off x="978408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active equities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93592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89"/>
          <p:cNvSpPr txBox="1"/>
          <p:nvPr/>
        </p:nvSpPr>
        <p:spPr>
          <a:xfrm>
            <a:off x="3739896" y="4956048"/>
            <a:ext cx="21488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89</a:t>
            </a:r>
          </a:p>
        </p:txBody>
      </p:sp>
      <p:sp>
        <p:nvSpPr>
          <p:cNvPr id="13" name="Text: monthly decisions"/>
          <p:cNvSpPr txBox="1"/>
          <p:nvPr/>
        </p:nvSpPr>
        <p:spPr>
          <a:xfrm>
            <a:off x="3739896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monthly decisions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75 / 100"/>
          <p:cNvSpPr txBox="1"/>
          <p:nvPr/>
        </p:nvSpPr>
        <p:spPr>
          <a:xfrm>
            <a:off x="6501384" y="4956048"/>
            <a:ext cx="21488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75 / 100</a:t>
            </a:r>
          </a:p>
        </p:txBody>
      </p:sp>
      <p:sp>
        <p:nvSpPr>
          <p:cNvPr id="16" name="Text: governance score"/>
          <p:cNvSpPr txBox="1"/>
          <p:nvPr/>
        </p:nvSpPr>
        <p:spPr>
          <a:xfrm>
            <a:off x="6501384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governance score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16568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0"/>
          <p:cNvSpPr txBox="1"/>
          <p:nvPr/>
        </p:nvSpPr>
        <p:spPr>
          <a:xfrm>
            <a:off x="9262872" y="4956048"/>
            <a:ext cx="21488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0</a:t>
            </a:r>
          </a:p>
        </p:txBody>
      </p:sp>
      <p:sp>
        <p:nvSpPr>
          <p:cNvPr id="19" name="Text: hard breaches"/>
          <p:cNvSpPr txBox="1"/>
          <p:nvPr/>
        </p:nvSpPr>
        <p:spPr>
          <a:xfrm>
            <a:off x="9262872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hard breaches</a:t>
            </a:r>
          </a:p>
        </p:txBody>
      </p:sp>
      <p:sp>
        <p:nvSpPr>
          <p:cNvPr id="20" name="Text: As of 19 August 2026  |  CONDITIONALLY_APPROVED  |"/>
          <p:cNvSpPr txBox="1"/>
          <p:nvPr/>
        </p:nvSpPr>
        <p:spPr>
          <a:xfrm>
            <a:off x="832104" y="6245352"/>
            <a:ext cx="105156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EAFAB"/>
                </a:solidFill>
                <a:latin typeface="Aptos"/>
              </a:rPr>
              <a:t>As of 19 August 2026  |  CONDITIONALLY_APPROVED  |  Research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decision in one pag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The decision in one page</a:t>
            </a:r>
          </a:p>
        </p:txBody>
      </p:sp>
      <p:sp>
        <p:nvSpPr>
          <p:cNvPr id="3" name="Text: The controls improved materially; the alpha claim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controls improved materially; the alpha claim did not.</a:t>
            </a:r>
          </a:p>
        </p:txBody>
      </p:sp>
      <p:sp>
        <p:nvSpPr>
          <p:cNvPr id="4" name="Text: 02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02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Validation 19 August 2026; research through 19 Aug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Validation 19 August 2026; research through 19 August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07592"/>
            <a:ext cx="5394960" cy="107899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07592"/>
            <a:ext cx="54864" cy="107899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Recommendation"/>
          <p:cNvSpPr txBox="1"/>
          <p:nvPr/>
        </p:nvSpPr>
        <p:spPr>
          <a:xfrm>
            <a:off x="704088" y="1453895"/>
            <a:ext cx="50657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Recommendation</a:t>
            </a:r>
          </a:p>
        </p:txBody>
      </p:sp>
      <p:sp>
        <p:nvSpPr>
          <p:cNvPr id="11" name="Text: Continue paper and shadow operation. Do not alloca"/>
          <p:cNvSpPr txBox="1"/>
          <p:nvPr/>
        </p:nvSpPr>
        <p:spPr>
          <a:xfrm>
            <a:off x="704088" y="1828800"/>
            <a:ext cx="5065776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Continue paper and shadow operation. Do not allocate live capital while validation components still fail.</a:t>
            </a:r>
          </a:p>
        </p:txBody>
      </p:sp>
      <p:sp>
        <p:nvSpPr>
          <p:cNvPr id="12" name="Text: What works today"/>
          <p:cNvSpPr txBox="1"/>
          <p:nvPr/>
        </p:nvSpPr>
        <p:spPr>
          <a:xfrm>
            <a:off x="530352" y="2660904"/>
            <a:ext cx="5029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What works today</a:t>
            </a:r>
          </a:p>
        </p:txBody>
      </p:sp>
      <p:sp>
        <p:nvSpPr>
          <p:cNvPr id="13" name="Bullet list"/>
          <p:cNvSpPr txBox="1"/>
          <p:nvPr/>
        </p:nvSpPr>
        <p:spPr>
          <a:xfrm>
            <a:off x="530352" y="3054096"/>
            <a:ext cx="5285232" cy="239572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Repeatable screening across six equity regions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Chronological VaR governance gate: Pass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Net-of-cost implementation controls: Warning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Hard portfolio constraints: 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1307592"/>
            <a:ext cx="5440680" cy="1078992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1307592"/>
            <a:ext cx="54864" cy="1078992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What still blocks full deployment"/>
          <p:cNvSpPr txBox="1"/>
          <p:nvPr/>
        </p:nvSpPr>
        <p:spPr>
          <a:xfrm>
            <a:off x="6437376" y="1453895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still blocks full deployment</a:t>
            </a:r>
          </a:p>
        </p:txBody>
      </p:sp>
      <p:sp>
        <p:nvSpPr>
          <p:cNvPr id="17" name="Text: Observed PIT evidence is incomplete, and Wolf trai"/>
          <p:cNvSpPr txBox="1"/>
          <p:nvPr/>
        </p:nvSpPr>
        <p:spPr>
          <a:xfrm>
            <a:off x="6437376" y="1828800"/>
            <a:ext cx="5111496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Observed PIT evidence is incomplete, and Wolf trailed equal weight by 3.80% per year in this 60-month sample (p=0.250).</a:t>
            </a:r>
          </a:p>
        </p:txBody>
      </p:sp>
      <p:graphicFrame>
        <p:nvGraphicFramePr>
          <p:cNvPr id="18" name="Evidence table"/>
          <p:cNvGraphicFramePr>
            <a:graphicFrameLocks noGrp="1"/>
          </p:cNvGraphicFramePr>
          <p:nvPr/>
        </p:nvGraphicFramePr>
        <p:xfrm>
          <a:off x="6236208" y="2660904"/>
          <a:ext cx="5440679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6573"/>
                <a:gridCol w="1612053"/>
                <a:gridCol w="1612053"/>
              </a:tblGrid>
              <a:tr h="385354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Decision area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Evidence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Process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Checksummed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 backtest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15 / 15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Cost controls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 / 10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Warning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Hard constraints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 / 10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PIT evidence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7.5 / 15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Warning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8535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Deployable alpha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established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Do not claim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530352" y="5650992"/>
            <a:ext cx="11146536" cy="594360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5650992"/>
            <a:ext cx="54864" cy="594360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: Approval means: Pilot capital, pre-trade review, m"/>
          <p:cNvSpPr txBox="1"/>
          <p:nvPr/>
        </p:nvSpPr>
        <p:spPr>
          <a:xfrm>
            <a:off x="731519" y="5742431"/>
            <a:ext cx="10817352" cy="4297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Approval means: Pilot capital, pre-trade review, monthly risk reporting and explicit stop conditions. It does not mean automatic execution.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at the model actually doe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What the model actually does</a:t>
            </a:r>
          </a:p>
        </p:txBody>
      </p:sp>
      <p:sp>
        <p:nvSpPr>
          <p:cNvPr id="3" name="Text: A monthly decision pipeline with risk controls at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A monthly decision pipeline with risk controls at the end.</a:t>
            </a:r>
          </a:p>
        </p:txBody>
      </p:sp>
      <p:sp>
        <p:nvSpPr>
          <p:cNvPr id="4" name="Text: 03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03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Repository pipeline stages and current resolved ou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Repository pipeline stages and current resolved outputs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  OBSERVE"/>
          <p:cNvSpPr txBox="1"/>
          <p:nvPr/>
        </p:nvSpPr>
        <p:spPr>
          <a:xfrm>
            <a:off x="63093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1  OBSERVE</a:t>
            </a:r>
          </a:p>
        </p:txBody>
      </p:sp>
      <p:sp>
        <p:nvSpPr>
          <p:cNvPr id="11" name="Text: Prices, filings, macro and portfolio"/>
          <p:cNvSpPr txBox="1"/>
          <p:nvPr/>
        </p:nvSpPr>
        <p:spPr>
          <a:xfrm>
            <a:off x="63093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Prices, filings, macro and portfolio</a:t>
            </a:r>
          </a:p>
        </p:txBody>
      </p:sp>
      <p:sp>
        <p:nvSpPr>
          <p:cNvPr id="12" name="Chevron 11"/>
          <p:cNvSpPr/>
          <p:nvPr/>
        </p:nvSpPr>
        <p:spPr>
          <a:xfrm>
            <a:off x="213055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43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7743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2  FEATURE"/>
          <p:cNvSpPr txBox="1"/>
          <p:nvPr/>
        </p:nvSpPr>
        <p:spPr>
          <a:xfrm>
            <a:off x="250545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2  FEATURE</a:t>
            </a:r>
          </a:p>
        </p:txBody>
      </p:sp>
      <p:sp>
        <p:nvSpPr>
          <p:cNvPr id="16" name="Text: Point-in-time quality, value and risk signals"/>
          <p:cNvSpPr txBox="1"/>
          <p:nvPr/>
        </p:nvSpPr>
        <p:spPr>
          <a:xfrm>
            <a:off x="250545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Point-in-time quality, value and risk signals</a:t>
            </a:r>
          </a:p>
        </p:txBody>
      </p:sp>
      <p:sp>
        <p:nvSpPr>
          <p:cNvPr id="17" name="Chevron 16"/>
          <p:cNvSpPr/>
          <p:nvPr/>
        </p:nvSpPr>
        <p:spPr>
          <a:xfrm>
            <a:off x="400507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5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5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3  FORECAST"/>
          <p:cNvSpPr txBox="1"/>
          <p:nvPr/>
        </p:nvSpPr>
        <p:spPr>
          <a:xfrm>
            <a:off x="4379975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3  FORECAST</a:t>
            </a:r>
          </a:p>
        </p:txBody>
      </p:sp>
      <p:sp>
        <p:nvSpPr>
          <p:cNvPr id="21" name="Text: 3, 6, 9 and 12 month distributions"/>
          <p:cNvSpPr txBox="1"/>
          <p:nvPr/>
        </p:nvSpPr>
        <p:spPr>
          <a:xfrm>
            <a:off x="4379975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3, 6, 9 and 12 month distributions</a:t>
            </a:r>
          </a:p>
        </p:txBody>
      </p:sp>
      <p:sp>
        <p:nvSpPr>
          <p:cNvPr id="22" name="Chevron 21"/>
          <p:cNvSpPr/>
          <p:nvPr/>
        </p:nvSpPr>
        <p:spPr>
          <a:xfrm>
            <a:off x="587959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7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7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4  COMPARE"/>
          <p:cNvSpPr txBox="1"/>
          <p:nvPr/>
        </p:nvSpPr>
        <p:spPr>
          <a:xfrm>
            <a:off x="6254495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4  COMPARE</a:t>
            </a:r>
          </a:p>
        </p:txBody>
      </p:sp>
      <p:sp>
        <p:nvSpPr>
          <p:cNvPr id="26" name="Text: Portfolio-aware, clean-sheet and LLM branches"/>
          <p:cNvSpPr txBox="1"/>
          <p:nvPr/>
        </p:nvSpPr>
        <p:spPr>
          <a:xfrm>
            <a:off x="6254495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Portfolio-aware, clean-sheet and LLM branches</a:t>
            </a:r>
          </a:p>
        </p:txBody>
      </p:sp>
      <p:sp>
        <p:nvSpPr>
          <p:cNvPr id="27" name="Chevron 26"/>
          <p:cNvSpPr/>
          <p:nvPr/>
        </p:nvSpPr>
        <p:spPr>
          <a:xfrm>
            <a:off x="7754111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0100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0100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5  CONSTRAIN"/>
          <p:cNvSpPr txBox="1"/>
          <p:nvPr/>
        </p:nvSpPr>
        <p:spPr>
          <a:xfrm>
            <a:off x="812901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5  CONSTRAIN</a:t>
            </a:r>
          </a:p>
        </p:txBody>
      </p:sp>
      <p:sp>
        <p:nvSpPr>
          <p:cNvPr id="31" name="Text: CVaR, liquidity and concentration limits"/>
          <p:cNvSpPr txBox="1"/>
          <p:nvPr/>
        </p:nvSpPr>
        <p:spPr>
          <a:xfrm>
            <a:off x="812901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CVaR, liquidity and concentration limits</a:t>
            </a:r>
          </a:p>
        </p:txBody>
      </p:sp>
      <p:sp>
        <p:nvSpPr>
          <p:cNvPr id="32" name="Chevron 31"/>
          <p:cNvSpPr/>
          <p:nvPr/>
        </p:nvSpPr>
        <p:spPr>
          <a:xfrm>
            <a:off x="962863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7552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7552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: 6  GOVERN"/>
          <p:cNvSpPr txBox="1"/>
          <p:nvPr/>
        </p:nvSpPr>
        <p:spPr>
          <a:xfrm>
            <a:off x="1000353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6  GOVERN</a:t>
            </a:r>
          </a:p>
        </p:txBody>
      </p:sp>
      <p:sp>
        <p:nvSpPr>
          <p:cNvPr id="36" name="Text: Stress, validation and committee reporting"/>
          <p:cNvSpPr txBox="1"/>
          <p:nvPr/>
        </p:nvSpPr>
        <p:spPr>
          <a:xfrm>
            <a:off x="1000353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Stress, validation and committee reporting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242816"/>
            <a:ext cx="5486400" cy="1042415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242816"/>
            <a:ext cx="54864" cy="1042415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: The output is a decision package"/>
          <p:cNvSpPr txBox="1"/>
          <p:nvPr/>
        </p:nvSpPr>
        <p:spPr>
          <a:xfrm>
            <a:off x="704088" y="4389120"/>
            <a:ext cx="515721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output is a decision package</a:t>
            </a:r>
          </a:p>
        </p:txBody>
      </p:sp>
      <p:sp>
        <p:nvSpPr>
          <p:cNvPr id="40" name="Text: Ranked equities, target weights, trade direction, "/>
          <p:cNvSpPr txBox="1"/>
          <p:nvPr/>
        </p:nvSpPr>
        <p:spPr>
          <a:xfrm>
            <a:off x="704088" y="4764024"/>
            <a:ext cx="5157216" cy="40233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Ranked equities, target weights, trade direction, exposure limits, risk tests, stress results and an approval status.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8" y="4242816"/>
            <a:ext cx="5440680" cy="1042415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36208" y="4242816"/>
            <a:ext cx="54864" cy="1042415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: ML challengers cannot override governance"/>
          <p:cNvSpPr txBox="1"/>
          <p:nvPr/>
        </p:nvSpPr>
        <p:spPr>
          <a:xfrm>
            <a:off x="6437376" y="4389120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ML challengers cannot override governance</a:t>
            </a:r>
          </a:p>
        </p:txBody>
      </p:sp>
      <p:sp>
        <p:nvSpPr>
          <p:cNvPr id="44" name="Text: PPO, bandit, convex and supervised challengers rem"/>
          <p:cNvSpPr txBox="1"/>
          <p:nvPr/>
        </p:nvSpPr>
        <p:spPr>
          <a:xfrm>
            <a:off x="6437376" y="4764024"/>
            <a:ext cx="5111496" cy="40233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PPO, bandit, convex and supervised challengers remain research-only. Their legacy OOS results are diagnostics; the baseline remains at 100%.</a:t>
            </a:r>
          </a:p>
        </p:txBody>
      </p:sp>
      <p:sp>
        <p:nvSpPr>
          <p:cNvPr id="45" name="Text: Human review stays between model recommendation an"/>
          <p:cNvSpPr txBox="1"/>
          <p:nvPr/>
        </p:nvSpPr>
        <p:spPr>
          <a:xfrm>
            <a:off x="530352" y="5650992"/>
            <a:ext cx="109728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B6F56"/>
                </a:solidFill>
                <a:latin typeface="Aptos Display"/>
              </a:rPr>
              <a:t>Human review stays between model recommendation and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DRL learned safely, but did not earn capital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DRL learned safely, but did not earn capital</a:t>
            </a:r>
          </a:p>
        </p:txBody>
      </p:sp>
      <p:sp>
        <p:nvSpPr>
          <p:cNvPr id="3" name="Text: Five real PPO seeds and two simpler challengers fa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Five real PPO seeds and two simpler challengers failed frozen validation.</a:t>
            </a:r>
          </a:p>
        </p:txBody>
      </p:sp>
      <p:sp>
        <p:nvSpPr>
          <p:cNvPr id="4" name="Text: 04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04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Checksummed regional history, train-only bootstrap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Checksummed regional history, train-only bootstrap and validation-only selection</a:t>
            </a:r>
          </a:p>
        </p:txBody>
      </p:sp>
      <p:pic>
        <p:nvPicPr>
          <p:cNvPr id="8" name="Chart: drl_validation.png" descr="drl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717346"/>
            <a:ext cx="6400800" cy="338673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95160" y="1335024"/>
            <a:ext cx="21488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95160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348"/>
          <p:cNvSpPr txBox="1"/>
          <p:nvPr/>
        </p:nvSpPr>
        <p:spPr>
          <a:xfrm>
            <a:off x="7159752" y="1463040"/>
            <a:ext cx="189280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348</a:t>
            </a:r>
          </a:p>
        </p:txBody>
      </p:sp>
      <p:sp>
        <p:nvSpPr>
          <p:cNvPr id="12" name="Text: regional history months"/>
          <p:cNvSpPr txBox="1"/>
          <p:nvPr/>
        </p:nvSpPr>
        <p:spPr>
          <a:xfrm>
            <a:off x="7159752" y="1865376"/>
            <a:ext cx="189280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regional history months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54312" y="1335024"/>
            <a:ext cx="21488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54312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268"/>
          <p:cNvSpPr txBox="1"/>
          <p:nvPr/>
        </p:nvSpPr>
        <p:spPr>
          <a:xfrm>
            <a:off x="9518904" y="1463040"/>
            <a:ext cx="189280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268</a:t>
            </a:r>
          </a:p>
        </p:txBody>
      </p:sp>
      <p:sp>
        <p:nvSpPr>
          <p:cNvPr id="16" name="Text: training months"/>
          <p:cNvSpPr txBox="1"/>
          <p:nvPr/>
        </p:nvSpPr>
        <p:spPr>
          <a:xfrm>
            <a:off x="9518904" y="1865376"/>
            <a:ext cx="189280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training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95160" y="2468880"/>
            <a:ext cx="21488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95160" y="2468880"/>
            <a:ext cx="50292" cy="93268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65"/>
          <p:cNvSpPr txBox="1"/>
          <p:nvPr/>
        </p:nvSpPr>
        <p:spPr>
          <a:xfrm>
            <a:off x="7159752" y="2596896"/>
            <a:ext cx="189280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65</a:t>
            </a:r>
          </a:p>
        </p:txBody>
      </p:sp>
      <p:sp>
        <p:nvSpPr>
          <p:cNvPr id="20" name="Text: validation months"/>
          <p:cNvSpPr txBox="1"/>
          <p:nvPr/>
        </p:nvSpPr>
        <p:spPr>
          <a:xfrm>
            <a:off x="7159752" y="2999232"/>
            <a:ext cx="189280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validation months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54312" y="2468880"/>
            <a:ext cx="21488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54312" y="2468880"/>
            <a:ext cx="50292" cy="93268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12"/>
          <p:cNvSpPr txBox="1"/>
          <p:nvPr/>
        </p:nvSpPr>
        <p:spPr>
          <a:xfrm>
            <a:off x="9518904" y="2596896"/>
            <a:ext cx="189280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12</a:t>
            </a:r>
          </a:p>
        </p:txBody>
      </p:sp>
      <p:sp>
        <p:nvSpPr>
          <p:cNvPr id="24" name="Text: legacy OOS months"/>
          <p:cNvSpPr txBox="1"/>
          <p:nvPr/>
        </p:nvSpPr>
        <p:spPr>
          <a:xfrm>
            <a:off x="9518904" y="2999232"/>
            <a:ext cx="189280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legacy OOS months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95160" y="3703320"/>
            <a:ext cx="4681728" cy="1143000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95160" y="3703320"/>
            <a:ext cx="54864" cy="114300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Measured result"/>
          <p:cNvSpPr txBox="1"/>
          <p:nvPr/>
        </p:nvSpPr>
        <p:spPr>
          <a:xfrm>
            <a:off x="7196328" y="3849624"/>
            <a:ext cx="435254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Measured result</a:t>
            </a:r>
          </a:p>
        </p:txBody>
      </p:sp>
      <p:sp>
        <p:nvSpPr>
          <p:cNvPr id="28" name="Text: Best PPO validation information ratio was -0.50. 4"/>
          <p:cNvSpPr txBox="1"/>
          <p:nvPr/>
        </p:nvSpPr>
        <p:spPr>
          <a:xfrm>
            <a:off x="7196328" y="4224528"/>
            <a:ext cx="435254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Best PPO validation information ratio was -0.50. 4 contiguous train-only bootstrap environments per seed produced 0 constraint violations.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696712"/>
            <a:ext cx="11173968" cy="557784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696712"/>
            <a:ext cx="54864" cy="55778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Governed decision: PPO receives 0%; the classical "/>
          <p:cNvSpPr txBox="1"/>
          <p:nvPr/>
        </p:nvSpPr>
        <p:spPr>
          <a:xfrm>
            <a:off x="704088" y="5788152"/>
            <a:ext cx="10844784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Governed decision: PPO receives 0%; the classical optimiser remains 100%. That is a successful safety decision, not a failed software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new supervised alpha research stack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The new supervised alpha research stack</a:t>
            </a:r>
          </a:p>
        </p:txBody>
      </p:sp>
      <p:sp>
        <p:nvSpPr>
          <p:cNvPr id="3" name="Text: Benchmark-relative stock ranking across four inves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Benchmark-relative stock ranking across four investment horizons.</a:t>
            </a:r>
          </a:p>
        </p:txBody>
      </p:sp>
      <p:sp>
        <p:nvSpPr>
          <p:cNvPr id="4" name="Text: 05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05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Supervised dataset, validation checkpoints and mod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Supervised dataset, validation checkpoints and model manifests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98448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,374"/>
          <p:cNvSpPr txBox="1"/>
          <p:nvPr/>
        </p:nvSpPr>
        <p:spPr>
          <a:xfrm>
            <a:off x="667512" y="1426464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1,374</a:t>
            </a:r>
          </a:p>
        </p:txBody>
      </p:sp>
      <p:sp>
        <p:nvSpPr>
          <p:cNvPr id="11" name="Text: research securities"/>
          <p:cNvSpPr txBox="1"/>
          <p:nvPr/>
        </p:nvSpPr>
        <p:spPr>
          <a:xfrm>
            <a:off x="667512" y="1828800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research securities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298448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1298448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16"/>
          <p:cNvSpPr txBox="1"/>
          <p:nvPr/>
        </p:nvSpPr>
        <p:spPr>
          <a:xfrm>
            <a:off x="3483864" y="1426464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16</a:t>
            </a:r>
          </a:p>
        </p:txBody>
      </p:sp>
      <p:sp>
        <p:nvSpPr>
          <p:cNvPr id="15" name="Text: fixed candidate specifications"/>
          <p:cNvSpPr txBox="1"/>
          <p:nvPr/>
        </p:nvSpPr>
        <p:spPr>
          <a:xfrm>
            <a:off x="3483864" y="1828800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fixed candidate specifications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298448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4" y="1298448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4"/>
          <p:cNvSpPr txBox="1"/>
          <p:nvPr/>
        </p:nvSpPr>
        <p:spPr>
          <a:xfrm>
            <a:off x="6300216" y="1426464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4</a:t>
            </a:r>
          </a:p>
        </p:txBody>
      </p:sp>
      <p:sp>
        <p:nvSpPr>
          <p:cNvPr id="19" name="Text: forecast horizons: 3/6/9/12m"/>
          <p:cNvSpPr txBox="1"/>
          <p:nvPr/>
        </p:nvSpPr>
        <p:spPr>
          <a:xfrm>
            <a:off x="6300216" y="1828800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forecast horizons: 3/6/9/12m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298448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298448"/>
            <a:ext cx="50292" cy="932688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0%"/>
          <p:cNvSpPr txBox="1"/>
          <p:nvPr/>
        </p:nvSpPr>
        <p:spPr>
          <a:xfrm>
            <a:off x="9116568" y="1426464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0%</a:t>
            </a:r>
          </a:p>
        </p:txBody>
      </p:sp>
      <p:sp>
        <p:nvSpPr>
          <p:cNvPr id="23" name="Text: live supervised blend"/>
          <p:cNvSpPr txBox="1"/>
          <p:nvPr/>
        </p:nvSpPr>
        <p:spPr>
          <a:xfrm>
            <a:off x="9116568" y="1828800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live supervised blend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542032"/>
            <a:ext cx="3502152" cy="274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542032"/>
            <a:ext cx="3502152" cy="82296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Evidence and targets"/>
          <p:cNvSpPr txBox="1"/>
          <p:nvPr/>
        </p:nvSpPr>
        <p:spPr>
          <a:xfrm>
            <a:off x="667512" y="2816352"/>
            <a:ext cx="31546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7"/>
                </a:solidFill>
                <a:latin typeface="Aptos Display"/>
              </a:rPr>
              <a:t>Evidence and targets</a:t>
            </a:r>
          </a:p>
        </p:txBody>
      </p:sp>
      <p:sp>
        <p:nvSpPr>
          <p:cNvPr id="27" name="Bullet list"/>
          <p:cNvSpPr txBox="1"/>
          <p:nvPr/>
        </p:nvSpPr>
        <p:spPr>
          <a:xfrm>
            <a:off x="667512" y="3273552"/>
            <a:ext cx="3136392" cy="17556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88 monthly decision dates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67 numeric plus 4 categorical features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Returns measured versus regional and sector peers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PIT status remains reconstructed proxy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0248" y="2542032"/>
            <a:ext cx="3502152" cy="274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0248" y="2542032"/>
            <a:ext cx="3502152" cy="82296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Model challengers"/>
          <p:cNvSpPr txBox="1"/>
          <p:nvPr/>
        </p:nvSpPr>
        <p:spPr>
          <a:xfrm>
            <a:off x="4434840" y="2816352"/>
            <a:ext cx="31546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7"/>
                </a:solidFill>
                <a:latin typeface="Aptos Display"/>
              </a:rPr>
              <a:t>Model challengers</a:t>
            </a:r>
          </a:p>
        </p:txBody>
      </p:sp>
      <p:sp>
        <p:nvSpPr>
          <p:cNvPr id="31" name="Bullet list"/>
          <p:cNvSpPr txBox="1"/>
          <p:nvPr/>
        </p:nvSpPr>
        <p:spPr>
          <a:xfrm>
            <a:off x="4434840" y="3273552"/>
            <a:ext cx="3136392" cy="17556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OLS with train-only Fama-MacBeth screening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Ridge, Elastic Net and robust Huber regression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Random Forest, Extra Trees and histogram boosting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XGBoost return and learning-to-rank models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37576" y="2542032"/>
            <a:ext cx="3502152" cy="274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37576" y="2542032"/>
            <a:ext cx="3502152" cy="82296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: Controls before prediction"/>
          <p:cNvSpPr txBox="1"/>
          <p:nvPr/>
        </p:nvSpPr>
        <p:spPr>
          <a:xfrm>
            <a:off x="8202168" y="2816352"/>
            <a:ext cx="31546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7"/>
                </a:solidFill>
                <a:latin typeface="Aptos Display"/>
              </a:rPr>
              <a:t>Controls before prediction</a:t>
            </a:r>
          </a:p>
        </p:txBody>
      </p:sp>
      <p:sp>
        <p:nvSpPr>
          <p:cNvPr id="35" name="Bullet list"/>
          <p:cNvSpPr txBox="1"/>
          <p:nvPr/>
        </p:nvSpPr>
        <p:spPr>
          <a:xfrm>
            <a:off x="8202168" y="3273552"/>
            <a:ext cx="3136392" cy="17556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Expanding-window purged cross-validation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Preprocessing and screening fitted inside each fold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One linear, tree and ranker winner per ensemble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Explicit turnover, impact, FX and 25bp bank fee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596128"/>
            <a:ext cx="11173968" cy="621792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5596128"/>
            <a:ext cx="54864" cy="621792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: Governance boundary: The supervised ensemble and e"/>
          <p:cNvSpPr txBox="1"/>
          <p:nvPr/>
        </p:nvSpPr>
        <p:spPr>
          <a:xfrm>
            <a:off x="704088" y="5687568"/>
            <a:ext cx="10844784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Governance boundary: The supervised ensemble and every DRL challenger remain research-only. The governed baseline still receives 100% of portfolio weight.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upervised signal: encouraging, not yet proven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Supervised signal: encouraging, not yet proven</a:t>
            </a:r>
          </a:p>
        </p:txBody>
      </p:sp>
      <p:sp>
        <p:nvSpPr>
          <p:cNvPr id="3" name="Text: Positive ranking results do not overcome four inde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Positive ranking results do not overcome four independent 3-month samples.</a:t>
            </a:r>
          </a:p>
        </p:txBody>
      </p:sp>
      <p:sp>
        <p:nvSpPr>
          <p:cNvPr id="4" name="Text: 06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06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Frozen validation and already-inspected legacy OOS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Frozen validation and already-inspected legacy OOS diagnostics</a:t>
            </a:r>
          </a:p>
        </p:txBody>
      </p:sp>
      <p:pic>
        <p:nvPicPr>
          <p:cNvPr id="8" name="Chart: supervised_rank_ic.png" descr="supervised_rank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0419"/>
            <a:ext cx="6400800" cy="3470313"/>
          </a:xfrm>
          <a:prstGeom prst="rect">
            <a:avLst/>
          </a:prstGeom>
        </p:spPr>
      </p:pic>
      <p:graphicFrame>
        <p:nvGraphicFramePr>
          <p:cNvPr id="9" name="Evidence table"/>
          <p:cNvGraphicFramePr>
            <a:graphicFrameLocks noGrp="1"/>
          </p:cNvGraphicFramePr>
          <p:nvPr/>
        </p:nvGraphicFramePr>
        <p:xfrm>
          <a:off x="6976872" y="1353312"/>
          <a:ext cx="4700014" cy="267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0281"/>
                <a:gridCol w="711556"/>
                <a:gridCol w="936258"/>
                <a:gridCol w="711556"/>
                <a:gridCol w="674105"/>
                <a:gridCol w="936258"/>
              </a:tblGrid>
              <a:tr h="534009"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Horizon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Monthly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Independent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Rank IC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Sign p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Net cohort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3m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0.157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0.062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7.4%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0.182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0.250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0.226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0.500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24.8%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34012"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12m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0.253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0.500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37.0%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976872" y="4315968"/>
            <a:ext cx="4700016" cy="1078992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76872" y="4315968"/>
            <a:ext cx="54864" cy="1078992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Primary 3-month diagnostic"/>
          <p:cNvSpPr txBox="1"/>
          <p:nvPr/>
        </p:nvSpPr>
        <p:spPr>
          <a:xfrm>
            <a:off x="7178040" y="4462272"/>
            <a:ext cx="437083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Primary 3-month diagnostic</a:t>
            </a:r>
          </a:p>
        </p:txBody>
      </p:sp>
      <p:sp>
        <p:nvSpPr>
          <p:cNvPr id="13" name="Text: Rank IC 0.157; mean net active cohort return 7.4%;"/>
          <p:cNvSpPr txBox="1"/>
          <p:nvPr/>
        </p:nvSpPr>
        <p:spPr>
          <a:xfrm>
            <a:off x="7178040" y="4837176"/>
            <a:ext cx="4370831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Rank IC 0.157; mean net active cohort return 7.4%; exact sign-test p=0.0625.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779008"/>
            <a:ext cx="11173968" cy="512064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779008"/>
            <a:ext cx="54864" cy="512064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What is deliberately absent: No headline CAGR, Sha"/>
          <p:cNvSpPr txBox="1"/>
          <p:nvPr/>
        </p:nvSpPr>
        <p:spPr>
          <a:xfrm>
            <a:off x="704088" y="5870448"/>
            <a:ext cx="10844784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What is deliberately absent: No headline CAGR, Sharpe, t-statistic or confidence interval is reported until 12 independent prospective cohorts exist.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Uncertainty and implementation are now controlled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Uncertainty and implementation are now controlled</a:t>
            </a:r>
          </a:p>
        </p:txBody>
      </p:sp>
      <p:sp>
        <p:nvSpPr>
          <p:cNvPr id="3" name="Text: Coverage clears target; wide long-horizon bands s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Coverage clears target; wide long-horizon bands still signal low precision.</a:t>
            </a:r>
          </a:p>
        </p:txBody>
      </p:sp>
      <p:sp>
        <p:nvSpPr>
          <p:cNvPr id="4" name="Text: 07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07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urged conformal calibration and cost-aware legacy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Purged conformal calibration and cost-aware legacy OOS cohorts</a:t>
            </a:r>
          </a:p>
        </p:txBody>
      </p:sp>
      <p:pic>
        <p:nvPicPr>
          <p:cNvPr id="8" name="Chart: supervised_calibration.png" descr="supervised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1830"/>
            <a:ext cx="6446520" cy="3187490"/>
          </a:xfrm>
          <a:prstGeom prst="rect">
            <a:avLst/>
          </a:prstGeom>
        </p:spPr>
      </p:pic>
      <p:graphicFrame>
        <p:nvGraphicFramePr>
          <p:cNvPr id="9" name="Evidence table"/>
          <p:cNvGraphicFramePr>
            <a:graphicFrameLocks noGrp="1"/>
          </p:cNvGraphicFramePr>
          <p:nvPr/>
        </p:nvGraphicFramePr>
        <p:xfrm>
          <a:off x="7059168" y="1389888"/>
          <a:ext cx="4617717" cy="267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721"/>
                <a:gridCol w="923543"/>
                <a:gridCol w="972151"/>
                <a:gridCol w="972151"/>
                <a:gridCol w="972151"/>
              </a:tblGrid>
              <a:tr h="534009"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Horizon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Turnover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Cost drag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90% cover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Band width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3m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0.54x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0.50%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94.6%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56%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6m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0.47x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0.47%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93.4%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83%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9m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0.35x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0.42%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91.9%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100%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534012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12m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N/A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N/A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90.5%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059168" y="4325112"/>
            <a:ext cx="4617720" cy="1133856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59168" y="4325112"/>
            <a:ext cx="54864" cy="1133856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Implementation result"/>
          <p:cNvSpPr txBox="1"/>
          <p:nvPr/>
        </p:nvSpPr>
        <p:spPr>
          <a:xfrm>
            <a:off x="7260336" y="4471416"/>
            <a:ext cx="428853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Implementation result</a:t>
            </a:r>
          </a:p>
        </p:txBody>
      </p:sp>
      <p:sp>
        <p:nvSpPr>
          <p:cNvPr id="13" name="Text: Recurring turnover is 0.54x, 0.47x and 0.35x at 3/"/>
          <p:cNvSpPr txBox="1"/>
          <p:nvPr/>
        </p:nvSpPr>
        <p:spPr>
          <a:xfrm>
            <a:off x="7260336" y="4846320"/>
            <a:ext cx="4288536" cy="4937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Recurring turnover is 0.54x, 0.47x and 0.35x at 3/6/9 months. The 12-month record has no recurring rebalance, so it remains unestimable.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760720"/>
            <a:ext cx="11173968" cy="530352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760720"/>
            <a:ext cx="54864" cy="530352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Interpretation: Calibration is fixed; precision is"/>
          <p:cNvSpPr txBox="1"/>
          <p:nvPr/>
        </p:nvSpPr>
        <p:spPr>
          <a:xfrm>
            <a:off x="704088" y="5852159"/>
            <a:ext cx="10844784" cy="365759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Interpretation: Calibration is fixed; precision is not. A 117% average 12-month band is a warning against confident long-horizon stock claims.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Recommendations: target portfolio versus research 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Recommendations: target portfolio versus research challengers</a:t>
            </a:r>
          </a:p>
        </p:txBody>
      </p:sp>
      <p:sp>
        <p:nvSpPr>
          <p:cNvPr id="3" name="Text: Only the governed CVaR target is actionable; chal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Only the governed CVaR target is actionable; challenger names remain shadow evidence.</a:t>
            </a:r>
          </a:p>
        </p:txBody>
      </p:sp>
      <p:sp>
        <p:nvSpPr>
          <p:cNvPr id="4" name="Text: 08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08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Resolved portfolio, regional-alpha target and sup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Resolved portfolio, regional-alpha target and supervised 3-month rankings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20"/>
          <p:cNvSpPr txBox="1"/>
          <p:nvPr/>
        </p:nvSpPr>
        <p:spPr>
          <a:xfrm>
            <a:off x="667512" y="1408176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20</a:t>
            </a:r>
          </a:p>
        </p:txBody>
      </p:sp>
      <p:sp>
        <p:nvSpPr>
          <p:cNvPr id="11" name="Text: governed target equities"/>
          <p:cNvSpPr txBox="1"/>
          <p:nvPr/>
        </p:nvSpPr>
        <p:spPr>
          <a:xfrm>
            <a:off x="667512" y="1810512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governed target equities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280160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1280160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20"/>
          <p:cNvSpPr txBox="1"/>
          <p:nvPr/>
        </p:nvSpPr>
        <p:spPr>
          <a:xfrm>
            <a:off x="3483864" y="1408176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20</a:t>
            </a:r>
          </a:p>
        </p:txBody>
      </p:sp>
      <p:sp>
        <p:nvSpPr>
          <p:cNvPr id="15" name="Text: regional challenger equities"/>
          <p:cNvSpPr txBox="1"/>
          <p:nvPr/>
        </p:nvSpPr>
        <p:spPr>
          <a:xfrm>
            <a:off x="3483864" y="1810512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regional challenger equities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280160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4" y="1280160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9 / 20"/>
          <p:cNvSpPr txBox="1"/>
          <p:nvPr/>
        </p:nvSpPr>
        <p:spPr>
          <a:xfrm>
            <a:off x="6300216" y="1408176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9 / 20</a:t>
            </a:r>
          </a:p>
        </p:txBody>
      </p:sp>
      <p:sp>
        <p:nvSpPr>
          <p:cNvPr id="19" name="Text: names shared by both"/>
          <p:cNvSpPr txBox="1"/>
          <p:nvPr/>
        </p:nvSpPr>
        <p:spPr>
          <a:xfrm>
            <a:off x="6300216" y="1810512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names shared by both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280160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280160"/>
            <a:ext cx="50292" cy="932688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0%"/>
          <p:cNvSpPr txBox="1"/>
          <p:nvPr/>
        </p:nvSpPr>
        <p:spPr>
          <a:xfrm>
            <a:off x="9116568" y="1408176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0%</a:t>
            </a:r>
          </a:p>
        </p:txBody>
      </p:sp>
      <p:sp>
        <p:nvSpPr>
          <p:cNvPr id="23" name="Text: supervised live blend"/>
          <p:cNvSpPr txBox="1"/>
          <p:nvPr/>
        </p:nvSpPr>
        <p:spPr>
          <a:xfrm>
            <a:off x="9116568" y="1810512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supervised live blend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459736"/>
            <a:ext cx="3502152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459736"/>
            <a:ext cx="50292" cy="111556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Governed-only names"/>
          <p:cNvSpPr txBox="1"/>
          <p:nvPr/>
        </p:nvSpPr>
        <p:spPr>
          <a:xfrm>
            <a:off x="667512" y="2596896"/>
            <a:ext cx="31089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2127"/>
                </a:solidFill>
                <a:latin typeface="Aptos Display"/>
              </a:rPr>
              <a:t>Governed-only names</a:t>
            </a:r>
          </a:p>
        </p:txBody>
      </p:sp>
      <p:sp>
        <p:nvSpPr>
          <p:cNvPr id="27" name="Text: 000001.SHE, 000538.SHE, 002352.SHE, 0823.HK, 60181"/>
          <p:cNvSpPr txBox="1"/>
          <p:nvPr/>
        </p:nvSpPr>
        <p:spPr>
          <a:xfrm>
            <a:off x="667512" y="2907792"/>
            <a:ext cx="3154680" cy="521207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>
                <a:solidFill>
                  <a:srgbClr val="647078"/>
                </a:solidFill>
                <a:latin typeface="Aptos"/>
              </a:rPr>
              <a:t>000001.SHE, 000538.SHE, 002352.SHE, 0823.HK, 601816.SHG, ELE.MC, EN.PA, ESSITY-B.ST, HIG.US, SEB-A.ST, SHELL.AS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0248" y="2459736"/>
            <a:ext cx="3502152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0248" y="2459736"/>
            <a:ext cx="50292" cy="111556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Shared core"/>
          <p:cNvSpPr txBox="1"/>
          <p:nvPr/>
        </p:nvSpPr>
        <p:spPr>
          <a:xfrm>
            <a:off x="4434840" y="2596896"/>
            <a:ext cx="31089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2127"/>
                </a:solidFill>
                <a:latin typeface="Aptos Display"/>
              </a:rPr>
              <a:t>Shared core</a:t>
            </a:r>
          </a:p>
        </p:txBody>
      </p:sp>
      <p:sp>
        <p:nvSpPr>
          <p:cNvPr id="31" name="Text: 000333.SHE, 600036.SHG, AD.AS, ALV.XETRA, CA.PA, H"/>
          <p:cNvSpPr txBox="1"/>
          <p:nvPr/>
        </p:nvSpPr>
        <p:spPr>
          <a:xfrm>
            <a:off x="4434840" y="2907792"/>
            <a:ext cx="3154680" cy="521207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>
                <a:solidFill>
                  <a:srgbClr val="647078"/>
                </a:solidFill>
                <a:latin typeface="Aptos"/>
              </a:rPr>
              <a:t>000333.SHE, 600036.SHG, AD.AS, ALV.XETRA, CA.PA, HEN3.XETRA, IMB.LSE, NOVN.SW, ORA.PA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37576" y="2459736"/>
            <a:ext cx="3502152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37576" y="2459736"/>
            <a:ext cx="50292" cy="111556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: Regional-only names"/>
          <p:cNvSpPr txBox="1"/>
          <p:nvPr/>
        </p:nvSpPr>
        <p:spPr>
          <a:xfrm>
            <a:off x="8202168" y="2596896"/>
            <a:ext cx="31089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2127"/>
                </a:solidFill>
                <a:latin typeface="Aptos Display"/>
              </a:rPr>
              <a:t>Regional-only names</a:t>
            </a:r>
          </a:p>
        </p:txBody>
      </p:sp>
      <p:sp>
        <p:nvSpPr>
          <p:cNvPr id="35" name="Text: 002415.SHE, 600406.SHG, CVX.US, DG.PA, DHL.XETRA, "/>
          <p:cNvSpPr txBox="1"/>
          <p:nvPr/>
        </p:nvSpPr>
        <p:spPr>
          <a:xfrm>
            <a:off x="8202168" y="2907792"/>
            <a:ext cx="3154680" cy="521207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>
                <a:solidFill>
                  <a:srgbClr val="647078"/>
                </a:solidFill>
                <a:latin typeface="Aptos"/>
              </a:rPr>
              <a:t>002415.SHE, 600406.SHG, CVX.US, DG.PA, DHL.XETRA, GILD.US, LOW.US, PGR.US, PUB.PA, SHEL.LSE, T.US</a:t>
            </a:r>
          </a:p>
        </p:txBody>
      </p:sp>
      <p:sp>
        <p:nvSpPr>
          <p:cNvPr id="36" name="Text: Highest supervised 3-month research rank in each r"/>
          <p:cNvSpPr txBox="1"/>
          <p:nvPr/>
        </p:nvSpPr>
        <p:spPr>
          <a:xfrm>
            <a:off x="530352" y="3785615"/>
            <a:ext cx="7498079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2127"/>
                </a:solidFill>
                <a:latin typeface="Aptos Display"/>
              </a:rPr>
              <a:t>Highest supervised 3-month research rank in each region</a:t>
            </a:r>
          </a:p>
        </p:txBody>
      </p:sp>
      <p:graphicFrame>
        <p:nvGraphicFramePr>
          <p:cNvPr id="37" name="Evidence table"/>
          <p:cNvGraphicFramePr>
            <a:graphicFrameLocks noGrp="1"/>
          </p:cNvGraphicFramePr>
          <p:nvPr/>
        </p:nvGraphicFramePr>
        <p:xfrm>
          <a:off x="502920" y="4142232"/>
          <a:ext cx="11173965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7139"/>
                <a:gridCol w="2900113"/>
                <a:gridCol w="1364759"/>
                <a:gridCol w="2132436"/>
                <a:gridCol w="1364759"/>
                <a:gridCol w="1364759"/>
              </a:tblGrid>
              <a:tr h="241662"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Ticker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Score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Cost-adj alpha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Q05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Q95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NA9.XETRA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99.6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SESG.PA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99.2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0354.HK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99.4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000009.SHE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85.5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GEN.LSE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100.0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241668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HPQ.US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100.0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: Research watchlist only. These are not buy orders;"/>
          <p:cNvSpPr txBox="1"/>
          <p:nvPr/>
        </p:nvSpPr>
        <p:spPr>
          <a:xfrm>
            <a:off x="530352" y="6053328"/>
            <a:ext cx="11109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BB4A4A"/>
                </a:solidFill>
                <a:latin typeface="Aptos"/>
              </a:rPr>
              <a:t>Research watchlist only. These are not buy orders; uncertainty bands are wide and the deployment gate is closed.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Evidence breadth and point-in-time progres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Evidence breadth and point-in-time progress</a:t>
            </a:r>
          </a:p>
        </p:txBody>
      </p:sp>
      <p:sp>
        <p:nvSpPr>
          <p:cNvPr id="3" name="Text: Public identifiers, macro vintages and China/HK vo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Public identifiers, macro vintages and China/HK volume improved; historical membership remains the main gap.</a:t>
            </a:r>
          </a:p>
        </p:txBody>
      </p:sp>
      <p:sp>
        <p:nvSpPr>
          <p:cNvPr id="4" name="Text: 09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09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Universe, walk-forward manifest and aggregate PIT 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Universe, walk-forward manifest and aggregate PIT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35024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55,504"/>
          <p:cNvSpPr txBox="1"/>
          <p:nvPr/>
        </p:nvSpPr>
        <p:spPr>
          <a:xfrm>
            <a:off x="667512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55,504</a:t>
            </a:r>
          </a:p>
        </p:txBody>
      </p:sp>
      <p:sp>
        <p:nvSpPr>
          <p:cNvPr id="11" name="Text: active equities"/>
          <p:cNvSpPr txBox="1"/>
          <p:nvPr/>
        </p:nvSpPr>
        <p:spPr>
          <a:xfrm>
            <a:off x="667512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active equities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1,409"/>
          <p:cNvSpPr txBox="1"/>
          <p:nvPr/>
        </p:nvSpPr>
        <p:spPr>
          <a:xfrm>
            <a:off x="3483864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1,409</a:t>
            </a:r>
          </a:p>
        </p:txBody>
      </p:sp>
      <p:sp>
        <p:nvSpPr>
          <p:cNvPr id="15" name="Text: walk-forward eligible"/>
          <p:cNvSpPr txBox="1"/>
          <p:nvPr/>
        </p:nvSpPr>
        <p:spPr>
          <a:xfrm>
            <a:off x="3483864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walk-forward eligible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4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263,048"/>
          <p:cNvSpPr txBox="1"/>
          <p:nvPr/>
        </p:nvSpPr>
        <p:spPr>
          <a:xfrm>
            <a:off x="6300216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263,048</a:t>
            </a:r>
          </a:p>
        </p:txBody>
      </p:sp>
      <p:sp>
        <p:nvSpPr>
          <p:cNvPr id="19" name="Text: historical forecasts"/>
          <p:cNvSpPr txBox="1"/>
          <p:nvPr/>
        </p:nvSpPr>
        <p:spPr>
          <a:xfrm>
            <a:off x="6300216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historical forecasts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335024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48,577"/>
          <p:cNvSpPr txBox="1"/>
          <p:nvPr/>
        </p:nvSpPr>
        <p:spPr>
          <a:xfrm>
            <a:off x="9116568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48,577</a:t>
            </a:r>
          </a:p>
        </p:txBody>
      </p:sp>
      <p:sp>
        <p:nvSpPr>
          <p:cNvPr id="23" name="Text: current FIGI mappings"/>
          <p:cNvSpPr txBox="1"/>
          <p:nvPr/>
        </p:nvSpPr>
        <p:spPr>
          <a:xfrm>
            <a:off x="9116568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current FIGI mappings</a:t>
            </a:r>
          </a:p>
        </p:txBody>
      </p:sp>
      <p:graphicFrame>
        <p:nvGraphicFramePr>
          <p:cNvPr id="24" name="Evidence table"/>
          <p:cNvGraphicFramePr>
            <a:graphicFrameLocks noGrp="1"/>
          </p:cNvGraphicFramePr>
          <p:nvPr/>
        </p:nvGraphicFramePr>
        <p:xfrm>
          <a:off x="502920" y="2587752"/>
          <a:ext cx="5577837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432"/>
                <a:gridCol w="1042586"/>
                <a:gridCol w="1042586"/>
                <a:gridCol w="1303233"/>
              </a:tblGrid>
              <a:tr h="407561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Master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 share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21,603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38,792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55.7%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2,436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5,088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47.9%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3,504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4,130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84.8%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5,103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5,373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3,932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6,664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59.0%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18,926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52,523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36.0%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Evidence table"/>
          <p:cNvGraphicFramePr>
            <a:graphicFrameLocks noGrp="1"/>
          </p:cNvGraphicFramePr>
          <p:nvPr/>
        </p:nvGraphicFramePr>
        <p:xfrm>
          <a:off x="6336792" y="2587752"/>
          <a:ext cx="5340094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8700"/>
                <a:gridCol w="1232329"/>
                <a:gridCol w="1489065"/>
              </a:tblGrid>
              <a:tr h="40756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PIT evidence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Coverage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Delisting events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59,183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Archived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Fundamentals with filing date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32,321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Mostly reconstructed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Observed acceptance times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Dated membership events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Inactive names with prices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Names with historical volume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8,494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Observed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502920" y="5650992"/>
            <a:ext cx="11173968" cy="59436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650992"/>
            <a:ext cx="54864" cy="59436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: Free-data checkpoint and publication boundary: yfi"/>
          <p:cNvSpPr txBox="1"/>
          <p:nvPr/>
        </p:nvSpPr>
        <p:spPr>
          <a:xfrm>
            <a:off x="704088" y="5742431"/>
            <a:ext cx="10844784" cy="4297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Free-data checkpoint and publication boundary: yfinance volume: 5,142 China/HK names; AKShare: 12,188,157 bars across 3,374 names; FRED/ALFRED: 21 series; OpenBB: 7 benchmark checks; SEC: blocked_or_unavailable. OpenFIGI is a current snapshot, not historical membership. Only aggregate counts and checksums are published.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Equities to establish in the target portfolio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Equities to establish in the target portfolio</a:t>
            </a:r>
          </a:p>
        </p:txBody>
      </p:sp>
      <p:sp>
        <p:nvSpPr>
          <p:cNvPr id="3" name="Text: Model trade direction versus current holdings; wei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Model trade direction versus current holdings; weights are targets.</a:t>
            </a:r>
          </a:p>
        </p:txBody>
      </p:sp>
      <p:sp>
        <p:nvSpPr>
          <p:cNvPr id="4" name="Text: 10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10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Final portfolio weights and portfolio trade lis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Final portfolio weights and portfolio trade 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71016"/>
            <a:ext cx="210312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71016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9"/>
          <p:cNvSpPr txBox="1"/>
          <p:nvPr/>
        </p:nvSpPr>
        <p:spPr>
          <a:xfrm>
            <a:off x="667512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19</a:t>
            </a:r>
          </a:p>
        </p:txBody>
      </p:sp>
      <p:sp>
        <p:nvSpPr>
          <p:cNvPr id="11" name="Text: buy actions"/>
          <p:cNvSpPr txBox="1"/>
          <p:nvPr/>
        </p:nvSpPr>
        <p:spPr>
          <a:xfrm>
            <a:off x="667512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buy 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8" y="1271016"/>
            <a:ext cx="2103120" cy="932688"/>
          </a:xfrm>
          <a:prstGeom prst="rect">
            <a:avLst/>
          </a:prstGeom>
          <a:solidFill>
            <a:srgbClr val="FBF3D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61488" y="1271016"/>
            <a:ext cx="50292" cy="93268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1"/>
          <p:cNvSpPr txBox="1"/>
          <p:nvPr/>
        </p:nvSpPr>
        <p:spPr>
          <a:xfrm>
            <a:off x="2926080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</a:t>
            </a:r>
          </a:p>
        </p:txBody>
      </p:sp>
      <p:sp>
        <p:nvSpPr>
          <p:cNvPr id="15" name="Text: reduce actions"/>
          <p:cNvSpPr txBox="1"/>
          <p:nvPr/>
        </p:nvSpPr>
        <p:spPr>
          <a:xfrm>
            <a:off x="2926080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reduce actions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6" y="1271016"/>
            <a:ext cx="21031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0056" y="1271016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5.0%"/>
          <p:cNvSpPr txBox="1"/>
          <p:nvPr/>
        </p:nvSpPr>
        <p:spPr>
          <a:xfrm>
            <a:off x="5184648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5.0%</a:t>
            </a:r>
          </a:p>
        </p:txBody>
      </p:sp>
      <p:sp>
        <p:nvSpPr>
          <p:cNvPr id="19" name="Text: maximum name"/>
          <p:cNvSpPr txBox="1"/>
          <p:nvPr/>
        </p:nvSpPr>
        <p:spPr>
          <a:xfrm>
            <a:off x="5184648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maximum 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78624" y="1271016"/>
            <a:ext cx="21031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78624" y="1271016"/>
            <a:ext cx="50292" cy="932688"/>
          </a:xfrm>
          <a:prstGeom prst="rect">
            <a:avLst/>
          </a:prstGeom>
          <a:solidFill>
            <a:srgbClr val="2B7280"/>
          </a:solidFill>
          <a:ln w="10160">
            <a:solidFill>
              <a:srgbClr val="2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20"/>
          <p:cNvSpPr txBox="1"/>
          <p:nvPr/>
        </p:nvSpPr>
        <p:spPr>
          <a:xfrm>
            <a:off x="7443216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20</a:t>
            </a:r>
          </a:p>
        </p:txBody>
      </p:sp>
      <p:sp>
        <p:nvSpPr>
          <p:cNvPr id="23" name="Text: equity holdings"/>
          <p:cNvSpPr txBox="1"/>
          <p:nvPr/>
        </p:nvSpPr>
        <p:spPr>
          <a:xfrm>
            <a:off x="7443216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equity holdings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1271016"/>
            <a:ext cx="21396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37192" y="1271016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6"/>
          <p:cNvSpPr txBox="1"/>
          <p:nvPr/>
        </p:nvSpPr>
        <p:spPr>
          <a:xfrm>
            <a:off x="9701784" y="1399031"/>
            <a:ext cx="1883663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6</a:t>
            </a:r>
          </a:p>
        </p:txBody>
      </p:sp>
      <p:sp>
        <p:nvSpPr>
          <p:cNvPr id="27" name="Text: equity regions"/>
          <p:cNvSpPr txBox="1"/>
          <p:nvPr/>
        </p:nvSpPr>
        <p:spPr>
          <a:xfrm>
            <a:off x="9701784" y="1801367"/>
            <a:ext cx="1883663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equity regions</a:t>
            </a:r>
          </a:p>
        </p:txBody>
      </p:sp>
      <p:graphicFrame>
        <p:nvGraphicFramePr>
          <p:cNvPr id="28" name="Evidence table"/>
          <p:cNvGraphicFramePr>
            <a:graphicFrameLocks noGrp="1"/>
          </p:cNvGraphicFramePr>
          <p:nvPr/>
        </p:nvGraphicFramePr>
        <p:xfrm>
          <a:off x="502920" y="2496312"/>
          <a:ext cx="5385814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"/>
                <a:gridCol w="2065237"/>
                <a:gridCol w="1093361"/>
                <a:gridCol w="728907"/>
                <a:gridCol w="647917"/>
              </a:tblGrid>
              <a:tr h="309233"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Ticker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Company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000001.SHE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Ping An Bank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000333.SHE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Midea Group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000538.SHE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Yunnan Baiyao Group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002352.SHE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S.F. Holding Co.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0823.HK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Link Real Estate Investment 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600036.SHG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China Merchants Bank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601816.SHG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Beijing-Shanghai High Speed 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AD.AS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Koninklijke Ahold Delhaize NV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ALV.XETRA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Allianz SE VNA O.N.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8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Carrefour SA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Evidence table"/>
          <p:cNvGraphicFramePr>
            <a:graphicFrameLocks noGrp="1"/>
          </p:cNvGraphicFramePr>
          <p:nvPr/>
        </p:nvGraphicFramePr>
        <p:xfrm>
          <a:off x="6135624" y="2496312"/>
          <a:ext cx="5385814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"/>
                <a:gridCol w="2065237"/>
                <a:gridCol w="1093361"/>
                <a:gridCol w="728907"/>
                <a:gridCol w="647917"/>
              </a:tblGrid>
              <a:tr h="309233"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Ticker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Company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ELE.MC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Endesa SA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EN.PA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Bouygues SA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ESSITY-B.ST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Essity AB (publ)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HEN3.XETRA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Henkel AG &amp; Co. KGaA vz. (Pre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HIG.US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Hartford Financial Services 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IMB.LSE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Imperial Brands PLC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ORA.PA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Orange S.A.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SEB-A.ST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Skandinaviska Enskilda Banken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SHELL.AS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Shell PLC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8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NOVN.SW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Novartis AG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Reduce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: Execution note: recalculate orders using live NAV,"/>
          <p:cNvSpPr txBox="1"/>
          <p:nvPr/>
        </p:nvSpPr>
        <p:spPr>
          <a:xfrm>
            <a:off x="530352" y="6108192"/>
            <a:ext cx="11109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BB4A4A"/>
                </a:solidFill>
                <a:latin typeface="Aptos"/>
              </a:rPr>
              <a:t>Execution note: recalculate orders using live NAV, FX, liquidity and prices. Manual review remains mandatory.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 deliberately diversified targe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 deliberately diversified target</a:t>
            </a:r>
          </a:p>
        </p:txBody>
      </p:sp>
      <p:sp>
        <p:nvSpPr>
          <p:cNvPr id="3" name="Text: The portfolio uses equal name weights and explici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portfolio uses equal name weights and explicit exposure caps.</a:t>
            </a:r>
          </a:p>
        </p:txBody>
      </p:sp>
      <p:sp>
        <p:nvSpPr>
          <p:cNvPr id="4" name="Text: 11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11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Final portfolio weights and constraint repor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Final portfolio weights and constraint report</a:t>
            </a:r>
          </a:p>
        </p:txBody>
      </p:sp>
      <p:pic>
        <p:nvPicPr>
          <p:cNvPr id="8" name="Chart: final_portfolio_exposures.png" descr="final_portfolio_expos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51188"/>
            <a:ext cx="7498079" cy="3513407"/>
          </a:xfrm>
          <a:prstGeom prst="rect">
            <a:avLst/>
          </a:prstGeom>
        </p:spPr>
      </p:pic>
      <p:sp>
        <p:nvSpPr>
          <p:cNvPr id="9" name="Text: Construction rules"/>
          <p:cNvSpPr txBox="1"/>
          <p:nvPr/>
        </p:nvSpPr>
        <p:spPr>
          <a:xfrm>
            <a:off x="8174736" y="1408176"/>
            <a:ext cx="33375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Construction rules</a:t>
            </a:r>
          </a:p>
        </p:txBody>
      </p:sp>
      <p:sp>
        <p:nvSpPr>
          <p:cNvPr id="10" name="Bullet list"/>
          <p:cNvSpPr txBox="1"/>
          <p:nvPr/>
        </p:nvSpPr>
        <p:spPr>
          <a:xfrm>
            <a:off x="8174736" y="1856231"/>
            <a:ext cx="3337560" cy="241401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20 equities at no more than 5.0% each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0% cash reserve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sector above 25%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country above 30%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region or currency above 40%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One listing per issuer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4736" y="4590288"/>
            <a:ext cx="3401568" cy="1078992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74736" y="4590288"/>
            <a:ext cx="54864" cy="1078992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Largest allocations"/>
          <p:cNvSpPr txBox="1"/>
          <p:nvPr/>
        </p:nvSpPr>
        <p:spPr>
          <a:xfrm>
            <a:off x="8375904" y="4736592"/>
            <a:ext cx="307238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Largest allocations</a:t>
            </a:r>
          </a:p>
        </p:txBody>
      </p:sp>
      <p:sp>
        <p:nvSpPr>
          <p:cNvPr id="14" name="Text: EU ex-DACH 40%; Consumer Staples 25%. Cash is excl"/>
          <p:cNvSpPr txBox="1"/>
          <p:nvPr/>
        </p:nvSpPr>
        <p:spPr>
          <a:xfrm>
            <a:off x="8375904" y="5111496"/>
            <a:ext cx="3072384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EU ex-DACH 40%; Consumer Staples 25%. Cash is excluded from equity exposure caps.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y the CVaR portfolio is the baselin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Why the CVaR portfolio is the baseline</a:t>
            </a:r>
          </a:p>
        </p:txBody>
      </p:sp>
      <p:sp>
        <p:nvSpPr>
          <p:cNvPr id="3" name="Text: It balances expected return, downside loss and div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It balances expected return, downside loss and diversification.</a:t>
            </a:r>
          </a:p>
        </p:txBody>
      </p:sp>
      <p:sp>
        <p:nvSpPr>
          <p:cNvPr id="4" name="Text: 12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12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rtfolio optimisation summary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Portfolio optimisation summary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89888"/>
          <a:ext cx="6720836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0865"/>
                <a:gridCol w="1160432"/>
                <a:gridCol w="1160432"/>
                <a:gridCol w="918675"/>
                <a:gridCol w="1160432"/>
              </a:tblGrid>
              <a:tr h="45212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Portfolio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Volatility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CVaR 5%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Yield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Hard breaches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Equal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-24.9%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Score weighted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12.2%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-9.4%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 parity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-14.9%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Mean variance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-6.9%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CVaR constrained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11.8%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-6.7%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4.5%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regional_benchmark_relative_cost_aware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-15.3%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Dividend income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-14.1%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Regime aware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-12.1%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16368" y="1389888"/>
            <a:ext cx="4160520" cy="117043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16368" y="1389888"/>
            <a:ext cx="54864" cy="117043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Selected: CVaR constrained"/>
          <p:cNvSpPr txBox="1"/>
          <p:nvPr/>
        </p:nvSpPr>
        <p:spPr>
          <a:xfrm>
            <a:off x="7717536" y="1536192"/>
            <a:ext cx="3831335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Selected: CVaR constrained</a:t>
            </a:r>
          </a:p>
        </p:txBody>
      </p:sp>
      <p:sp>
        <p:nvSpPr>
          <p:cNvPr id="12" name="Text: The baseline keeps the forecast return target whil"/>
          <p:cNvSpPr txBox="1"/>
          <p:nvPr/>
        </p:nvSpPr>
        <p:spPr>
          <a:xfrm>
            <a:off x="7717536" y="1911095"/>
            <a:ext cx="3831335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baseline keeps the forecast return target while reducing the average loss in the worst 5% of modeled outcomes to 5.10%.</a:t>
            </a:r>
          </a:p>
        </p:txBody>
      </p:sp>
      <p:sp>
        <p:nvSpPr>
          <p:cNvPr id="13" name="Text: Why this matters"/>
          <p:cNvSpPr txBox="1"/>
          <p:nvPr/>
        </p:nvSpPr>
        <p:spPr>
          <a:xfrm>
            <a:off x="7543800" y="2898648"/>
            <a:ext cx="38404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Why this matters</a:t>
            </a:r>
          </a:p>
        </p:txBody>
      </p:sp>
      <p:sp>
        <p:nvSpPr>
          <p:cNvPr id="14" name="Bullet list"/>
          <p:cNvSpPr txBox="1"/>
          <p:nvPr/>
        </p:nvSpPr>
        <p:spPr>
          <a:xfrm>
            <a:off x="7543800" y="3346704"/>
            <a:ext cx="3968496" cy="187451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Focuses on severe downside, not only average volatility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Maintains 20 effective holdings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Passes every hard portfolio constraint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Produces the final 20-name equal-weight target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16368" y="5367528"/>
            <a:ext cx="4160520" cy="68580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16368" y="5367528"/>
            <a:ext cx="54864" cy="68580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Interpret carefully: Expected-return inputs are mo"/>
          <p:cNvSpPr txBox="1"/>
          <p:nvPr/>
        </p:nvSpPr>
        <p:spPr>
          <a:xfrm>
            <a:off x="7717536" y="5458968"/>
            <a:ext cx="3831335" cy="5212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Interpret carefully: Expected-return inputs are model forecasts, not guaranteed market returns. Live sizing still depends on trading capacity.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Five-year point-in-time proxy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Five-year point-in-time proxy</a:t>
            </a:r>
          </a:p>
        </p:txBody>
      </p:sp>
      <p:sp>
        <p:nvSpPr>
          <p:cNvPr id="3" name="Text: The relevant model evidence uses dated monthly dec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relevant model evidence uses dated monthly decisions.</a:t>
            </a:r>
          </a:p>
        </p:txBody>
      </p:sp>
      <p:sp>
        <p:nvSpPr>
          <p:cNvPr id="4" name="Text: 13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13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60-month reconstructed point-in-time portfolio re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60-month reconstructed point-in-time portfolio returns</a:t>
            </a:r>
          </a:p>
        </p:txBody>
      </p:sp>
      <p:pic>
        <p:nvPicPr>
          <p:cNvPr id="8" name="Chart: pit_capital_projection.png" descr="pit_capital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00662"/>
            <a:ext cx="7726679" cy="37058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39327" y="1380744"/>
            <a:ext cx="3337560" cy="1069848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39327" y="1380744"/>
            <a:ext cx="54864" cy="106984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Illustrative current-AUM result"/>
          <p:cNvSpPr txBox="1"/>
          <p:nvPr/>
        </p:nvSpPr>
        <p:spPr>
          <a:xfrm>
            <a:off x="8540496" y="1527048"/>
            <a:ext cx="30083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Illustrative current-AUM result</a:t>
            </a:r>
          </a:p>
        </p:txBody>
      </p:sp>
      <p:sp>
        <p:nvSpPr>
          <p:cNvPr id="12" name="Text: $186.1m grows to $408.1m; net PnL is $222.1m after"/>
          <p:cNvSpPr txBox="1"/>
          <p:nvPr/>
        </p:nvSpPr>
        <p:spPr>
          <a:xfrm>
            <a:off x="8540496" y="1901952"/>
            <a:ext cx="3008376" cy="4297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$186.1m grows to $408.1m; net PnL is $222.1m after trading costs and before the bank fee.</a:t>
            </a:r>
          </a:p>
        </p:txBody>
      </p:sp>
      <p:sp>
        <p:nvSpPr>
          <p:cNvPr id="13" name="Bullet list"/>
          <p:cNvSpPr txBox="1"/>
          <p:nvPr/>
        </p:nvSpPr>
        <p:spPr>
          <a:xfrm>
            <a:off x="8357616" y="2770632"/>
            <a:ext cx="3182112" cy="17830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Net annualised return: 11.2%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Sharpe ratio: 1.08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Maximum drawdown: -15.2%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Positive months: 66.3%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39327" y="4956048"/>
            <a:ext cx="3337560" cy="118872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39327" y="4956048"/>
            <a:ext cx="54864" cy="118872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Not a forecast"/>
          <p:cNvSpPr txBox="1"/>
          <p:nvPr/>
        </p:nvSpPr>
        <p:spPr>
          <a:xfrm>
            <a:off x="8540496" y="5102352"/>
            <a:ext cx="30083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Not a forecast</a:t>
            </a:r>
          </a:p>
        </p:txBody>
      </p:sp>
      <p:sp>
        <p:nvSpPr>
          <p:cNvPr id="17" name="Text: This scales the realised proxy path to current AUM"/>
          <p:cNvSpPr txBox="1"/>
          <p:nvPr/>
        </p:nvSpPr>
        <p:spPr>
          <a:xfrm>
            <a:off x="8540496" y="5477256"/>
            <a:ext cx="3008376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This scales the realised proxy path to current AUM. The 25 bp annual bank fee is modeled separately in the long replay.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at beat what over 60 month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What beat what over 60 months</a:t>
            </a:r>
          </a:p>
        </p:txBody>
      </p:sp>
      <p:sp>
        <p:nvSpPr>
          <p:cNvPr id="3" name="Text: Wolf delivered the best risk-adjusted result, not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Wolf delivered the best risk-adjusted result, not the best return.</a:t>
            </a:r>
          </a:p>
        </p:txBody>
      </p:sp>
      <p:sp>
        <p:nvSpPr>
          <p:cNvPr id="4" name="Text: 14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14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int-in-time strategy comparison, net of modeled 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Point-in-time strategy comparison, net of modeled costs</a:t>
            </a:r>
          </a:p>
        </p:txBody>
      </p:sp>
      <p:pic>
        <p:nvPicPr>
          <p:cNvPr id="8" name="Chart: pit_metric_comparison.png" descr="pit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1130"/>
            <a:ext cx="7589520" cy="276776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02752" y="1426464"/>
            <a:ext cx="3374136" cy="1197864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02752" y="1426464"/>
            <a:ext cx="54864" cy="1197864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The useful result"/>
          <p:cNvSpPr txBox="1"/>
          <p:nvPr/>
        </p:nvSpPr>
        <p:spPr>
          <a:xfrm>
            <a:off x="8503920" y="157276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useful result</a:t>
            </a:r>
          </a:p>
        </p:txBody>
      </p:sp>
      <p:sp>
        <p:nvSpPr>
          <p:cNvPr id="12" name="Text: Wolf Sharpe was 1.08 and drawdown was 15.2%, bette"/>
          <p:cNvSpPr txBox="1"/>
          <p:nvPr/>
        </p:nvSpPr>
        <p:spPr>
          <a:xfrm>
            <a:off x="8503920" y="1947672"/>
            <a:ext cx="3044952" cy="5577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Wolf Sharpe was 1.08 and drawdown was 15.2%, better than both simple controls on these risk measures.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02752" y="2889504"/>
            <a:ext cx="3374136" cy="1197864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02752" y="2889504"/>
            <a:ext cx="54864" cy="119786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The honest result"/>
          <p:cNvSpPr txBox="1"/>
          <p:nvPr/>
        </p:nvSpPr>
        <p:spPr>
          <a:xfrm>
            <a:off x="8503920" y="303580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honest result</a:t>
            </a:r>
          </a:p>
        </p:txBody>
      </p:sp>
      <p:sp>
        <p:nvSpPr>
          <p:cNvPr id="16" name="Text: Equal weight returned 14.97% versus Wolf at 11.17%"/>
          <p:cNvSpPr txBox="1"/>
          <p:nvPr/>
        </p:nvSpPr>
        <p:spPr>
          <a:xfrm>
            <a:off x="8503920" y="3410712"/>
            <a:ext cx="3044952" cy="5577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Equal weight returned 14.97% versus Wolf at 11.17%. The model did not beat the simplest control on net return.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02752" y="4352544"/>
            <a:ext cx="3374136" cy="1197864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4352544"/>
            <a:ext cx="54864" cy="1197864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Investment interpretation"/>
          <p:cNvSpPr txBox="1"/>
          <p:nvPr/>
        </p:nvSpPr>
        <p:spPr>
          <a:xfrm>
            <a:off x="8503920" y="449884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Investment interpretation</a:t>
            </a:r>
          </a:p>
        </p:txBody>
      </p:sp>
      <p:sp>
        <p:nvSpPr>
          <p:cNvPr id="20" name="Text: The current case is risk control and decision disc"/>
          <p:cNvSpPr txBox="1"/>
          <p:nvPr/>
        </p:nvSpPr>
        <p:spPr>
          <a:xfrm>
            <a:off x="8503920" y="4873752"/>
            <a:ext cx="3044952" cy="5577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current case is risk control and decision discipline. Incremental stock-selection alpha remains unproven.</a:t>
            </a:r>
          </a:p>
        </p:txBody>
      </p:sp>
      <p:sp>
        <p:nvSpPr>
          <p:cNvPr id="21" name="Text: Highest return: Equal weight  |  Highest Sharpe: W"/>
          <p:cNvSpPr txBox="1"/>
          <p:nvPr/>
        </p:nvSpPr>
        <p:spPr>
          <a:xfrm>
            <a:off x="530352" y="5934456"/>
            <a:ext cx="11064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B6F56"/>
                </a:solidFill>
                <a:latin typeface="Aptos"/>
              </a:rPr>
              <a:t>Highest return: Equal weight  |  Highest Sharpe: Wolf  |  Smallest drawdown: Wolf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lpha and overfitting: the hard truth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Alpha and overfitting: the hard truth</a:t>
            </a:r>
          </a:p>
        </p:txBody>
      </p:sp>
      <p:sp>
        <p:nvSpPr>
          <p:cNvPr id="3" name="Text: The retrospective strategies are interesting; dep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retrospective strategies are interesting; deployable alpha is not established.</a:t>
            </a:r>
          </a:p>
        </p:txBody>
      </p:sp>
      <p:sp>
        <p:nvSpPr>
          <p:cNvPr id="4" name="Text: 15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15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int-in-time alpha tests and CSCV overfitting dia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Point-in-time alpha tests and CSCV overfitting diagnostics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89888"/>
          <a:ext cx="5614413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673"/>
                <a:gridCol w="1058455"/>
                <a:gridCol w="966415"/>
                <a:gridCol w="782336"/>
                <a:gridCol w="1242534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Benchmark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 return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Reg. alpha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p-value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Verdict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Cap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1.38%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4.00%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0.028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SIGNIFICANT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Equal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-3.94%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2.88%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0.212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SIGNIFICANT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Wolf regional alpha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-0.01%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1.67%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0.258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SIGNIFICANT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Chart: overfitting_haircut.png" descr="overfitting_hair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348312"/>
            <a:ext cx="5330952" cy="305495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3246120"/>
            <a:ext cx="5614416" cy="123444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4864" cy="123444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What the 50.3% fall means"/>
          <p:cNvSpPr txBox="1"/>
          <p:nvPr/>
        </p:nvSpPr>
        <p:spPr>
          <a:xfrm>
            <a:off x="704088" y="3392424"/>
            <a:ext cx="528523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the 50.3% fall means</a:t>
            </a:r>
          </a:p>
        </p:txBody>
      </p:sp>
      <p:sp>
        <p:nvSpPr>
          <p:cNvPr id="13" name="Text: When history selects the apparent winner, its info"/>
          <p:cNvSpPr txBox="1"/>
          <p:nvPr/>
        </p:nvSpPr>
        <p:spPr>
          <a:xfrm>
            <a:off x="704088" y="3767328"/>
            <a:ext cx="5285231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When history selects the apparent winner, its information ratio typically drops from 1.32 in-sample to 0.66 out-of-sample. About half the apparent edge does not survive selection.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791456"/>
            <a:ext cx="11173968" cy="1097280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791456"/>
            <a:ext cx="54864" cy="109728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Decision"/>
          <p:cNvSpPr txBox="1"/>
          <p:nvPr/>
        </p:nvSpPr>
        <p:spPr>
          <a:xfrm>
            <a:off x="704088" y="4937760"/>
            <a:ext cx="1084478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Decision</a:t>
            </a:r>
          </a:p>
        </p:txBody>
      </p:sp>
      <p:sp>
        <p:nvSpPr>
          <p:cNvPr id="17" name="Text: Use Wolf for disciplined ranking and risk control."/>
          <p:cNvSpPr txBox="1"/>
          <p:nvPr/>
        </p:nvSpPr>
        <p:spPr>
          <a:xfrm>
            <a:off x="704088" y="5312664"/>
            <a:ext cx="1084478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Use Wolf for disciplined ranking and risk control. Do not market it as a proven alpha engine until native live evidence clears the benchmark and cost hurdles.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1997 replay is a stress map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The 1997 replay is a stress map</a:t>
            </a:r>
          </a:p>
        </p:txBody>
      </p:sp>
      <p:sp>
        <p:nvSpPr>
          <p:cNvPr id="3" name="Text: It shows how today's holdings behaved through his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It shows how today's holdings behaved through history, not what the model knew then.</a:t>
            </a:r>
          </a:p>
        </p:txBody>
      </p:sp>
      <p:sp>
        <p:nvSpPr>
          <p:cNvPr id="4" name="Text: 16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16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1997-present retrospective holdings replay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1997-present retrospective holdings replay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99032"/>
          <a:ext cx="6583680" cy="305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51560"/>
                <a:gridCol w="731520"/>
                <a:gridCol w="685800"/>
                <a:gridCol w="822960"/>
                <a:gridCol w="1143000"/>
              </a:tblGrid>
              <a:tr h="509016"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Portfolio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Start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CAGR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Sharpe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Max DD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End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Current Portfolio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-42.6%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$9.0bn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Portfolio-Aware Overlay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-46.4%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$7.0bn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Risk-Parity Optimiser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$100.0k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0.79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-31.8%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$2.7m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LLM Analyst Benchmark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$100.0k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0.66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-10.2%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$403.1k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Final Resolved Portfolio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0.62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-35.8%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$2.5bn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Chart: risk_return.png" descr="risk_ret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912" y="1860777"/>
            <a:ext cx="4379976" cy="223118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4791456"/>
            <a:ext cx="5486400" cy="1143000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791456"/>
            <a:ext cx="54864" cy="114300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What looks strongest"/>
          <p:cNvSpPr txBox="1"/>
          <p:nvPr/>
        </p:nvSpPr>
        <p:spPr>
          <a:xfrm>
            <a:off x="704088" y="4937760"/>
            <a:ext cx="515721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looks strongest</a:t>
            </a:r>
          </a:p>
        </p:txBody>
      </p:sp>
      <p:sp>
        <p:nvSpPr>
          <p:cNvPr id="13" name="Text: Current Portfolio PnL: $8.8bn. Final Resolved PnL:"/>
          <p:cNvSpPr txBox="1"/>
          <p:nvPr/>
        </p:nvSpPr>
        <p:spPr>
          <a:xfrm>
            <a:off x="704088" y="5312664"/>
            <a:ext cx="5157216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Current Portfolio PnL: $8.8bn. Final Resolved PnL: $2.3bn. Risk Parity led the independent optimisers.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4791456"/>
            <a:ext cx="5440680" cy="1197864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4791456"/>
            <a:ext cx="54864" cy="119786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Why it cannot prove selection skill"/>
          <p:cNvSpPr txBox="1"/>
          <p:nvPr/>
        </p:nvSpPr>
        <p:spPr>
          <a:xfrm>
            <a:off x="6437376" y="4937760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Why it cannot prove selection skill</a:t>
            </a:r>
          </a:p>
        </p:txBody>
      </p:sp>
      <p:sp>
        <p:nvSpPr>
          <p:cNvPr id="17" name="Text: The securities were chosen with current informatio"/>
          <p:cNvSpPr txBox="1"/>
          <p:nvPr/>
        </p:nvSpPr>
        <p:spPr>
          <a:xfrm>
            <a:off x="6437376" y="5312664"/>
            <a:ext cx="5111496" cy="5577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securities were chosen with current information and then replayed backward. Survivorship and selection look-ahead make the long PnL unsuitable as a live promise.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Performance through major market shock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Performance through major market shocks</a:t>
            </a:r>
          </a:p>
        </p:txBody>
      </p:sp>
      <p:sp>
        <p:nvSpPr>
          <p:cNvPr id="3" name="Text: Event windows are descriptive overlaps, not causa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Event windows are descriptive overlaps, not causal estimates.</a:t>
            </a:r>
          </a:p>
        </p:txBody>
      </p:sp>
      <p:sp>
        <p:nvSpPr>
          <p:cNvPr id="4" name="Text: 17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17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Macro-event timeline and event performance tabl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Macro-event timeline and event performance table</a:t>
            </a:r>
          </a:p>
        </p:txBody>
      </p:sp>
      <p:pic>
        <p:nvPicPr>
          <p:cNvPr id="8" name="Chart: macro_event_timeline.png" descr="macro_even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811" y="1179576"/>
            <a:ext cx="8068185" cy="440740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641848"/>
            <a:ext cx="54864" cy="557784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COVID-19: -12.58% return; -15.19% event drawdown"/>
          <p:cNvSpPr txBox="1"/>
          <p:nvPr/>
        </p:nvSpPr>
        <p:spPr>
          <a:xfrm>
            <a:off x="704088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COVID-19: -12.58% return; -15.19% event drawdown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5641848"/>
            <a:ext cx="54864" cy="55778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2008 crisis: -27.12% event drawdown"/>
          <p:cNvSpPr txBox="1"/>
          <p:nvPr/>
        </p:nvSpPr>
        <p:spPr>
          <a:xfrm>
            <a:off x="4471416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2008 crisis: -27.12% event drawdown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7576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7576" y="5641848"/>
            <a:ext cx="54864" cy="557784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2026 Iran war: +3.57% return; -5.27% drawdown"/>
          <p:cNvSpPr txBox="1"/>
          <p:nvPr/>
        </p:nvSpPr>
        <p:spPr>
          <a:xfrm>
            <a:off x="8238744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2026 Iran war: +3.57% return; -5.27% drawdown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Interest-rate and market-regime contex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Interest-rate and market-regime context</a:t>
            </a:r>
          </a:p>
        </p:txBody>
      </p:sp>
      <p:sp>
        <p:nvSpPr>
          <p:cNvPr id="3" name="Text: Conditional groupings show where the final portfo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Conditional groupings show where the final portfolio was most comfortable.</a:t>
            </a:r>
          </a:p>
        </p:txBody>
      </p:sp>
      <p:sp>
        <p:nvSpPr>
          <p:cNvPr id="4" name="Text: 18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18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Lagged rate and market-regime performanc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Lagged rate and market-regime performance</a:t>
            </a:r>
          </a:p>
        </p:txBody>
      </p:sp>
      <p:pic>
        <p:nvPicPr>
          <p:cNvPr id="8" name="Chart: interest_rate_performance.png" descr="interest_rate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2081564"/>
            <a:ext cx="5687568" cy="2502847"/>
          </a:xfrm>
          <a:prstGeom prst="rect">
            <a:avLst/>
          </a:prstGeom>
        </p:spPr>
      </p:pic>
      <p:pic>
        <p:nvPicPr>
          <p:cNvPr id="9" name="Chart: market_regime_performance.png" descr="market_regime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95648"/>
            <a:ext cx="5623560" cy="247467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522976"/>
            <a:ext cx="5440680" cy="676656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522976"/>
            <a:ext cx="54864" cy="676656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Rate reading: Final Portfolio was strongest in hig"/>
          <p:cNvSpPr txBox="1"/>
          <p:nvPr/>
        </p:nvSpPr>
        <p:spPr>
          <a:xfrm>
            <a:off x="704088" y="5614416"/>
            <a:ext cx="5111496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Rate reading: Final Portfolio was strongest in high-rate months (15.77%) and when rates were rising (13.03%).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5522976"/>
            <a:ext cx="5440680" cy="676656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6208" y="5522976"/>
            <a:ext cx="54864" cy="676656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Regime reading: Its strongest market group was Bul"/>
          <p:cNvSpPr txBox="1"/>
          <p:nvPr/>
        </p:nvSpPr>
        <p:spPr>
          <a:xfrm>
            <a:off x="6437376" y="5614416"/>
            <a:ext cx="5111496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Regime reading: Its strongest market group was Bull / Volatile (14.09%). Expansion months returned 9.91% annualised.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Risk holdout passes; approval stays conditional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Risk holdout passes; approval stays conditional</a:t>
            </a:r>
          </a:p>
        </p:txBody>
      </p:sp>
      <p:sp>
        <p:nvSpPr>
          <p:cNvPr id="3" name="Text: Blocked development CV controls coverage without h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Blocked development CV controls coverage without hiding PIT and alpha limits.</a:t>
            </a:r>
          </a:p>
        </p:txBody>
      </p:sp>
      <p:sp>
        <p:nvSpPr>
          <p:cNvPr id="4" name="Text: 19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19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Validation scorecard and overall/holdout VaR tests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Validation scorecard and overall/holdout VaR tests</a:t>
            </a:r>
          </a:p>
        </p:txBody>
      </p:sp>
      <p:pic>
        <p:nvPicPr>
          <p:cNvPr id="8" name="Chart: validation_scorecard.png" descr="validation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1871263"/>
            <a:ext cx="5715000" cy="3298353"/>
          </a:xfrm>
          <a:prstGeom prst="rect">
            <a:avLst/>
          </a:prstGeom>
        </p:spPr>
      </p:pic>
      <p:sp>
        <p:nvSpPr>
          <p:cNvPr id="9" name="Text: VaR coverage and independence"/>
          <p:cNvSpPr txBox="1"/>
          <p:nvPr/>
        </p:nvSpPr>
        <p:spPr>
          <a:xfrm>
            <a:off x="6345936" y="1353312"/>
            <a:ext cx="50292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VaR coverage and independence</a:t>
            </a:r>
          </a:p>
        </p:txBody>
      </p:sp>
      <p:graphicFrame>
        <p:nvGraphicFramePr>
          <p:cNvPr id="10" name="Evidence table"/>
          <p:cNvGraphicFramePr>
            <a:graphicFrameLocks noGrp="1"/>
          </p:cNvGraphicFramePr>
          <p:nvPr/>
        </p:nvGraphicFramePr>
        <p:xfrm>
          <a:off x="6336792" y="1773936"/>
          <a:ext cx="5340091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190"/>
                <a:gridCol w="624904"/>
                <a:gridCol w="999847"/>
                <a:gridCol w="863504"/>
                <a:gridCol w="863504"/>
                <a:gridCol w="852142"/>
              </a:tblGrid>
              <a:tr h="435254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Sample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Exceptions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Kupiec p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Indep. p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Overall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98/1773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0.316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0.003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Warning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Overall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28/1773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0.024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0.343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Fail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Holdout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29/709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0.252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0.140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3525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Holdout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7/709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0.973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0.708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336792" y="4251960"/>
            <a:ext cx="5340096" cy="1371600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6792" y="4251960"/>
            <a:ext cx="54864" cy="137160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Chronological holdout gate: Pass (15 / 15)"/>
          <p:cNvSpPr txBox="1"/>
          <p:nvPr/>
        </p:nvSpPr>
        <p:spPr>
          <a:xfrm>
            <a:off x="6537959" y="4398264"/>
            <a:ext cx="501091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Chronological holdout gate: Pass (15 / 15)</a:t>
            </a:r>
          </a:p>
        </p:txBody>
      </p:sp>
      <p:sp>
        <p:nvSpPr>
          <p:cNvPr id="14" name="Text: DCC-IGARCH Student-t, filtered historical simulati"/>
          <p:cNvSpPr txBox="1"/>
          <p:nvPr/>
        </p:nvSpPr>
        <p:spPr>
          <a:xfrm>
            <a:off x="6537959" y="4773168"/>
            <a:ext cx="5010912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DCC-IGARCH Student-t, filtered historical simulation, EWMA Normal and EWMA Student-t are selected using trailing data. 3 blocked development fold(s) selected a 1.000x scale and 1.20x buffer for 10 day after a breach. Overall rows remain diagnostics; the configured holdout is the gate. It is reconstructed evidence, not a pristine future shadow period.</a:t>
            </a:r>
          </a:p>
        </p:txBody>
      </p:sp>
      <p:sp>
        <p:nvSpPr>
          <p:cNvPr id="15" name="Text: Overall 75/100  |  4 pass  |  3 warnings  |  1 fai"/>
          <p:cNvSpPr txBox="1"/>
          <p:nvPr/>
        </p:nvSpPr>
        <p:spPr>
          <a:xfrm>
            <a:off x="530352" y="5943600"/>
            <a:ext cx="110185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30" b="1">
                <a:solidFill>
                  <a:srgbClr val="0B6F56"/>
                </a:solidFill>
                <a:latin typeface="Aptos"/>
              </a:rPr>
              <a:t>Overall 75/100  |  4 pass  |  3 warnings  |  1 fail  |  0 critical failures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urnover and modeled cost drag now meet targe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Turnover and modeled cost drag now meet target</a:t>
            </a:r>
          </a:p>
        </p:txBody>
      </p:sp>
      <p:sp>
        <p:nvSpPr>
          <p:cNvPr id="3" name="Text: Retention hysteresis and minimum-turnover transiti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Retention hysteresis and minimum-turnover transitions reduced churn.</a:t>
            </a:r>
          </a:p>
        </p:txBody>
      </p:sp>
      <p:sp>
        <p:nvSpPr>
          <p:cNvPr id="4" name="Text: 20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20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Before/after point-in-time cost and turnover valid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Before/after point-in-time cost and turnover validation</a:t>
            </a:r>
          </a:p>
        </p:txBody>
      </p:sp>
      <p:pic>
        <p:nvPicPr>
          <p:cNvPr id="8" name="Chart: implementation_cost_drag.png" descr="implementation_cost_d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606104"/>
            <a:ext cx="6912864" cy="383781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07808" y="1435608"/>
            <a:ext cx="406908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7808" y="1435608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0.83%"/>
          <p:cNvSpPr txBox="1"/>
          <p:nvPr/>
        </p:nvSpPr>
        <p:spPr>
          <a:xfrm>
            <a:off x="7772400" y="1563624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0.83%</a:t>
            </a:r>
          </a:p>
        </p:txBody>
      </p:sp>
      <p:sp>
        <p:nvSpPr>
          <p:cNvPr id="12" name="Text: modeled cost drag; target &lt;= 1.50%"/>
          <p:cNvSpPr txBox="1"/>
          <p:nvPr/>
        </p:nvSpPr>
        <p:spPr>
          <a:xfrm>
            <a:off x="7772400" y="1965960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modeled cost drag; target &lt;= 1.50%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7808" y="2587752"/>
            <a:ext cx="406908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7808" y="2587752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1.01x"/>
          <p:cNvSpPr txBox="1"/>
          <p:nvPr/>
        </p:nvSpPr>
        <p:spPr>
          <a:xfrm>
            <a:off x="7772400" y="2715768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1.01x</a:t>
            </a:r>
          </a:p>
        </p:txBody>
      </p:sp>
      <p:sp>
        <p:nvSpPr>
          <p:cNvPr id="16" name="Text: annual turnover; target &lt;= 1.50x"/>
          <p:cNvSpPr txBox="1"/>
          <p:nvPr/>
        </p:nvSpPr>
        <p:spPr>
          <a:xfrm>
            <a:off x="7772400" y="3118104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annual turnover; target &lt;= 1.50x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739896"/>
            <a:ext cx="406908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7808" y="3739896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$465k"/>
          <p:cNvSpPr txBox="1"/>
          <p:nvPr/>
        </p:nvSpPr>
        <p:spPr>
          <a:xfrm>
            <a:off x="7772400" y="3867911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$465k</a:t>
            </a:r>
          </a:p>
        </p:txBody>
      </p:sp>
      <p:sp>
        <p:nvSpPr>
          <p:cNvPr id="20" name="Text: 0.25% annual bank fee at reference AUM"/>
          <p:cNvSpPr txBox="1"/>
          <p:nvPr/>
        </p:nvSpPr>
        <p:spPr>
          <a:xfrm>
            <a:off x="7772400" y="4270248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0.25% annual bank fee at reference AUM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4892040"/>
            <a:ext cx="4069080" cy="1024128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7808" y="4892040"/>
            <a:ext cx="54864" cy="102412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Why portfolio remains a warning"/>
          <p:cNvSpPr txBox="1"/>
          <p:nvPr/>
        </p:nvSpPr>
        <p:spPr>
          <a:xfrm>
            <a:off x="7808976" y="5038344"/>
            <a:ext cx="37398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Why portfolio remains a warning</a:t>
            </a:r>
          </a:p>
        </p:txBody>
      </p:sp>
      <p:sp>
        <p:nvSpPr>
          <p:cNvPr id="24" name="Text: Both cost gates pass, but Wolf trailed equal weigh"/>
          <p:cNvSpPr txBox="1"/>
          <p:nvPr/>
        </p:nvSpPr>
        <p:spPr>
          <a:xfrm>
            <a:off x="7808976" y="5413248"/>
            <a:ext cx="373989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Both cost gates pass, but Wolf trailed equal weight by 3.80% per year in this 60-month sample (p=0.250).</a:t>
            </a:r>
          </a:p>
        </p:txBody>
      </p:sp>
      <p:sp>
        <p:nvSpPr>
          <p:cNvPr id="25" name="Text: Retention and capped/minimum-turnover transitions "/>
          <p:cNvSpPr txBox="1"/>
          <p:nvPr/>
        </p:nvSpPr>
        <p:spPr>
          <a:xfrm>
            <a:off x="530352" y="5989320"/>
            <a:ext cx="1106424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80" b="1">
                <a:solidFill>
                  <a:srgbClr val="0B6F56"/>
                </a:solidFill>
                <a:latin typeface="Aptos"/>
              </a:rPr>
              <a:t>Retention and capped/minimum-turnover transitions drove the improvement; the configured no-trade band did not trigger in this sample.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 controlled path to live us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 controlled path to live use</a:t>
            </a:r>
          </a:p>
        </p:txBody>
      </p:sp>
      <p:sp>
        <p:nvSpPr>
          <p:cNvPr id="3" name="Text: Scale only when operations, costs and evidence ear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Scale only when operations, costs and evidence earn it.</a:t>
            </a:r>
          </a:p>
        </p:txBody>
      </p:sp>
      <p:sp>
        <p:nvSpPr>
          <p:cNvPr id="4" name="Text: 21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21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roposed implementation and model-risk controls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Proposed implementation and model-risk controls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44752"/>
            <a:ext cx="3511296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0  SHADOW"/>
          <p:cNvSpPr txBox="1"/>
          <p:nvPr/>
        </p:nvSpPr>
        <p:spPr>
          <a:xfrm>
            <a:off x="685800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0  SHADOW</a:t>
            </a:r>
          </a:p>
        </p:txBody>
      </p:sp>
      <p:sp>
        <p:nvSpPr>
          <p:cNvPr id="11" name="Text: 4 weeks"/>
          <p:cNvSpPr txBox="1"/>
          <p:nvPr/>
        </p:nvSpPr>
        <p:spPr>
          <a:xfrm>
            <a:off x="685800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4 weeks</a:t>
            </a:r>
          </a:p>
        </p:txBody>
      </p:sp>
      <p:sp>
        <p:nvSpPr>
          <p:cNvPr id="12" name="Text: Generate orders, do not trade. Validate data, NAV,"/>
          <p:cNvSpPr txBox="1"/>
          <p:nvPr/>
        </p:nvSpPr>
        <p:spPr>
          <a:xfrm>
            <a:off x="685800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Generate orders, do not trade. Validate data, NAV, FX and fills.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444752"/>
            <a:ext cx="3511296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1  PILOT"/>
          <p:cNvSpPr txBox="1"/>
          <p:nvPr/>
        </p:nvSpPr>
        <p:spPr>
          <a:xfrm>
            <a:off x="4453128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1  PILOT</a:t>
            </a:r>
          </a:p>
        </p:txBody>
      </p:sp>
      <p:sp>
        <p:nvSpPr>
          <p:cNvPr id="16" name="Text: 6 to 12 months"/>
          <p:cNvSpPr txBox="1"/>
          <p:nvPr/>
        </p:nvSpPr>
        <p:spPr>
          <a:xfrm>
            <a:off x="4453128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6 to 12 months</a:t>
            </a:r>
          </a:p>
        </p:txBody>
      </p:sp>
      <p:sp>
        <p:nvSpPr>
          <p:cNvPr id="17" name="Text: Use limited capital with human approval and staged"/>
          <p:cNvSpPr txBox="1"/>
          <p:nvPr/>
        </p:nvSpPr>
        <p:spPr>
          <a:xfrm>
            <a:off x="4453128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Use limited capital with human approval and staged execution.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7576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6" y="1444752"/>
            <a:ext cx="3511296" cy="10972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2  SCALE"/>
          <p:cNvSpPr txBox="1"/>
          <p:nvPr/>
        </p:nvSpPr>
        <p:spPr>
          <a:xfrm>
            <a:off x="8220456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2  SCALE</a:t>
            </a:r>
          </a:p>
        </p:txBody>
      </p:sp>
      <p:sp>
        <p:nvSpPr>
          <p:cNvPr id="21" name="Text: Evidence gated"/>
          <p:cNvSpPr txBox="1"/>
          <p:nvPr/>
        </p:nvSpPr>
        <p:spPr>
          <a:xfrm>
            <a:off x="8220456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Evidence gated</a:t>
            </a:r>
          </a:p>
        </p:txBody>
      </p:sp>
      <p:sp>
        <p:nvSpPr>
          <p:cNvPr id="22" name="Text: Increase capital only after cost, risk and benchma"/>
          <p:cNvSpPr txBox="1"/>
          <p:nvPr/>
        </p:nvSpPr>
        <p:spPr>
          <a:xfrm>
            <a:off x="8220456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Increase capital only after cost, risk and benchmark hurdles hold.</a:t>
            </a:r>
          </a:p>
        </p:txBody>
      </p:sp>
      <p:sp>
        <p:nvSpPr>
          <p:cNvPr id="23" name="Text: Proposed pilot gates"/>
          <p:cNvSpPr txBox="1"/>
          <p:nvPr/>
        </p:nvSpPr>
        <p:spPr>
          <a:xfrm>
            <a:off x="530352" y="3721608"/>
            <a:ext cx="49377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Proposed pilot gates</a:t>
            </a:r>
          </a:p>
        </p:txBody>
      </p:sp>
      <p:sp>
        <p:nvSpPr>
          <p:cNvPr id="24" name="Bullet list"/>
          <p:cNvSpPr txBox="1"/>
          <p:nvPr/>
        </p:nvSpPr>
        <p:spPr>
          <a:xfrm>
            <a:off x="530352" y="4133087"/>
            <a:ext cx="5330952" cy="167335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Zero hard constraint or data-lineage breaches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Pre-trade cost estimate approved for every rebalance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Keep turnover &lt;=1.5x; stretch goal &lt;=1.0x in the pilot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Net performance tracked against equal and cap weight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Monthly model-risk and investment-committee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6208" y="3767328"/>
            <a:ext cx="5440680" cy="1234440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3767328"/>
            <a:ext cx="54864" cy="123444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Immediate stop conditions"/>
          <p:cNvSpPr txBox="1"/>
          <p:nvPr/>
        </p:nvSpPr>
        <p:spPr>
          <a:xfrm>
            <a:off x="6437376" y="3913632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Immediate stop conditions</a:t>
            </a:r>
          </a:p>
        </p:txBody>
      </p:sp>
      <p:sp>
        <p:nvSpPr>
          <p:cNvPr id="28" name="Text: Stale critical data, any hard breach, a failed liv"/>
          <p:cNvSpPr txBox="1"/>
          <p:nvPr/>
        </p:nvSpPr>
        <p:spPr>
          <a:xfrm>
            <a:off x="6437376" y="4288536"/>
            <a:ext cx="5111496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Stale critical data, any hard breach, a failed live risk test, failed reconciliation or trading costs above the approved budget.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5221224"/>
            <a:ext cx="5440680" cy="768096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6208" y="5221224"/>
            <a:ext cx="54864" cy="768096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Alpha gate: Full-scale alpha claims require native"/>
          <p:cNvSpPr txBox="1"/>
          <p:nvPr/>
        </p:nvSpPr>
        <p:spPr>
          <a:xfrm>
            <a:off x="6437376" y="5312664"/>
            <a:ext cx="511149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Alpha gate: Full-scale alpha claims require native live evidence and at least 60 months under the existing governance policy.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How to read the result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How to read the results</a:t>
            </a:r>
          </a:p>
        </p:txBody>
      </p:sp>
      <p:sp>
        <p:nvSpPr>
          <p:cNvPr id="3" name="Text: Plain-language definitions for the investment comm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Plain-language definitions for the investment committee.</a:t>
            </a:r>
          </a:p>
        </p:txBody>
      </p:sp>
      <p:sp>
        <p:nvSpPr>
          <p:cNvPr id="4" name="Text: 22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22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Backtest methodology and validation framework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Backtest methodology and validation framework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62456"/>
          <a:ext cx="64008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4800600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Measure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Simple meaning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CAGR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Average compounded annual growth.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Sharpe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Return earned per unit of overall variability.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Sortino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Return earned per unit of harmful downside variation.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Max drawdown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Largest peak-to-trough loss.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CVaR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Average loss among the worst modeled outcomes.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Information ratio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Active return per unit of benchmark-relative risk.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p-value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How surprising the result is if true alpha were zero.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PBO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Chance that selecting the backtest winner overfits history.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187184" y="1362456"/>
            <a:ext cx="4489704" cy="1481328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87184" y="1362456"/>
            <a:ext cx="54864" cy="14813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Three evidence layers"/>
          <p:cNvSpPr txBox="1"/>
          <p:nvPr/>
        </p:nvSpPr>
        <p:spPr>
          <a:xfrm>
            <a:off x="7388352" y="1508760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Three evidence layers</a:t>
            </a:r>
          </a:p>
        </p:txBody>
      </p:sp>
      <p:sp>
        <p:nvSpPr>
          <p:cNvPr id="12" name="Text: 1. Dated 89-month proxy: primary model evidence.&#10;2"/>
          <p:cNvSpPr txBox="1"/>
          <p:nvPr/>
        </p:nvSpPr>
        <p:spPr>
          <a:xfrm>
            <a:off x="7388352" y="1883664"/>
            <a:ext cx="416052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1. Dated 89-month proxy: primary model evidence.
2. 1997 replay: stress and exposure history.
3. Native live record: required before full alpha approval.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87184" y="3154680"/>
            <a:ext cx="4489704" cy="1298448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87184" y="3154680"/>
            <a:ext cx="54864" cy="129844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Higher is not always better"/>
          <p:cNvSpPr txBox="1"/>
          <p:nvPr/>
        </p:nvSpPr>
        <p:spPr>
          <a:xfrm>
            <a:off x="7388352" y="3300984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Higher is not always better</a:t>
            </a:r>
          </a:p>
        </p:txBody>
      </p:sp>
      <p:sp>
        <p:nvSpPr>
          <p:cNvPr id="16" name="Text: A portfolio can have a higher return but a deeper "/>
          <p:cNvSpPr txBox="1"/>
          <p:nvPr/>
        </p:nvSpPr>
        <p:spPr>
          <a:xfrm>
            <a:off x="7388352" y="3675888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A portfolio can have a higher return but a deeper drawdown, more turnover or weaker statistical evidence. The committee should judge the package, not one headline number.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87184" y="4764024"/>
            <a:ext cx="4489704" cy="112471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87184" y="4764024"/>
            <a:ext cx="54864" cy="112471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Where to verify"/>
          <p:cNvSpPr txBox="1"/>
          <p:nvPr/>
        </p:nvSpPr>
        <p:spPr>
          <a:xfrm>
            <a:off x="7388352" y="4910328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Where to verify</a:t>
            </a:r>
          </a:p>
        </p:txBody>
      </p:sp>
      <p:sp>
        <p:nvSpPr>
          <p:cNvPr id="20" name="Text: The GitHub release contains the full PDF, plain-la"/>
          <p:cNvSpPr txBox="1"/>
          <p:nvPr/>
        </p:nvSpPr>
        <p:spPr>
          <a:xfrm>
            <a:off x="7388352" y="5285232"/>
            <a:ext cx="4160520" cy="4846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GitHub release contains the full PDF, plain-language interpretation, CSV evidence, plots, manifests and checksums.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RECOMMENDATION"/>
          <p:cNvSpPr txBox="1"/>
          <p:nvPr/>
        </p:nvSpPr>
        <p:spPr>
          <a:xfrm>
            <a:off x="832104" y="676656"/>
            <a:ext cx="43891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FD7BF"/>
                </a:solidFill>
                <a:latin typeface="Aptos"/>
              </a:rPr>
              <a:t>THE RECOMMENDATION</a:t>
            </a:r>
          </a:p>
        </p:txBody>
      </p:sp>
      <p:sp>
        <p:nvSpPr>
          <p:cNvPr id="3" name="Text: Continue paper and shadow operation."/>
          <p:cNvSpPr txBox="1"/>
          <p:nvPr/>
        </p:nvSpPr>
        <p:spPr>
          <a:xfrm>
            <a:off x="813816" y="1207008"/>
            <a:ext cx="7955279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 Display"/>
              </a:rPr>
              <a:t>Continue paper and shadow operation.</a:t>
            </a:r>
          </a:p>
        </p:txBody>
      </p:sp>
      <p:sp>
        <p:nvSpPr>
          <p:cNvPr id="4" name="Text: Wolf is ready to improve how decisions are made: b"/>
          <p:cNvSpPr txBox="1"/>
          <p:nvPr/>
        </p:nvSpPr>
        <p:spPr>
          <a:xfrm>
            <a:off x="841248" y="2066543"/>
            <a:ext cx="7818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D7E1DE"/>
                </a:solidFill>
                <a:latin typeface="Aptos"/>
              </a:rPr>
              <a:t>Wolf is ready to improve how decisions are made: broad screening, explicit risk, consistent portfolio construction and an audit trail. It is not yet ready to promise alpha.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USE NOW"/>
          <p:cNvSpPr txBox="1"/>
          <p:nvPr/>
        </p:nvSpPr>
        <p:spPr>
          <a:xfrm>
            <a:off x="1005840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USE NOW</a:t>
            </a:r>
          </a:p>
        </p:txBody>
      </p:sp>
      <p:sp>
        <p:nvSpPr>
          <p:cNvPr id="7" name="Text: Ranking, diversification, adaptive risk and govern"/>
          <p:cNvSpPr txBox="1"/>
          <p:nvPr/>
        </p:nvSpPr>
        <p:spPr>
          <a:xfrm>
            <a:off x="1005840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Ranking, diversification, adaptive risk and governance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PROVE LIVE"/>
          <p:cNvSpPr txBox="1"/>
          <p:nvPr/>
        </p:nvSpPr>
        <p:spPr>
          <a:xfrm>
            <a:off x="4690872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PROVE LIVE</a:t>
            </a:r>
          </a:p>
        </p:txBody>
      </p:sp>
      <p:sp>
        <p:nvSpPr>
          <p:cNvPr id="10" name="Text: Net benchmark edge in a genuine future shadow reco"/>
          <p:cNvSpPr txBox="1"/>
          <p:nvPr/>
        </p:nvSpPr>
        <p:spPr>
          <a:xfrm>
            <a:off x="4690872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Net benchmark edge in a genuine future shadow record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1312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FIX NEXT"/>
          <p:cNvSpPr txBox="1"/>
          <p:nvPr/>
        </p:nvSpPr>
        <p:spPr>
          <a:xfrm>
            <a:off x="8375904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FIX NEXT</a:t>
            </a:r>
          </a:p>
        </p:txBody>
      </p:sp>
      <p:sp>
        <p:nvSpPr>
          <p:cNvPr id="13" name="Text: Observed PIT vintages and prospective model eviden"/>
          <p:cNvSpPr txBox="1"/>
          <p:nvPr/>
        </p:nvSpPr>
        <p:spPr>
          <a:xfrm>
            <a:off x="8375904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Observed PIT vintages and prospective model evidence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5623560"/>
            <a:ext cx="10716768" cy="530352"/>
          </a:xfrm>
          <a:prstGeom prst="rect">
            <a:avLst/>
          </a:prstGeom>
          <a:solidFill>
            <a:srgbClr val="0B6F56"/>
          </a:solidFill>
          <a:ln w="10160">
            <a:solidFill>
              <a:srgbClr val="0B6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Investment edge today: a better-controlled process"/>
          <p:cNvSpPr txBox="1"/>
          <p:nvPr/>
        </p:nvSpPr>
        <p:spPr>
          <a:xfrm>
            <a:off x="1051560" y="5788152"/>
            <a:ext cx="10287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Investment edge today: a better-controlled process.  Investment edge tomorrow: only what live evidence proves.</a:t>
            </a:r>
          </a:p>
        </p:txBody>
      </p:sp>
      <p:sp>
        <p:nvSpPr>
          <p:cNvPr id="16" name="Text: CONDITIONALLY_APPROVED  |  Governance 75/100  |  A"/>
          <p:cNvSpPr txBox="1"/>
          <p:nvPr/>
        </p:nvSpPr>
        <p:spPr>
          <a:xfrm>
            <a:off x="841248" y="6419088"/>
            <a:ext cx="1069848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9EAFAB"/>
                </a:solidFill>
                <a:latin typeface="Aptos"/>
              </a:rPr>
              <a:t>CONDITIONALLY_APPROVED  |  Governance 75/100  |  As of 19 August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Wolf Quant Model Investment Committee Briefing</dc:title>
  <dc:subject>Current recommendations, validation evidence and live pilot plan</dc:subject>
  <dc:creator>The Wolf Quant Model</dc:creator>
  <cp:keywords>equities, portfolio, validation, backtest, investment committee</cp:keywords>
  <dc:description>Generated from tracked repository evidence. Research use only.</dc:description>
  <cp:lastModifiedBy>Steve Canny</cp:lastModifiedBy>
  <cp:revision>1</cp:revision>
  <dcterms:created xsi:type="dcterms:W3CDTF">2026-08-19T15:34:32Z</dcterms:created>
  <dcterms:modified xsi:type="dcterms:W3CDTF">2026-08-19T15:34:32Z</dcterms:modified>
  <cp:category/>
</cp:coreProperties>
</file>