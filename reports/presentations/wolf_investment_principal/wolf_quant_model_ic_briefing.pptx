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CONTINUE PAPER AND SHADOW OPERATION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CONTINUE PAPER AND SHADOW OPERATION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89"/>
          <p:cNvSpPr txBox="1"/>
          <p:nvPr/>
        </p:nvSpPr>
        <p:spPr>
          <a:xfrm>
            <a:off x="3739896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89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75 / 100"/>
          <p:cNvSpPr txBox="1"/>
          <p:nvPr/>
        </p:nvSpPr>
        <p:spPr>
          <a:xfrm>
            <a:off x="6501384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75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9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19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19 August 2026; research through 19 Aug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19 August 2026; research through 19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Continue paper and shadow operation. Do not alloca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Continue paper and shadow operation. Do not allocate live capital while validation components still fail.</a:t>
            </a:r>
          </a:p>
        </p:txBody>
      </p:sp>
      <p:sp>
        <p:nvSpPr>
          <p:cNvPr id="12" name="Text: What works today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What works today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Chronological VaR governance gate: Pass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Net-of-cost implementation controls: Warning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Hard portfolio constraints: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trai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trailed equal weight by 3.80% per year in this 60-month sample (p=0.250).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Checksummed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 / 10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 / 10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ML challengers cannot override governance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ML challengers cannot override governance</a:t>
            </a:r>
          </a:p>
        </p:txBody>
      </p:sp>
      <p:sp>
        <p:nvSpPr>
          <p:cNvPr id="44" name="Text: PPO, bandit, convex and supervised challengers rem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PPO, bandit, convex and supervised challengers remain research-only. Their legacy OOS results are diagnostics; the baseline remains at 100%.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DRL learned safely, but did not earn capit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DRL learned safely, but did not earn capital</a:t>
            </a:r>
          </a:p>
        </p:txBody>
      </p:sp>
      <p:sp>
        <p:nvSpPr>
          <p:cNvPr id="3" name="Text: Five real PPO seeds and two simpler challengers fa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Five real PPO seeds and two simpler challengers failed frozen validation.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Checksummed regional history, train-only bootstrap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Checksummed regional history, train-only bootstrap and validation-only selection</a:t>
            </a:r>
          </a:p>
        </p:txBody>
      </p:sp>
      <p:pic>
        <p:nvPicPr>
          <p:cNvPr id="8" name="Chart: drl_validation.png" descr="dr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17346"/>
            <a:ext cx="6400800" cy="33867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95160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348"/>
          <p:cNvSpPr txBox="1"/>
          <p:nvPr/>
        </p:nvSpPr>
        <p:spPr>
          <a:xfrm>
            <a:off x="7159752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348</a:t>
            </a:r>
          </a:p>
        </p:txBody>
      </p:sp>
      <p:sp>
        <p:nvSpPr>
          <p:cNvPr id="12" name="Text: regional history months"/>
          <p:cNvSpPr txBox="1"/>
          <p:nvPr/>
        </p:nvSpPr>
        <p:spPr>
          <a:xfrm>
            <a:off x="7159752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history months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54312" y="1335024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5431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68"/>
          <p:cNvSpPr txBox="1"/>
          <p:nvPr/>
        </p:nvSpPr>
        <p:spPr>
          <a:xfrm>
            <a:off x="9518904" y="1463040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268</a:t>
            </a:r>
          </a:p>
        </p:txBody>
      </p:sp>
      <p:sp>
        <p:nvSpPr>
          <p:cNvPr id="16" name="Text: training months"/>
          <p:cNvSpPr txBox="1"/>
          <p:nvPr/>
        </p:nvSpPr>
        <p:spPr>
          <a:xfrm>
            <a:off x="9518904" y="1865376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training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65"/>
          <p:cNvSpPr txBox="1"/>
          <p:nvPr/>
        </p:nvSpPr>
        <p:spPr>
          <a:xfrm>
            <a:off x="7159752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65</a:t>
            </a:r>
          </a:p>
        </p:txBody>
      </p:sp>
      <p:sp>
        <p:nvSpPr>
          <p:cNvPr id="20" name="Text: validation months"/>
          <p:cNvSpPr txBox="1"/>
          <p:nvPr/>
        </p:nvSpPr>
        <p:spPr>
          <a:xfrm>
            <a:off x="7159752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validation months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4312" y="2468880"/>
            <a:ext cx="214884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54312" y="2468880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12"/>
          <p:cNvSpPr txBox="1"/>
          <p:nvPr/>
        </p:nvSpPr>
        <p:spPr>
          <a:xfrm>
            <a:off x="9518904" y="2596896"/>
            <a:ext cx="189280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12</a:t>
            </a:r>
          </a:p>
        </p:txBody>
      </p:sp>
      <p:sp>
        <p:nvSpPr>
          <p:cNvPr id="24" name="Text: legacy OOS months"/>
          <p:cNvSpPr txBox="1"/>
          <p:nvPr/>
        </p:nvSpPr>
        <p:spPr>
          <a:xfrm>
            <a:off x="9518904" y="2999232"/>
            <a:ext cx="189280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legacy OOS months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95160" y="3703320"/>
            <a:ext cx="4681728" cy="114300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3703320"/>
            <a:ext cx="54864" cy="114300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Measured result"/>
          <p:cNvSpPr txBox="1"/>
          <p:nvPr/>
        </p:nvSpPr>
        <p:spPr>
          <a:xfrm>
            <a:off x="7196328" y="3849624"/>
            <a:ext cx="435254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Measured result</a:t>
            </a:r>
          </a:p>
        </p:txBody>
      </p:sp>
      <p:sp>
        <p:nvSpPr>
          <p:cNvPr id="28" name="Text: Best PPO validation information ratio was -0.50. 4"/>
          <p:cNvSpPr txBox="1"/>
          <p:nvPr/>
        </p:nvSpPr>
        <p:spPr>
          <a:xfrm>
            <a:off x="7196328" y="4224528"/>
            <a:ext cx="435254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Best PPO validation information ratio was -0.50. 4 contiguous train-only bootstrap environments per seed produced 0 constraint violations.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696712"/>
            <a:ext cx="11173968" cy="55778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696712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Governed decision: PPO receives 0%; the classical "/>
          <p:cNvSpPr txBox="1"/>
          <p:nvPr/>
        </p:nvSpPr>
        <p:spPr>
          <a:xfrm>
            <a:off x="704088" y="5788152"/>
            <a:ext cx="10844784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Governed decision: PPO receives 0%; the classical optimiser remains 100%. That is a successful safety decision, not a failed software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new supervised alpha research stack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new supervised alpha research stack</a:t>
            </a:r>
          </a:p>
        </p:txBody>
      </p:sp>
      <p:sp>
        <p:nvSpPr>
          <p:cNvPr id="3" name="Text: Benchmark-relative stock ranking across four inves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Benchmark-relative stock ranking across four investment horizons.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Supervised dataset, validation checkpoints and mo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Supervised dataset, validation checkpoints and model manifests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9844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,374"/>
          <p:cNvSpPr txBox="1"/>
          <p:nvPr/>
        </p:nvSpPr>
        <p:spPr>
          <a:xfrm>
            <a:off x="667512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1,374</a:t>
            </a:r>
          </a:p>
        </p:txBody>
      </p:sp>
      <p:sp>
        <p:nvSpPr>
          <p:cNvPr id="11" name="Text: research securities"/>
          <p:cNvSpPr txBox="1"/>
          <p:nvPr/>
        </p:nvSpPr>
        <p:spPr>
          <a:xfrm>
            <a:off x="667512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research securities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6"/>
          <p:cNvSpPr txBox="1"/>
          <p:nvPr/>
        </p:nvSpPr>
        <p:spPr>
          <a:xfrm>
            <a:off x="3483864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16</a:t>
            </a:r>
          </a:p>
        </p:txBody>
      </p:sp>
      <p:sp>
        <p:nvSpPr>
          <p:cNvPr id="15" name="Text: fixed candidate specifications"/>
          <p:cNvSpPr txBox="1"/>
          <p:nvPr/>
        </p:nvSpPr>
        <p:spPr>
          <a:xfrm>
            <a:off x="3483864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fixed candidate specifications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98448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4"/>
          <p:cNvSpPr txBox="1"/>
          <p:nvPr/>
        </p:nvSpPr>
        <p:spPr>
          <a:xfrm>
            <a:off x="6300216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</a:t>
            </a:r>
          </a:p>
        </p:txBody>
      </p:sp>
      <p:sp>
        <p:nvSpPr>
          <p:cNvPr id="19" name="Text: forecast horizons: 3/6/9/12m"/>
          <p:cNvSpPr txBox="1"/>
          <p:nvPr/>
        </p:nvSpPr>
        <p:spPr>
          <a:xfrm>
            <a:off x="6300216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forecast horizons: 3/6/9/12m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98448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98448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26464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live supervised blend"/>
          <p:cNvSpPr txBox="1"/>
          <p:nvPr/>
        </p:nvSpPr>
        <p:spPr>
          <a:xfrm>
            <a:off x="9116568" y="1828800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live supervised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542032"/>
            <a:ext cx="3502152" cy="8229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Evidence and targets"/>
          <p:cNvSpPr txBox="1"/>
          <p:nvPr/>
        </p:nvSpPr>
        <p:spPr>
          <a:xfrm>
            <a:off x="667512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Evidence and targets</a:t>
            </a:r>
          </a:p>
        </p:txBody>
      </p:sp>
      <p:sp>
        <p:nvSpPr>
          <p:cNvPr id="27" name="Bullet list"/>
          <p:cNvSpPr txBox="1"/>
          <p:nvPr/>
        </p:nvSpPr>
        <p:spPr>
          <a:xfrm>
            <a:off x="667512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88 monthly decision dates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67 numeric plus 4 categorical features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Returns measured versus regional and sector peers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PIT status remains reconstructed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542032"/>
            <a:ext cx="3502152" cy="8229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Model challengers"/>
          <p:cNvSpPr txBox="1"/>
          <p:nvPr/>
        </p:nvSpPr>
        <p:spPr>
          <a:xfrm>
            <a:off x="4434840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Model challengers</a:t>
            </a:r>
          </a:p>
        </p:txBody>
      </p:sp>
      <p:sp>
        <p:nvSpPr>
          <p:cNvPr id="31" name="Bullet list"/>
          <p:cNvSpPr txBox="1"/>
          <p:nvPr/>
        </p:nvSpPr>
        <p:spPr>
          <a:xfrm>
            <a:off x="4434840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OLS with train-only Fama-MacBeth screening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Ridge, Elastic Net and robust Huber regression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Random Forest, Extra Trees and histogram boosting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XGBoost return and learning-to-rank models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542032"/>
            <a:ext cx="3502152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542032"/>
            <a:ext cx="3502152" cy="822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Controls before prediction"/>
          <p:cNvSpPr txBox="1"/>
          <p:nvPr/>
        </p:nvSpPr>
        <p:spPr>
          <a:xfrm>
            <a:off x="8202168" y="2816352"/>
            <a:ext cx="31546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72127"/>
                </a:solidFill>
                <a:latin typeface="Aptos Display"/>
              </a:rPr>
              <a:t>Controls before prediction</a:t>
            </a:r>
          </a:p>
        </p:txBody>
      </p:sp>
      <p:sp>
        <p:nvSpPr>
          <p:cNvPr id="35" name="Bullet list"/>
          <p:cNvSpPr txBox="1"/>
          <p:nvPr/>
        </p:nvSpPr>
        <p:spPr>
          <a:xfrm>
            <a:off x="8202168" y="3273552"/>
            <a:ext cx="3136392" cy="175564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Expanding-window purged cross-validation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Preprocessing and screening fitted inside each fold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One linear, tree and ranker winner per ensemble</a:t>
            </a:r>
          </a:p>
          <a:p>
            <a:pPr>
              <a:lnSpc>
                <a:spcPct val="105000"/>
              </a:lnSpc>
              <a:spcAft>
                <a:spcPts val="800"/>
              </a:spcAft>
              <a:defRPr sz="1150">
                <a:solidFill>
                  <a:srgbClr val="172127"/>
                </a:solidFill>
                <a:latin typeface="Aptos"/>
              </a:defRPr>
            </a:pPr>
            <a:r>
              <a:t>• Explicit turnover, impact, FX and 25bp bank fee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596128"/>
            <a:ext cx="11173968" cy="6217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5596128"/>
            <a:ext cx="54864" cy="6217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Governance boundary: The supervised ensemble and e"/>
          <p:cNvSpPr txBox="1"/>
          <p:nvPr/>
        </p:nvSpPr>
        <p:spPr>
          <a:xfrm>
            <a:off x="704088" y="5687568"/>
            <a:ext cx="10844784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Governance boundary: The supervised ensemble and every DRL challenger remain research-only. The governed baseline still receives 100% of portfolio weight.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Supervised signal: encouraging, not yet proven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Supervised signal: encouraging, not yet proven</a:t>
            </a:r>
          </a:p>
        </p:txBody>
      </p:sp>
      <p:sp>
        <p:nvSpPr>
          <p:cNvPr id="3" name="Text: Positive ranking results do not overcome four inde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Positive ranking results do not overcome four independent 3-month samples.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rozen validation and already-inspected legacy OO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Frozen validation and already-inspected legacy OOS diagnostics</a:t>
            </a:r>
          </a:p>
        </p:txBody>
      </p:sp>
      <p:pic>
        <p:nvPicPr>
          <p:cNvPr id="8" name="Chart: supervised_rank_ic.png" descr="supervised_rank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0419"/>
            <a:ext cx="6400800" cy="3470313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6976872" y="1353312"/>
          <a:ext cx="4700014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281"/>
                <a:gridCol w="711556"/>
                <a:gridCol w="936258"/>
                <a:gridCol w="711556"/>
                <a:gridCol w="674105"/>
                <a:gridCol w="936258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Monthly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Independent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Rank IC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Sign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Net cohort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0.157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0.062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0.182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37.0%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76872" y="4315968"/>
            <a:ext cx="4700016" cy="107899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76872" y="4315968"/>
            <a:ext cx="54864" cy="107899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Primary 3-month diagnostic"/>
          <p:cNvSpPr txBox="1"/>
          <p:nvPr/>
        </p:nvSpPr>
        <p:spPr>
          <a:xfrm>
            <a:off x="7178040" y="4462272"/>
            <a:ext cx="4370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Primary 3-month diagnostic</a:t>
            </a:r>
          </a:p>
        </p:txBody>
      </p:sp>
      <p:sp>
        <p:nvSpPr>
          <p:cNvPr id="13" name="Text: Rank IC 0.157; mean net active cohort return 7.4%;"/>
          <p:cNvSpPr txBox="1"/>
          <p:nvPr/>
        </p:nvSpPr>
        <p:spPr>
          <a:xfrm>
            <a:off x="7178040" y="4837176"/>
            <a:ext cx="4370831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 IC 0.157; mean net active cohort return 7.4%; exact sign-test p=0.0625.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79008"/>
            <a:ext cx="11173968" cy="5120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79008"/>
            <a:ext cx="54864" cy="5120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is deliberately absent: No headline CAGR, Sha"/>
          <p:cNvSpPr txBox="1"/>
          <p:nvPr/>
        </p:nvSpPr>
        <p:spPr>
          <a:xfrm>
            <a:off x="704088" y="5870448"/>
            <a:ext cx="10844784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What is deliberately absent: No headline CAGR, Sharpe, t-statistic or confidence interval is reported until 12 independent prospective cohorts exist.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Uncertainty and implementation are now controlled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Uncertainty and implementation are now controlled</a:t>
            </a:r>
          </a:p>
        </p:txBody>
      </p:sp>
      <p:sp>
        <p:nvSpPr>
          <p:cNvPr id="3" name="Text: Coverage clears target; wide long-horizon bands 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Coverage clears target; wide long-horizon bands still signal low precision.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urged conformal calibration and cost-aware legac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Purged conformal calibration and cost-aware legacy OOS cohorts</a:t>
            </a:r>
          </a:p>
        </p:txBody>
      </p:sp>
      <p:pic>
        <p:nvPicPr>
          <p:cNvPr id="8" name="Chart: supervised_calibration.png" descr="supervised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71830"/>
            <a:ext cx="6446520" cy="3187490"/>
          </a:xfrm>
          <a:prstGeom prst="rect">
            <a:avLst/>
          </a:prstGeom>
        </p:spPr>
      </p:pic>
      <p:graphicFrame>
        <p:nvGraphicFramePr>
          <p:cNvPr id="9" name="Evidence table"/>
          <p:cNvGraphicFramePr>
            <a:graphicFrameLocks noGrp="1"/>
          </p:cNvGraphicFramePr>
          <p:nvPr/>
        </p:nvGraphicFramePr>
        <p:xfrm>
          <a:off x="7059168" y="1389888"/>
          <a:ext cx="4617717" cy="2670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721"/>
                <a:gridCol w="923543"/>
                <a:gridCol w="972151"/>
                <a:gridCol w="972151"/>
                <a:gridCol w="972151"/>
              </a:tblGrid>
              <a:tr h="534009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Horizon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Turnover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 drag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90% cover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Band width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0.54x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94.6%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93.4%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83%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09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9m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0.35x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0.42%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91.9%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34012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N/A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90.5%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59168" y="4325112"/>
            <a:ext cx="4617720" cy="11338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59168" y="4325112"/>
            <a:ext cx="54864" cy="11338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Implementation result"/>
          <p:cNvSpPr txBox="1"/>
          <p:nvPr/>
        </p:nvSpPr>
        <p:spPr>
          <a:xfrm>
            <a:off x="7260336" y="4471416"/>
            <a:ext cx="428853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Implementation result</a:t>
            </a:r>
          </a:p>
        </p:txBody>
      </p:sp>
      <p:sp>
        <p:nvSpPr>
          <p:cNvPr id="13" name="Text: Recurring turnover is 0.54x, 0.47x and 0.35x at 3/"/>
          <p:cNvSpPr txBox="1"/>
          <p:nvPr/>
        </p:nvSpPr>
        <p:spPr>
          <a:xfrm>
            <a:off x="7260336" y="4846320"/>
            <a:ext cx="4288536" cy="49377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Recurring turnover is 0.54x, 0.47x and 0.35x at 3/6/9 months. The 12-month record has no recurring rebalance, so it remains unestimable.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760720"/>
            <a:ext cx="11173968" cy="530352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60720"/>
            <a:ext cx="54864" cy="530352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Interpretation: Calibration is fixed; precision is"/>
          <p:cNvSpPr txBox="1"/>
          <p:nvPr/>
        </p:nvSpPr>
        <p:spPr>
          <a:xfrm>
            <a:off x="704088" y="5852159"/>
            <a:ext cx="10844784" cy="365759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Interpretation: Calibration is fixed; precision is not. A 117% average 12-month band is a warning against confident long-horizon stock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ecommendations: target portfolio versus research 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Recommendations: target portfolio versus research challengers</a:t>
            </a:r>
          </a:p>
        </p:txBody>
      </p:sp>
      <p:sp>
        <p:nvSpPr>
          <p:cNvPr id="3" name="Text: Only the governed CVaR target is actionable; chal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Only the governed CVaR target is actionable; challenger names remain shadow evidence.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solved portfolio, regional-alpha target and sup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Resolved portfolio, regional-alpha target and supervised 3-month rankings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20"/>
          <p:cNvSpPr txBox="1"/>
          <p:nvPr/>
        </p:nvSpPr>
        <p:spPr>
          <a:xfrm>
            <a:off x="667512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1" name="Text: governed target equities"/>
          <p:cNvSpPr txBox="1"/>
          <p:nvPr/>
        </p:nvSpPr>
        <p:spPr>
          <a:xfrm>
            <a:off x="667512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governed target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"/>
          <p:cNvSpPr txBox="1"/>
          <p:nvPr/>
        </p:nvSpPr>
        <p:spPr>
          <a:xfrm>
            <a:off x="3483864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15" name="Text: regional challenger equities"/>
          <p:cNvSpPr txBox="1"/>
          <p:nvPr/>
        </p:nvSpPr>
        <p:spPr>
          <a:xfrm>
            <a:off x="3483864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regional challenger equities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280160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9 / 20"/>
          <p:cNvSpPr txBox="1"/>
          <p:nvPr/>
        </p:nvSpPr>
        <p:spPr>
          <a:xfrm>
            <a:off x="6300216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9 / 20</a:t>
            </a:r>
          </a:p>
        </p:txBody>
      </p:sp>
      <p:sp>
        <p:nvSpPr>
          <p:cNvPr id="19" name="Text: names shared by both"/>
          <p:cNvSpPr txBox="1"/>
          <p:nvPr/>
        </p:nvSpPr>
        <p:spPr>
          <a:xfrm>
            <a:off x="6300216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names shared by both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280160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280160"/>
            <a:ext cx="50292" cy="932688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0%"/>
          <p:cNvSpPr txBox="1"/>
          <p:nvPr/>
        </p:nvSpPr>
        <p:spPr>
          <a:xfrm>
            <a:off x="9116568" y="1408176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0%</a:t>
            </a:r>
          </a:p>
        </p:txBody>
      </p:sp>
      <p:sp>
        <p:nvSpPr>
          <p:cNvPr id="23" name="Text: supervised live blend"/>
          <p:cNvSpPr txBox="1"/>
          <p:nvPr/>
        </p:nvSpPr>
        <p:spPr>
          <a:xfrm>
            <a:off x="9116568" y="1810512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supervised live blend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459736"/>
            <a:ext cx="50292" cy="111556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Governed-only names"/>
          <p:cNvSpPr txBox="1"/>
          <p:nvPr/>
        </p:nvSpPr>
        <p:spPr>
          <a:xfrm>
            <a:off x="667512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Governed-only names</a:t>
            </a:r>
          </a:p>
        </p:txBody>
      </p:sp>
      <p:sp>
        <p:nvSpPr>
          <p:cNvPr id="27" name="Text: 000001.SHE, 000538.SHE, 002352.SHE, 0823.HK, 60181"/>
          <p:cNvSpPr txBox="1"/>
          <p:nvPr/>
        </p:nvSpPr>
        <p:spPr>
          <a:xfrm>
            <a:off x="667512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000001.SHE, 000538.SHE, 002352.SHE, 0823.HK, 601816.SHG, ELE.MC, EN.PA, ESSITY-B.ST, HIG.US, SEB-A.ST, SHELL.AS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0248" y="2459736"/>
            <a:ext cx="50292" cy="111556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Shared core"/>
          <p:cNvSpPr txBox="1"/>
          <p:nvPr/>
        </p:nvSpPr>
        <p:spPr>
          <a:xfrm>
            <a:off x="4434840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Shared core</a:t>
            </a:r>
          </a:p>
        </p:txBody>
      </p:sp>
      <p:sp>
        <p:nvSpPr>
          <p:cNvPr id="31" name="Text: 000333.SHE, 600036.SHG, AD.AS, ALV.XETRA, CA.PA, H"/>
          <p:cNvSpPr txBox="1"/>
          <p:nvPr/>
        </p:nvSpPr>
        <p:spPr>
          <a:xfrm>
            <a:off x="4434840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000333.SHE, 600036.SHG, AD.AS, ALV.XETRA, CA.PA, HEN3.XETRA, IMB.LSE, NOVN.SW, ORA.PA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37576" y="2459736"/>
            <a:ext cx="3502152" cy="111556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37576" y="2459736"/>
            <a:ext cx="50292" cy="111556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Regional-only names"/>
          <p:cNvSpPr txBox="1"/>
          <p:nvPr/>
        </p:nvSpPr>
        <p:spPr>
          <a:xfrm>
            <a:off x="8202168" y="2596896"/>
            <a:ext cx="310896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72127"/>
                </a:solidFill>
                <a:latin typeface="Aptos Display"/>
              </a:rPr>
              <a:t>Regional-only names</a:t>
            </a:r>
          </a:p>
        </p:txBody>
      </p:sp>
      <p:sp>
        <p:nvSpPr>
          <p:cNvPr id="35" name="Text: 002415.SHE, 600406.SHG, CVX.US, DG.PA, DHL.XETRA, "/>
          <p:cNvSpPr txBox="1"/>
          <p:nvPr/>
        </p:nvSpPr>
        <p:spPr>
          <a:xfrm>
            <a:off x="8202168" y="2907792"/>
            <a:ext cx="3154680" cy="521207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>
                <a:solidFill>
                  <a:srgbClr val="647078"/>
                </a:solidFill>
                <a:latin typeface="Aptos"/>
              </a:rPr>
              <a:t>002415.SHE, 600406.SHG, CVX.US, DG.PA, DHL.XETRA, GILD.US, LOW.US, PGR.US, PUB.PA, SHEL.LSE, T.US</a:t>
            </a:r>
          </a:p>
        </p:txBody>
      </p:sp>
      <p:sp>
        <p:nvSpPr>
          <p:cNvPr id="36" name="Text: Highest supervised 3-month research rank in each r"/>
          <p:cNvSpPr txBox="1"/>
          <p:nvPr/>
        </p:nvSpPr>
        <p:spPr>
          <a:xfrm>
            <a:off x="530352" y="3785615"/>
            <a:ext cx="7498079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72127"/>
                </a:solidFill>
                <a:latin typeface="Aptos Display"/>
              </a:rPr>
              <a:t>Highest supervised 3-month research rank in each region</a:t>
            </a:r>
          </a:p>
        </p:txBody>
      </p:sp>
      <p:graphicFrame>
        <p:nvGraphicFramePr>
          <p:cNvPr id="37" name="Evidence table"/>
          <p:cNvGraphicFramePr>
            <a:graphicFrameLocks noGrp="1"/>
          </p:cNvGraphicFramePr>
          <p:nvPr/>
        </p:nvGraphicFramePr>
        <p:xfrm>
          <a:off x="502920" y="4142232"/>
          <a:ext cx="1117396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139"/>
                <a:gridCol w="2900113"/>
                <a:gridCol w="1364759"/>
                <a:gridCol w="2132436"/>
                <a:gridCol w="1364759"/>
                <a:gridCol w="1364759"/>
              </a:tblGrid>
              <a:tr h="241662"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Score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Cost-adj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Q05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Q95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NA9.XETRA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SESG.PA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0354.HK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99.4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000009.SHE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85.5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2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GEN.LSE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241668"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HPQ.US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100.0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8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: Research watchlist only. These are not buy orders;"/>
          <p:cNvSpPr txBox="1"/>
          <p:nvPr/>
        </p:nvSpPr>
        <p:spPr>
          <a:xfrm>
            <a:off x="530352" y="6053328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Research watchlist only. These are not buy orders; uncertainty bands are wide and the deployment gate is closed.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Public identifiers, macro vintages and China/HK vo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Public identifiers, macro vintages and China/HK volume improved; historical membership remains the main gap.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aggregate PIT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aggregate PIT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263,048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263,048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48,577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48,577</a:t>
            </a:r>
          </a:p>
        </p:txBody>
      </p:sp>
      <p:sp>
        <p:nvSpPr>
          <p:cNvPr id="23" name="Text: current FIGI mappings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current FIGI mappings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32,321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8,494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Free-data checkpoint and publication boundary: yfi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Free-data checkpoint and publication boundary: yfinance volume: 5,142 China/HK names; AKShare: 12,188,157 bars across 3,374 names; FRED/ALFRED: 21 series; OpenBB: 7 benchmark checks; SEC: blocked_or_unavailable. OpenFIGI is a current snapshot, not historical membership. Only aggregate counts and checksums are published.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maximum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maximum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equity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000001.SHE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Ping An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002352.SHE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S.F. Holding Co.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0823.HK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Link Real Estate Investment 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Carrefour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ELE.MC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Endesa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Bouygues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HIG.US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Hartford Financial Services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IMB.LSE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Imperial Brands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SEB-A.ST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Skandinaviska Enskilda Banken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equities at no more than 5.0%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0% cash reserve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EU ex-DACH 40%; Consumer Staples 25%. Cash is excl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EU ex-DACH 40%; Consumer Staples 25%. Cash is excluded from equity exposure caps.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452120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-9.4%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-6.7%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regional_benchmark_relative_cost_aware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-15.3%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5212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-12.1%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408.1m; net PnL is $222.1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$408.1m; net PnL is $222.1m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11.2%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1.08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-15.2%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66.3%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11887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11887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97864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97864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08 and drawdown was 15.2%, bette"/>
          <p:cNvSpPr txBox="1"/>
          <p:nvPr/>
        </p:nvSpPr>
        <p:spPr>
          <a:xfrm>
            <a:off x="8503920" y="194767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1.08 and drawdown was 15.2%,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4.97% versus Wolf at 11.17%"/>
          <p:cNvSpPr txBox="1"/>
          <p:nvPr/>
        </p:nvSpPr>
        <p:spPr>
          <a:xfrm>
            <a:off x="8503920" y="341071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14.97% versus Wolf at 11.17%.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978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978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1.38%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4.00%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-3.94%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2.88%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0.212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Wolf regional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-0.01%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1.67%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-46.4%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$7.0bn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-31.8%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$2.7m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-10.2%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$403.1k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-35.8%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$2.5bn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$2.3bn.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holdout passes; approval stays conditional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holdout passes; approval stays conditional</a:t>
            </a:r>
          </a:p>
        </p:txBody>
      </p:sp>
      <p:sp>
        <p:nvSpPr>
          <p:cNvPr id="3" name="Text: Blocked development CV controls coverage without h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Blocked development CV controls coverage without hiding PIT and alpha limits.</a:t>
            </a:r>
          </a:p>
        </p:txBody>
      </p:sp>
      <p:sp>
        <p:nvSpPr>
          <p:cNvPr id="4" name="Text: 1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1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6190"/>
                <a:gridCol w="624904"/>
                <a:gridCol w="999847"/>
                <a:gridCol w="863504"/>
                <a:gridCol w="863504"/>
                <a:gridCol w="852142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0.316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Warning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28/1773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0.024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0.343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Fail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29/709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0.252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0.140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7/709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0.973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0.708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716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716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Chronological holdout gate: Pass (15 / 15)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Chronological holdout gate: Pass (15 / 15)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3 blocked development fold(s) selected a 1.000x scale and 1.20x buffer for 10 day after a breach. Overall rows remain diagnostics; the configured holdout is the gate. It is reconstructed evidence, not a pristine future shadow period.</a:t>
            </a:r>
          </a:p>
        </p:txBody>
      </p:sp>
      <p:sp>
        <p:nvSpPr>
          <p:cNvPr id="15" name="Text: Overall 75/100  |  4 pass  |  3 warnings  |  1 fai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75/100  |  4 pass  |  3 warnings  |  1 fail  |  0 critical failures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2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0.83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0.83%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01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1.01x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102412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10241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3.80% per year in this 60-month sample (p=0.250).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2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2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22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89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89-month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full PDF, plain-la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full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Continue paper and shadow operation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Continue paper and shadow operation.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spective model evide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prospective model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75/100  |  A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75/100  |  As of 19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2026-08-19T16:37:40Z</dcterms:created>
  <dcterms:modified xsi:type="dcterms:W3CDTF">2026-08-19T16:37:40Z</dcterms:modified>
  <cp:category/>
</cp:coreProperties>
</file>