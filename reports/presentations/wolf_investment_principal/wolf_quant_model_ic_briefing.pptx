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73152" cy="5074920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WOLF QUANT MODEL"/>
          <p:cNvSpPr txBox="1"/>
          <p:nvPr/>
        </p:nvSpPr>
        <p:spPr>
          <a:xfrm>
            <a:off x="822960" y="585216"/>
            <a:ext cx="5120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D7BF"/>
                </a:solidFill>
                <a:latin typeface="Aptos"/>
              </a:rPr>
              <a:t>WOLF QUANT MODEL</a:t>
            </a:r>
          </a:p>
        </p:txBody>
      </p:sp>
      <p:sp>
        <p:nvSpPr>
          <p:cNvPr id="4" name="Text: Investment committee&#10;briefing"/>
          <p:cNvSpPr txBox="1"/>
          <p:nvPr/>
        </p:nvSpPr>
        <p:spPr>
          <a:xfrm>
            <a:off x="804672" y="1078992"/>
            <a:ext cx="685800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Investment committee
briefing</a:t>
            </a:r>
          </a:p>
        </p:txBody>
      </p:sp>
      <p:sp>
        <p:nvSpPr>
          <p:cNvPr id="5" name="Text: A disciplined global-equity decision system with p"/>
          <p:cNvSpPr txBox="1"/>
          <p:nvPr/>
        </p:nvSpPr>
        <p:spPr>
          <a:xfrm>
            <a:off x="832104" y="2487168"/>
            <a:ext cx="67665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7E1DE"/>
                </a:solidFill>
                <a:latin typeface="Aptos"/>
              </a:rPr>
              <a:t>A disciplined global-equity decision system with portfolio constraints, stress testing and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" y="3493008"/>
            <a:ext cx="5074920" cy="512064"/>
          </a:xfrm>
          <a:prstGeom prst="rect">
            <a:avLst/>
          </a:prstGeom>
          <a:solidFill>
            <a:srgbClr val="0B6F56"/>
          </a:solidFill>
          <a:ln w="10160">
            <a:solidFill>
              <a:srgbClr val="0B6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DECISION: APPROVE A CONTROLLED LIVE PILOT"/>
          <p:cNvSpPr txBox="1"/>
          <p:nvPr/>
        </p:nvSpPr>
        <p:spPr>
          <a:xfrm>
            <a:off x="1024128" y="3639312"/>
            <a:ext cx="470916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DECISION: APPROVE A CONTROLLED LIVE PILOT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" y="4800600"/>
            <a:ext cx="2487168" cy="960120"/>
          </a:xfrm>
          <a:prstGeom prst="rect">
            <a:avLst/>
          </a:prstGeom>
          <a:solidFill>
            <a:srgbClr val="243037"/>
          </a:solidFill>
          <a:ln w="10160">
            <a:solidFill>
              <a:srgbClr val="435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55,504"/>
          <p:cNvSpPr txBox="1"/>
          <p:nvPr/>
        </p:nvSpPr>
        <p:spPr>
          <a:xfrm>
            <a:off x="978408" y="4956048"/>
            <a:ext cx="21488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55,504</a:t>
            </a:r>
          </a:p>
        </p:txBody>
      </p:sp>
      <p:sp>
        <p:nvSpPr>
          <p:cNvPr id="10" name="Text: active equities"/>
          <p:cNvSpPr txBox="1"/>
          <p:nvPr/>
        </p:nvSpPr>
        <p:spPr>
          <a:xfrm>
            <a:off x="978408" y="5340096"/>
            <a:ext cx="21488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9C8C3"/>
                </a:solidFill>
                <a:latin typeface="Aptos"/>
              </a:rPr>
              <a:t>active equities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3592" y="4800600"/>
            <a:ext cx="2487168" cy="960120"/>
          </a:xfrm>
          <a:prstGeom prst="rect">
            <a:avLst/>
          </a:prstGeom>
          <a:solidFill>
            <a:srgbClr val="243037"/>
          </a:solidFill>
          <a:ln w="10160">
            <a:solidFill>
              <a:srgbClr val="435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60"/>
          <p:cNvSpPr txBox="1"/>
          <p:nvPr/>
        </p:nvSpPr>
        <p:spPr>
          <a:xfrm>
            <a:off x="3739896" y="4956048"/>
            <a:ext cx="21488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60</a:t>
            </a:r>
          </a:p>
        </p:txBody>
      </p:sp>
      <p:sp>
        <p:nvSpPr>
          <p:cNvPr id="13" name="Text: monthly decisions"/>
          <p:cNvSpPr txBox="1"/>
          <p:nvPr/>
        </p:nvSpPr>
        <p:spPr>
          <a:xfrm>
            <a:off x="3739896" y="5340096"/>
            <a:ext cx="21488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9C8C3"/>
                </a:solidFill>
                <a:latin typeface="Aptos"/>
              </a:rPr>
              <a:t>monthly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4800600"/>
            <a:ext cx="2487168" cy="960120"/>
          </a:xfrm>
          <a:prstGeom prst="rect">
            <a:avLst/>
          </a:prstGeom>
          <a:solidFill>
            <a:srgbClr val="243037"/>
          </a:solidFill>
          <a:ln w="10160">
            <a:solidFill>
              <a:srgbClr val="435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87.5 / 100"/>
          <p:cNvSpPr txBox="1"/>
          <p:nvPr/>
        </p:nvSpPr>
        <p:spPr>
          <a:xfrm>
            <a:off x="6501384" y="4956048"/>
            <a:ext cx="21488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87.5 / 100</a:t>
            </a:r>
          </a:p>
        </p:txBody>
      </p:sp>
      <p:sp>
        <p:nvSpPr>
          <p:cNvPr id="16" name="Text: governance score"/>
          <p:cNvSpPr txBox="1"/>
          <p:nvPr/>
        </p:nvSpPr>
        <p:spPr>
          <a:xfrm>
            <a:off x="6501384" y="5340096"/>
            <a:ext cx="21488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9C8C3"/>
                </a:solidFill>
                <a:latin typeface="Aptos"/>
              </a:rPr>
              <a:t>governance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16568" y="4800600"/>
            <a:ext cx="2487168" cy="960120"/>
          </a:xfrm>
          <a:prstGeom prst="rect">
            <a:avLst/>
          </a:prstGeom>
          <a:solidFill>
            <a:srgbClr val="243037"/>
          </a:solidFill>
          <a:ln w="10160">
            <a:solidFill>
              <a:srgbClr val="435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0"/>
          <p:cNvSpPr txBox="1"/>
          <p:nvPr/>
        </p:nvSpPr>
        <p:spPr>
          <a:xfrm>
            <a:off x="9262872" y="4956048"/>
            <a:ext cx="21488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0</a:t>
            </a:r>
          </a:p>
        </p:txBody>
      </p:sp>
      <p:sp>
        <p:nvSpPr>
          <p:cNvPr id="19" name="Text: hard breaches"/>
          <p:cNvSpPr txBox="1"/>
          <p:nvPr/>
        </p:nvSpPr>
        <p:spPr>
          <a:xfrm>
            <a:off x="9262872" y="5340096"/>
            <a:ext cx="21488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9C8C3"/>
                </a:solidFill>
                <a:latin typeface="Aptos"/>
              </a:rPr>
              <a:t>hard breaches</a:t>
            </a:r>
          </a:p>
        </p:txBody>
      </p:sp>
      <p:sp>
        <p:nvSpPr>
          <p:cNvPr id="20" name="Text: As of 17 August 2026  |  CONDITIONALLY_APPROVED  |"/>
          <p:cNvSpPr txBox="1"/>
          <p:nvPr/>
        </p:nvSpPr>
        <p:spPr>
          <a:xfrm>
            <a:off x="832104" y="6245352"/>
            <a:ext cx="105156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EAFAB"/>
                </a:solidFill>
                <a:latin typeface="Aptos"/>
              </a:rPr>
              <a:t>As of 17 August 2026  |  CONDITIONALLY_APPROVED  |  Research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The decision in one page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The decision in one page</a:t>
            </a:r>
          </a:p>
        </p:txBody>
      </p:sp>
      <p:sp>
        <p:nvSpPr>
          <p:cNvPr id="3" name="Text: The controls improved materially; the alpha claim 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The controls improved materially; the alpha claim did not.</a:t>
            </a:r>
          </a:p>
        </p:txBody>
      </p:sp>
      <p:sp>
        <p:nvSpPr>
          <p:cNvPr id="4" name="Text: 02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02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Validation 13 August 2026; research through 17 Aug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Validation 13 August 2026; research through 17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07592"/>
            <a:ext cx="5394960" cy="1078992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54864" cy="1078992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Recommendation"/>
          <p:cNvSpPr txBox="1"/>
          <p:nvPr/>
        </p:nvSpPr>
        <p:spPr>
          <a:xfrm>
            <a:off x="704088" y="1453895"/>
            <a:ext cx="506577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Recommendation</a:t>
            </a:r>
          </a:p>
        </p:txBody>
      </p:sp>
      <p:sp>
        <p:nvSpPr>
          <p:cNvPr id="11" name="Text: Approve a small, human-supervised live pilot. Do n"/>
          <p:cNvSpPr txBox="1"/>
          <p:nvPr/>
        </p:nvSpPr>
        <p:spPr>
          <a:xfrm>
            <a:off x="704088" y="1828800"/>
            <a:ext cx="5065776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Approve a small, human-supervised live pilot. Do not authorize unattended or full-scale deployment yet.</a:t>
            </a:r>
          </a:p>
        </p:txBody>
      </p:sp>
      <p:sp>
        <p:nvSpPr>
          <p:cNvPr id="12" name="Text: Why it earns a pilot"/>
          <p:cNvSpPr txBox="1"/>
          <p:nvPr/>
        </p:nvSpPr>
        <p:spPr>
          <a:xfrm>
            <a:off x="530352" y="2660904"/>
            <a:ext cx="502920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127"/>
                </a:solidFill>
                <a:latin typeface="Aptos Display"/>
              </a:rPr>
              <a:t>Why it earns a pilot</a:t>
            </a:r>
          </a:p>
        </p:txBody>
      </p:sp>
      <p:sp>
        <p:nvSpPr>
          <p:cNvPr id="13" name="Bullet list"/>
          <p:cNvSpPr txBox="1"/>
          <p:nvPr/>
        </p:nvSpPr>
        <p:spPr>
          <a:xfrm>
            <a:off x="530352" y="3054096"/>
            <a:ext cx="5285232" cy="239572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450">
                <a:solidFill>
                  <a:srgbClr val="172127"/>
                </a:solidFill>
                <a:latin typeface="Aptos"/>
              </a:defRPr>
            </a:pPr>
            <a:r>
              <a:t>• Repeatable screening across six equity regions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50">
                <a:solidFill>
                  <a:srgbClr val="172127"/>
                </a:solidFill>
                <a:latin typeface="Aptos"/>
              </a:defRPr>
            </a:pPr>
            <a:r>
              <a:t>• Adaptive VaR passes overall and chronological holdout tests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50">
                <a:solidFill>
                  <a:srgbClr val="172127"/>
                </a:solidFill>
                <a:latin typeface="Aptos"/>
              </a:defRPr>
            </a:pPr>
            <a:r>
              <a:t>• Turnover and modeled cost drag now meet both 1.5 targets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50">
                <a:solidFill>
                  <a:srgbClr val="172127"/>
                </a:solidFill>
                <a:latin typeface="Aptos"/>
              </a:defRPr>
            </a:pPr>
            <a:r>
              <a:t>• Zero hard breaches with auditable forecasts and trades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307592"/>
            <a:ext cx="5440680" cy="1078992"/>
          </a:xfrm>
          <a:prstGeom prst="rect">
            <a:avLst/>
          </a:prstGeom>
          <a:solidFill>
            <a:srgbClr val="F8EAEA"/>
          </a:solidFill>
          <a:ln w="10160">
            <a:solidFill>
              <a:srgbClr val="F8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307592"/>
            <a:ext cx="54864" cy="1078992"/>
          </a:xfrm>
          <a:prstGeom prst="rect">
            <a:avLst/>
          </a:prstGeom>
          <a:solidFill>
            <a:srgbClr val="BB4A4A"/>
          </a:solidFill>
          <a:ln w="10160">
            <a:solidFill>
              <a:srgbClr val="BB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What still blocks full deployment"/>
          <p:cNvSpPr txBox="1"/>
          <p:nvPr/>
        </p:nvSpPr>
        <p:spPr>
          <a:xfrm>
            <a:off x="6437376" y="1453895"/>
            <a:ext cx="511149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What still blocks full deployment</a:t>
            </a:r>
          </a:p>
        </p:txBody>
      </p:sp>
      <p:sp>
        <p:nvSpPr>
          <p:cNvPr id="17" name="Text: Observed PIT evidence is incomplete, and Wolf trai"/>
          <p:cNvSpPr txBox="1"/>
          <p:nvPr/>
        </p:nvSpPr>
        <p:spPr>
          <a:xfrm>
            <a:off x="6437376" y="1828800"/>
            <a:ext cx="5111496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Observed PIT evidence is incomplete, and Wolf trailed equal weight by 2.43% per year in this 60-month sample (p=0.550).</a:t>
            </a:r>
          </a:p>
        </p:txBody>
      </p:sp>
      <p:graphicFrame>
        <p:nvGraphicFramePr>
          <p:cNvPr id="18" name="Evidence table"/>
          <p:cNvGraphicFramePr>
            <a:graphicFrameLocks noGrp="1"/>
          </p:cNvGraphicFramePr>
          <p:nvPr/>
        </p:nvGraphicFramePr>
        <p:xfrm>
          <a:off x="6236208" y="2660904"/>
          <a:ext cx="5440679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73"/>
                <a:gridCol w="1612053"/>
                <a:gridCol w="1612053"/>
              </a:tblGrid>
              <a:tr h="38535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 area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Process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Strong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Use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Risk backtest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15 / 15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Cost controls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Both targets met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Hard constraints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 breaches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PIT evidence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7.5 / 15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Improve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8535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Deployable alpha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Not established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Do not claim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30352" y="5650992"/>
            <a:ext cx="11146536" cy="594360"/>
          </a:xfrm>
          <a:prstGeom prst="rect">
            <a:avLst/>
          </a:prstGeom>
          <a:solidFill>
            <a:srgbClr val="E9F1F6"/>
          </a:solidFill>
          <a:ln w="10160">
            <a:solidFill>
              <a:srgbClr val="E9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5650992"/>
            <a:ext cx="54864" cy="594360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Approval means: Pilot capital, pre-trade review, m"/>
          <p:cNvSpPr txBox="1"/>
          <p:nvPr/>
        </p:nvSpPr>
        <p:spPr>
          <a:xfrm>
            <a:off x="731519" y="5742431"/>
            <a:ext cx="10817352" cy="4297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Approval means: Pilot capital, pre-trade review, monthly risk reporting and explicit stop conditions. It does not mean automatic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What the model actually does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What the model actually does</a:t>
            </a:r>
          </a:p>
        </p:txBody>
      </p:sp>
      <p:sp>
        <p:nvSpPr>
          <p:cNvPr id="3" name="Text: A monthly decision pipeline with risk controls at 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A monthly decision pipeline with risk controls at the end.</a:t>
            </a:r>
          </a:p>
        </p:txBody>
      </p:sp>
      <p:sp>
        <p:nvSpPr>
          <p:cNvPr id="4" name="Text: 03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03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Repository pipeline stages and current resolved ou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Repository pipeline stages and current resolved outputs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65376"/>
            <a:ext cx="1581912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65376"/>
            <a:ext cx="1581912" cy="10972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1  OBSERVE"/>
          <p:cNvSpPr txBox="1"/>
          <p:nvPr/>
        </p:nvSpPr>
        <p:spPr>
          <a:xfrm>
            <a:off x="630936" y="2185416"/>
            <a:ext cx="13258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127"/>
                </a:solidFill>
                <a:latin typeface="Aptos Display"/>
              </a:rPr>
              <a:t>1  OBSERVE</a:t>
            </a:r>
          </a:p>
        </p:txBody>
      </p:sp>
      <p:sp>
        <p:nvSpPr>
          <p:cNvPr id="11" name="Text: Prices, filings, macro and portfolio"/>
          <p:cNvSpPr txBox="1"/>
          <p:nvPr/>
        </p:nvSpPr>
        <p:spPr>
          <a:xfrm>
            <a:off x="630936" y="2679192"/>
            <a:ext cx="132588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Prices, filings, macro and portfolio</a:t>
            </a:r>
          </a:p>
        </p:txBody>
      </p:sp>
      <p:sp>
        <p:nvSpPr>
          <p:cNvPr id="12" name="Chevron 11"/>
          <p:cNvSpPr/>
          <p:nvPr/>
        </p:nvSpPr>
        <p:spPr>
          <a:xfrm>
            <a:off x="2130552" y="2551176"/>
            <a:ext cx="219456" cy="530352"/>
          </a:xfrm>
          <a:prstGeom prst="chevron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39" y="1865376"/>
            <a:ext cx="1581912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39" y="1865376"/>
            <a:ext cx="1581912" cy="10972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2  FEATURE"/>
          <p:cNvSpPr txBox="1"/>
          <p:nvPr/>
        </p:nvSpPr>
        <p:spPr>
          <a:xfrm>
            <a:off x="2505456" y="2185416"/>
            <a:ext cx="13258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127"/>
                </a:solidFill>
                <a:latin typeface="Aptos Display"/>
              </a:rPr>
              <a:t>2  FEATURE</a:t>
            </a:r>
          </a:p>
        </p:txBody>
      </p:sp>
      <p:sp>
        <p:nvSpPr>
          <p:cNvPr id="16" name="Text: Point-in-time quality, value and risk signals"/>
          <p:cNvSpPr txBox="1"/>
          <p:nvPr/>
        </p:nvSpPr>
        <p:spPr>
          <a:xfrm>
            <a:off x="2505456" y="2679192"/>
            <a:ext cx="132588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Point-in-time quality, value and risk signals</a:t>
            </a:r>
          </a:p>
        </p:txBody>
      </p:sp>
      <p:sp>
        <p:nvSpPr>
          <p:cNvPr id="17" name="Chevron 16"/>
          <p:cNvSpPr/>
          <p:nvPr/>
        </p:nvSpPr>
        <p:spPr>
          <a:xfrm>
            <a:off x="4005072" y="2551176"/>
            <a:ext cx="219456" cy="530352"/>
          </a:xfrm>
          <a:prstGeom prst="chevron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865376"/>
            <a:ext cx="1581912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865376"/>
            <a:ext cx="1581912" cy="10972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3  FORECAST"/>
          <p:cNvSpPr txBox="1"/>
          <p:nvPr/>
        </p:nvSpPr>
        <p:spPr>
          <a:xfrm>
            <a:off x="4379975" y="2185416"/>
            <a:ext cx="13258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127"/>
                </a:solidFill>
                <a:latin typeface="Aptos Display"/>
              </a:rPr>
              <a:t>3  FORECAST</a:t>
            </a:r>
          </a:p>
        </p:txBody>
      </p:sp>
      <p:sp>
        <p:nvSpPr>
          <p:cNvPr id="21" name="Text: 3, 6, 9 and 12 month distributions"/>
          <p:cNvSpPr txBox="1"/>
          <p:nvPr/>
        </p:nvSpPr>
        <p:spPr>
          <a:xfrm>
            <a:off x="4379975" y="2679192"/>
            <a:ext cx="132588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3, 6, 9 and 12 month distributions</a:t>
            </a:r>
          </a:p>
        </p:txBody>
      </p:sp>
      <p:sp>
        <p:nvSpPr>
          <p:cNvPr id="22" name="Chevron 21"/>
          <p:cNvSpPr/>
          <p:nvPr/>
        </p:nvSpPr>
        <p:spPr>
          <a:xfrm>
            <a:off x="5879592" y="2551176"/>
            <a:ext cx="219456" cy="530352"/>
          </a:xfrm>
          <a:prstGeom prst="chevron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79" y="1865376"/>
            <a:ext cx="1581912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865376"/>
            <a:ext cx="1581912" cy="10972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  COMPARE"/>
          <p:cNvSpPr txBox="1"/>
          <p:nvPr/>
        </p:nvSpPr>
        <p:spPr>
          <a:xfrm>
            <a:off x="6254495" y="2185416"/>
            <a:ext cx="13258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127"/>
                </a:solidFill>
                <a:latin typeface="Aptos Display"/>
              </a:rPr>
              <a:t>4  COMPARE</a:t>
            </a:r>
          </a:p>
        </p:txBody>
      </p:sp>
      <p:sp>
        <p:nvSpPr>
          <p:cNvPr id="26" name="Text: Portfolio-aware, clean-sheet and LLM branches"/>
          <p:cNvSpPr txBox="1"/>
          <p:nvPr/>
        </p:nvSpPr>
        <p:spPr>
          <a:xfrm>
            <a:off x="6254495" y="2679192"/>
            <a:ext cx="132588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Portfolio-aware, clean-sheet and LLM branches</a:t>
            </a:r>
          </a:p>
        </p:txBody>
      </p:sp>
      <p:sp>
        <p:nvSpPr>
          <p:cNvPr id="27" name="Chevron 26"/>
          <p:cNvSpPr/>
          <p:nvPr/>
        </p:nvSpPr>
        <p:spPr>
          <a:xfrm>
            <a:off x="7754111" y="2551176"/>
            <a:ext cx="219456" cy="530352"/>
          </a:xfrm>
          <a:prstGeom prst="chevron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1865376"/>
            <a:ext cx="1581912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1865376"/>
            <a:ext cx="1581912" cy="10972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5  CONSTRAIN"/>
          <p:cNvSpPr txBox="1"/>
          <p:nvPr/>
        </p:nvSpPr>
        <p:spPr>
          <a:xfrm>
            <a:off x="8129016" y="2185416"/>
            <a:ext cx="13258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127"/>
                </a:solidFill>
                <a:latin typeface="Aptos Display"/>
              </a:rPr>
              <a:t>5  CONSTRAIN</a:t>
            </a:r>
          </a:p>
        </p:txBody>
      </p:sp>
      <p:sp>
        <p:nvSpPr>
          <p:cNvPr id="31" name="Text: CVaR, liquidity and concentration limits"/>
          <p:cNvSpPr txBox="1"/>
          <p:nvPr/>
        </p:nvSpPr>
        <p:spPr>
          <a:xfrm>
            <a:off x="8129016" y="2679192"/>
            <a:ext cx="132588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CVaR, liquidity and concentration limits</a:t>
            </a:r>
          </a:p>
        </p:txBody>
      </p:sp>
      <p:sp>
        <p:nvSpPr>
          <p:cNvPr id="32" name="Chevron 31"/>
          <p:cNvSpPr/>
          <p:nvPr/>
        </p:nvSpPr>
        <p:spPr>
          <a:xfrm>
            <a:off x="9628632" y="2551176"/>
            <a:ext cx="219456" cy="530352"/>
          </a:xfrm>
          <a:prstGeom prst="chevron">
            <a:avLst/>
          </a:prstGeom>
          <a:solidFill>
            <a:srgbClr val="D8E0DD"/>
          </a:solidFill>
          <a:ln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1865376"/>
            <a:ext cx="1581912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75520" y="1865376"/>
            <a:ext cx="1581912" cy="10972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6  GOVERN"/>
          <p:cNvSpPr txBox="1"/>
          <p:nvPr/>
        </p:nvSpPr>
        <p:spPr>
          <a:xfrm>
            <a:off x="10003536" y="2185416"/>
            <a:ext cx="13258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2127"/>
                </a:solidFill>
                <a:latin typeface="Aptos Display"/>
              </a:rPr>
              <a:t>6  GOVERN</a:t>
            </a:r>
          </a:p>
        </p:txBody>
      </p:sp>
      <p:sp>
        <p:nvSpPr>
          <p:cNvPr id="36" name="Text: Stress, validation and committee reporting"/>
          <p:cNvSpPr txBox="1"/>
          <p:nvPr/>
        </p:nvSpPr>
        <p:spPr>
          <a:xfrm>
            <a:off x="10003536" y="2679192"/>
            <a:ext cx="132588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Stress, validation and committee reporting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242816"/>
            <a:ext cx="5486400" cy="1042415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242816"/>
            <a:ext cx="54864" cy="1042415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The output is a decision package"/>
          <p:cNvSpPr txBox="1"/>
          <p:nvPr/>
        </p:nvSpPr>
        <p:spPr>
          <a:xfrm>
            <a:off x="704088" y="4389120"/>
            <a:ext cx="515721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The output is a decision package</a:t>
            </a:r>
          </a:p>
        </p:txBody>
      </p:sp>
      <p:sp>
        <p:nvSpPr>
          <p:cNvPr id="40" name="Text: Ranked equities, target weights, trade direction, "/>
          <p:cNvSpPr txBox="1"/>
          <p:nvPr/>
        </p:nvSpPr>
        <p:spPr>
          <a:xfrm>
            <a:off x="704088" y="4764024"/>
            <a:ext cx="5157216" cy="4023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Ranked equities, target weights, trade direction, exposure limits, risk tests, stress results and an approval status.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8" y="4242816"/>
            <a:ext cx="5440680" cy="1042415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4242816"/>
            <a:ext cx="54864" cy="1042415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ML challengers cannot override governance"/>
          <p:cNvSpPr txBox="1"/>
          <p:nvPr/>
        </p:nvSpPr>
        <p:spPr>
          <a:xfrm>
            <a:off x="6437376" y="4389120"/>
            <a:ext cx="511149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ML challengers cannot override governance</a:t>
            </a:r>
          </a:p>
        </p:txBody>
      </p:sp>
      <p:sp>
        <p:nvSpPr>
          <p:cNvPr id="44" name="Text: PPO, bandit, convex and supervised challengers rem"/>
          <p:cNvSpPr txBox="1"/>
          <p:nvPr/>
        </p:nvSpPr>
        <p:spPr>
          <a:xfrm>
            <a:off x="6437376" y="4764024"/>
            <a:ext cx="5111496" cy="4023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PPO, bandit, convex and supervised challengers remain research-only. Their legacy OOS results are diagnostics; the baseline remains at 100%.</a:t>
            </a:r>
          </a:p>
        </p:txBody>
      </p:sp>
      <p:sp>
        <p:nvSpPr>
          <p:cNvPr id="45" name="Text: Human review stays between model recommendation an"/>
          <p:cNvSpPr txBox="1"/>
          <p:nvPr/>
        </p:nvSpPr>
        <p:spPr>
          <a:xfrm>
            <a:off x="530352" y="5650992"/>
            <a:ext cx="1097280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B6F56"/>
                </a:solidFill>
                <a:latin typeface="Aptos Display"/>
              </a:rPr>
              <a:t>Human review stays between model recommendation and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The new supervised alpha research stack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The new supervised alpha research stack</a:t>
            </a:r>
          </a:p>
        </p:txBody>
      </p:sp>
      <p:sp>
        <p:nvSpPr>
          <p:cNvPr id="3" name="Text: Benchmark-relative stock ranking across four inves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Benchmark-relative stock ranking across four investment horizons.</a:t>
            </a:r>
          </a:p>
        </p:txBody>
      </p:sp>
      <p:sp>
        <p:nvSpPr>
          <p:cNvPr id="4" name="Text: 04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04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Supervised dataset, validation checkpoints and mod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Supervised dataset, validation checkpoints and model manifests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50292" cy="93268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1,374"/>
          <p:cNvSpPr txBox="1"/>
          <p:nvPr/>
        </p:nvSpPr>
        <p:spPr>
          <a:xfrm>
            <a:off x="667512" y="1426464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1,374</a:t>
            </a:r>
          </a:p>
        </p:txBody>
      </p:sp>
      <p:sp>
        <p:nvSpPr>
          <p:cNvPr id="11" name="Text: research securities"/>
          <p:cNvSpPr txBox="1"/>
          <p:nvPr/>
        </p:nvSpPr>
        <p:spPr>
          <a:xfrm>
            <a:off x="667512" y="1828800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research securities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298448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298448"/>
            <a:ext cx="50292" cy="93268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16"/>
          <p:cNvSpPr txBox="1"/>
          <p:nvPr/>
        </p:nvSpPr>
        <p:spPr>
          <a:xfrm>
            <a:off x="3483864" y="1426464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16</a:t>
            </a:r>
          </a:p>
        </p:txBody>
      </p:sp>
      <p:sp>
        <p:nvSpPr>
          <p:cNvPr id="15" name="Text: fixed candidate specifications"/>
          <p:cNvSpPr txBox="1"/>
          <p:nvPr/>
        </p:nvSpPr>
        <p:spPr>
          <a:xfrm>
            <a:off x="3483864" y="1828800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fixed candidate specifications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298448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298448"/>
            <a:ext cx="50292" cy="93268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4"/>
          <p:cNvSpPr txBox="1"/>
          <p:nvPr/>
        </p:nvSpPr>
        <p:spPr>
          <a:xfrm>
            <a:off x="6300216" y="1426464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4</a:t>
            </a:r>
          </a:p>
        </p:txBody>
      </p:sp>
      <p:sp>
        <p:nvSpPr>
          <p:cNvPr id="19" name="Text: forecast horizons: 3/6/9/12m"/>
          <p:cNvSpPr txBox="1"/>
          <p:nvPr/>
        </p:nvSpPr>
        <p:spPr>
          <a:xfrm>
            <a:off x="6300216" y="1828800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forecast horizons: 3/6/9/12m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1976" y="1298448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298448"/>
            <a:ext cx="50292" cy="932688"/>
          </a:xfrm>
          <a:prstGeom prst="rect">
            <a:avLst/>
          </a:prstGeom>
          <a:solidFill>
            <a:srgbClr val="BB4A4A"/>
          </a:solidFill>
          <a:ln w="10160">
            <a:solidFill>
              <a:srgbClr val="BB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0%"/>
          <p:cNvSpPr txBox="1"/>
          <p:nvPr/>
        </p:nvSpPr>
        <p:spPr>
          <a:xfrm>
            <a:off x="9116568" y="1426464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0%</a:t>
            </a:r>
          </a:p>
        </p:txBody>
      </p:sp>
      <p:sp>
        <p:nvSpPr>
          <p:cNvPr id="23" name="Text: live supervised blend"/>
          <p:cNvSpPr txBox="1"/>
          <p:nvPr/>
        </p:nvSpPr>
        <p:spPr>
          <a:xfrm>
            <a:off x="9116568" y="1828800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live supervised blend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542032"/>
            <a:ext cx="3502152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542032"/>
            <a:ext cx="3502152" cy="82296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Evidence and targets"/>
          <p:cNvSpPr txBox="1"/>
          <p:nvPr/>
        </p:nvSpPr>
        <p:spPr>
          <a:xfrm>
            <a:off x="667512" y="2816352"/>
            <a:ext cx="31546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127"/>
                </a:solidFill>
                <a:latin typeface="Aptos Display"/>
              </a:rPr>
              <a:t>Evidence and targets</a:t>
            </a:r>
          </a:p>
        </p:txBody>
      </p:sp>
      <p:sp>
        <p:nvSpPr>
          <p:cNvPr id="27" name="Bullet list"/>
          <p:cNvSpPr txBox="1"/>
          <p:nvPr/>
        </p:nvSpPr>
        <p:spPr>
          <a:xfrm>
            <a:off x="667512" y="3273552"/>
            <a:ext cx="3136392" cy="17556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88 monthly decision dates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67 numeric plus 4 categorical features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Returns measured versus regional and sector peers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PIT status remains reconstructed 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2542032"/>
            <a:ext cx="3502152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2542032"/>
            <a:ext cx="3502152" cy="82296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Model challengers"/>
          <p:cNvSpPr txBox="1"/>
          <p:nvPr/>
        </p:nvSpPr>
        <p:spPr>
          <a:xfrm>
            <a:off x="4434840" y="2816352"/>
            <a:ext cx="31546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127"/>
                </a:solidFill>
                <a:latin typeface="Aptos Display"/>
              </a:rPr>
              <a:t>Model challengers</a:t>
            </a:r>
          </a:p>
        </p:txBody>
      </p:sp>
      <p:sp>
        <p:nvSpPr>
          <p:cNvPr id="31" name="Bullet list"/>
          <p:cNvSpPr txBox="1"/>
          <p:nvPr/>
        </p:nvSpPr>
        <p:spPr>
          <a:xfrm>
            <a:off x="4434840" y="3273552"/>
            <a:ext cx="3136392" cy="17556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OLS with train-only Fama-MacBeth screening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Ridge, Elastic Net and robust Huber regression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Random Forest, Extra Trees and histogram boosting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XGBoost return and learning-to-rank models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7576" y="2542032"/>
            <a:ext cx="3502152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37576" y="2542032"/>
            <a:ext cx="3502152" cy="82296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Controls before prediction"/>
          <p:cNvSpPr txBox="1"/>
          <p:nvPr/>
        </p:nvSpPr>
        <p:spPr>
          <a:xfrm>
            <a:off x="8202168" y="2816352"/>
            <a:ext cx="31546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127"/>
                </a:solidFill>
                <a:latin typeface="Aptos Display"/>
              </a:rPr>
              <a:t>Controls before prediction</a:t>
            </a:r>
          </a:p>
        </p:txBody>
      </p:sp>
      <p:sp>
        <p:nvSpPr>
          <p:cNvPr id="35" name="Bullet list"/>
          <p:cNvSpPr txBox="1"/>
          <p:nvPr/>
        </p:nvSpPr>
        <p:spPr>
          <a:xfrm>
            <a:off x="8202168" y="3273552"/>
            <a:ext cx="3136392" cy="17556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Expanding-window purged cross-validation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Preprocessing and screening fitted inside each fold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One linear, tree and ranker winner per ensemble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150">
                <a:solidFill>
                  <a:srgbClr val="172127"/>
                </a:solidFill>
                <a:latin typeface="Aptos"/>
              </a:defRPr>
            </a:pPr>
            <a:r>
              <a:t>• Explicit turnover, impact, FX and 25bp bank fee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96128"/>
            <a:ext cx="11173968" cy="621792"/>
          </a:xfrm>
          <a:prstGeom prst="rect">
            <a:avLst/>
          </a:prstGeom>
          <a:solidFill>
            <a:srgbClr val="F8EAEA"/>
          </a:solidFill>
          <a:ln w="10160">
            <a:solidFill>
              <a:srgbClr val="F8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596128"/>
            <a:ext cx="54864" cy="621792"/>
          </a:xfrm>
          <a:prstGeom prst="rect">
            <a:avLst/>
          </a:prstGeom>
          <a:solidFill>
            <a:srgbClr val="BB4A4A"/>
          </a:solidFill>
          <a:ln w="10160">
            <a:solidFill>
              <a:srgbClr val="BB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Governance boundary: The supervised ensemble and e"/>
          <p:cNvSpPr txBox="1"/>
          <p:nvPr/>
        </p:nvSpPr>
        <p:spPr>
          <a:xfrm>
            <a:off x="704088" y="5687568"/>
            <a:ext cx="10844784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Governance boundary: The supervised ensemble and every DRL challenger remain research-only. The governed baseline still receives 100% of portfolio weight.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upervised signal: encouraging, not yet proven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Supervised signal: encouraging, not yet proven</a:t>
            </a:r>
          </a:p>
        </p:txBody>
      </p:sp>
      <p:sp>
        <p:nvSpPr>
          <p:cNvPr id="3" name="Text: Positive ranking results do not overcome four inde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Positive ranking results do not overcome four independent 3-month samples.</a:t>
            </a:r>
          </a:p>
        </p:txBody>
      </p:sp>
      <p:sp>
        <p:nvSpPr>
          <p:cNvPr id="4" name="Text: 05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05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Frozen validation and already-inspected legacy OOS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Frozen validation and already-inspected legacy OOS diagnostics</a:t>
            </a:r>
          </a:p>
        </p:txBody>
      </p:sp>
      <p:pic>
        <p:nvPicPr>
          <p:cNvPr id="8" name="Chart: supervised_rank_ic.png" descr="supervised_rank_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0419"/>
            <a:ext cx="6400800" cy="3470313"/>
          </a:xfrm>
          <a:prstGeom prst="rect">
            <a:avLst/>
          </a:prstGeom>
        </p:spPr>
      </p:pic>
      <p:graphicFrame>
        <p:nvGraphicFramePr>
          <p:cNvPr id="9" name="Evidence table"/>
          <p:cNvGraphicFramePr>
            <a:graphicFrameLocks noGrp="1"/>
          </p:cNvGraphicFramePr>
          <p:nvPr/>
        </p:nvGraphicFramePr>
        <p:xfrm>
          <a:off x="6976872" y="1353312"/>
          <a:ext cx="4700014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281"/>
                <a:gridCol w="711556"/>
                <a:gridCol w="936258"/>
                <a:gridCol w="711556"/>
                <a:gridCol w="674105"/>
                <a:gridCol w="936258"/>
              </a:tblGrid>
              <a:tr h="534009"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Horizon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Independent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 IC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Sign p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Net cohort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534009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3m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0.157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0.062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7.4%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534009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6m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0.182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0.250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14.2%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34009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0.226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0.500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24.8%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34012"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12m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0.253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0.500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37.0%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976872" y="4315968"/>
            <a:ext cx="4700016" cy="1078992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76872" y="4315968"/>
            <a:ext cx="54864" cy="1078992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Primary 3-month diagnostic"/>
          <p:cNvSpPr txBox="1"/>
          <p:nvPr/>
        </p:nvSpPr>
        <p:spPr>
          <a:xfrm>
            <a:off x="7178040" y="4462272"/>
            <a:ext cx="437083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Primary 3-month diagnostic</a:t>
            </a:r>
          </a:p>
        </p:txBody>
      </p:sp>
      <p:sp>
        <p:nvSpPr>
          <p:cNvPr id="13" name="Text: Rank IC 0.157; mean net active cohort return 7.4%;"/>
          <p:cNvSpPr txBox="1"/>
          <p:nvPr/>
        </p:nvSpPr>
        <p:spPr>
          <a:xfrm>
            <a:off x="7178040" y="4837176"/>
            <a:ext cx="4370831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Rank IC 0.157; mean net active cohort return 7.4%; exact sign-test p=0.0625.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779008"/>
            <a:ext cx="11173968" cy="512064"/>
          </a:xfrm>
          <a:prstGeom prst="rect">
            <a:avLst/>
          </a:prstGeom>
          <a:solidFill>
            <a:srgbClr val="E9F1F6"/>
          </a:solidFill>
          <a:ln w="10160">
            <a:solidFill>
              <a:srgbClr val="E9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779008"/>
            <a:ext cx="54864" cy="512064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What is deliberately absent: No headline CAGR, Sha"/>
          <p:cNvSpPr txBox="1"/>
          <p:nvPr/>
        </p:nvSpPr>
        <p:spPr>
          <a:xfrm>
            <a:off x="704088" y="5870448"/>
            <a:ext cx="10844784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What is deliberately absent: No headline CAGR, Sharpe, t-statistic or confidence interval is reported until 12 independent prospective cohorts exist.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Uncertainty and implementation are now controlled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Uncertainty and implementation are now controlled</a:t>
            </a:r>
          </a:p>
        </p:txBody>
      </p:sp>
      <p:sp>
        <p:nvSpPr>
          <p:cNvPr id="3" name="Text: Coverage clears target; wide long-horizon bands st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Coverage clears target; wide long-horizon bands still signal low precision.</a:t>
            </a:r>
          </a:p>
        </p:txBody>
      </p:sp>
      <p:sp>
        <p:nvSpPr>
          <p:cNvPr id="4" name="Text: 06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06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Purged conformal calibration and cost-aware legacy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Purged conformal calibration and cost-aware legacy OOS cohorts</a:t>
            </a:r>
          </a:p>
        </p:txBody>
      </p:sp>
      <p:pic>
        <p:nvPicPr>
          <p:cNvPr id="8" name="Chart: supervised_calibration.png" descr="supervised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1830"/>
            <a:ext cx="6446520" cy="3187490"/>
          </a:xfrm>
          <a:prstGeom prst="rect">
            <a:avLst/>
          </a:prstGeom>
        </p:spPr>
      </p:pic>
      <p:graphicFrame>
        <p:nvGraphicFramePr>
          <p:cNvPr id="9" name="Evidence table"/>
          <p:cNvGraphicFramePr>
            <a:graphicFrameLocks noGrp="1"/>
          </p:cNvGraphicFramePr>
          <p:nvPr/>
        </p:nvGraphicFramePr>
        <p:xfrm>
          <a:off x="7059168" y="1389888"/>
          <a:ext cx="4617717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721"/>
                <a:gridCol w="923543"/>
                <a:gridCol w="972151"/>
                <a:gridCol w="972151"/>
                <a:gridCol w="972151"/>
              </a:tblGrid>
              <a:tr h="534009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Horizon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Turnover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Cost drag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90% cover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Band width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534009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3m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0.54x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0.50%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94.6%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56%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534009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6m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0.47x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0.47%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93.4%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83%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534009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9m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0.35x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0.42%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91.9%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534012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12m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90.5%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117%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059168" y="4325112"/>
            <a:ext cx="4617720" cy="1133856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59168" y="4325112"/>
            <a:ext cx="54864" cy="1133856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Implementation result"/>
          <p:cNvSpPr txBox="1"/>
          <p:nvPr/>
        </p:nvSpPr>
        <p:spPr>
          <a:xfrm>
            <a:off x="7260336" y="4471416"/>
            <a:ext cx="428853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Implementation result</a:t>
            </a:r>
          </a:p>
        </p:txBody>
      </p:sp>
      <p:sp>
        <p:nvSpPr>
          <p:cNvPr id="13" name="Text: Recurring turnover is 0.54x, 0.47x and 0.35x at 3/"/>
          <p:cNvSpPr txBox="1"/>
          <p:nvPr/>
        </p:nvSpPr>
        <p:spPr>
          <a:xfrm>
            <a:off x="7260336" y="4846320"/>
            <a:ext cx="4288536" cy="4937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Recurring turnover is 0.54x, 0.47x and 0.35x at 3/6/9 months. The 12-month record has no recurring rebalance, so it remains unestimable.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760720"/>
            <a:ext cx="11173968" cy="530352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760720"/>
            <a:ext cx="54864" cy="530352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Interpretation: Calibration is fixed; precision is"/>
          <p:cNvSpPr txBox="1"/>
          <p:nvPr/>
        </p:nvSpPr>
        <p:spPr>
          <a:xfrm>
            <a:off x="704088" y="5852159"/>
            <a:ext cx="10844784" cy="365759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Interpretation: Calibration is fixed; precision is not. A 117% average 12-month band is a warning against confident long-horizon stock claims.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Recommendations: target portfolio versus research 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Recommendations: target portfolio versus research challengers</a:t>
            </a:r>
          </a:p>
        </p:txBody>
      </p:sp>
      <p:sp>
        <p:nvSpPr>
          <p:cNvPr id="3" name="Text: Only the governed CVaR target is actionable; chall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Only the governed CVaR target is actionable; challenger names remain shadow evidence.</a:t>
            </a:r>
          </a:p>
        </p:txBody>
      </p:sp>
      <p:sp>
        <p:nvSpPr>
          <p:cNvPr id="4" name="Text: 07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07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Resolved portfolio, regional-alpha target and supe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Resolved portfolio, regional-alpha target and supervised 3-month rankings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0292" cy="93268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20"/>
          <p:cNvSpPr txBox="1"/>
          <p:nvPr/>
        </p:nvSpPr>
        <p:spPr>
          <a:xfrm>
            <a:off x="667512" y="1408176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20</a:t>
            </a:r>
          </a:p>
        </p:txBody>
      </p:sp>
      <p:sp>
        <p:nvSpPr>
          <p:cNvPr id="11" name="Text: governed target equities"/>
          <p:cNvSpPr txBox="1"/>
          <p:nvPr/>
        </p:nvSpPr>
        <p:spPr>
          <a:xfrm>
            <a:off x="667512" y="1810512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governed target equities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280160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280160"/>
            <a:ext cx="50292" cy="93268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20"/>
          <p:cNvSpPr txBox="1"/>
          <p:nvPr/>
        </p:nvSpPr>
        <p:spPr>
          <a:xfrm>
            <a:off x="3483864" y="1408176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20</a:t>
            </a:r>
          </a:p>
        </p:txBody>
      </p:sp>
      <p:sp>
        <p:nvSpPr>
          <p:cNvPr id="15" name="Text: regional challenger equities"/>
          <p:cNvSpPr txBox="1"/>
          <p:nvPr/>
        </p:nvSpPr>
        <p:spPr>
          <a:xfrm>
            <a:off x="3483864" y="1810512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regional challenger equities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280160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280160"/>
            <a:ext cx="50292" cy="93268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8 / 20"/>
          <p:cNvSpPr txBox="1"/>
          <p:nvPr/>
        </p:nvSpPr>
        <p:spPr>
          <a:xfrm>
            <a:off x="6300216" y="1408176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8 / 20</a:t>
            </a:r>
          </a:p>
        </p:txBody>
      </p:sp>
      <p:sp>
        <p:nvSpPr>
          <p:cNvPr id="19" name="Text: names shared by both"/>
          <p:cNvSpPr txBox="1"/>
          <p:nvPr/>
        </p:nvSpPr>
        <p:spPr>
          <a:xfrm>
            <a:off x="6300216" y="1810512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names shared by both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1976" y="1280160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280160"/>
            <a:ext cx="50292" cy="932688"/>
          </a:xfrm>
          <a:prstGeom prst="rect">
            <a:avLst/>
          </a:prstGeom>
          <a:solidFill>
            <a:srgbClr val="BB4A4A"/>
          </a:solidFill>
          <a:ln w="10160">
            <a:solidFill>
              <a:srgbClr val="BB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0%"/>
          <p:cNvSpPr txBox="1"/>
          <p:nvPr/>
        </p:nvSpPr>
        <p:spPr>
          <a:xfrm>
            <a:off x="9116568" y="1408176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0%</a:t>
            </a:r>
          </a:p>
        </p:txBody>
      </p:sp>
      <p:sp>
        <p:nvSpPr>
          <p:cNvPr id="23" name="Text: supervised live blend"/>
          <p:cNvSpPr txBox="1"/>
          <p:nvPr/>
        </p:nvSpPr>
        <p:spPr>
          <a:xfrm>
            <a:off x="9116568" y="1810512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supervised live blend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59736"/>
            <a:ext cx="3502152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459736"/>
            <a:ext cx="50292" cy="111556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Governed-only names"/>
          <p:cNvSpPr txBox="1"/>
          <p:nvPr/>
        </p:nvSpPr>
        <p:spPr>
          <a:xfrm>
            <a:off x="667512" y="2596896"/>
            <a:ext cx="31089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127"/>
                </a:solidFill>
                <a:latin typeface="Aptos Display"/>
              </a:rPr>
              <a:t>Governed-only names</a:t>
            </a:r>
          </a:p>
        </p:txBody>
      </p:sp>
      <p:sp>
        <p:nvSpPr>
          <p:cNvPr id="27" name="Text: 000538.SHE, 0728.HK, 1113.HK, 3988.HK, 600018.SHG,"/>
          <p:cNvSpPr txBox="1"/>
          <p:nvPr/>
        </p:nvSpPr>
        <p:spPr>
          <a:xfrm>
            <a:off x="667512" y="2907792"/>
            <a:ext cx="3154680" cy="5212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647078"/>
                </a:solidFill>
                <a:latin typeface="Aptos"/>
              </a:rPr>
              <a:t>000538.SHE, 0728.HK, 1113.HK, 3988.HK, 600018.SHG, 601816.SHG, 601818.SHG, ELE.MC, ESSITY-B.ST, HIG.US, NOVN.SW, SHELL.AS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2459736"/>
            <a:ext cx="3502152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2459736"/>
            <a:ext cx="50292" cy="111556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Shared core"/>
          <p:cNvSpPr txBox="1"/>
          <p:nvPr/>
        </p:nvSpPr>
        <p:spPr>
          <a:xfrm>
            <a:off x="4434840" y="2596896"/>
            <a:ext cx="31089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127"/>
                </a:solidFill>
                <a:latin typeface="Aptos Display"/>
              </a:rPr>
              <a:t>Shared core</a:t>
            </a:r>
          </a:p>
        </p:txBody>
      </p:sp>
      <p:sp>
        <p:nvSpPr>
          <p:cNvPr id="31" name="Text: 000333.SHE, 600036.SHG, AD.AS, ALV.XETRA, CA.PA, H"/>
          <p:cNvSpPr txBox="1"/>
          <p:nvPr/>
        </p:nvSpPr>
        <p:spPr>
          <a:xfrm>
            <a:off x="4434840" y="2907792"/>
            <a:ext cx="3154680" cy="5212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647078"/>
                </a:solidFill>
                <a:latin typeface="Aptos"/>
              </a:rPr>
              <a:t>000333.SHE, 600036.SHG, AD.AS, ALV.XETRA, CA.PA, HEN3.XETRA, IMB.LSE, ORA.PA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7576" y="2459736"/>
            <a:ext cx="3502152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37576" y="2459736"/>
            <a:ext cx="50292" cy="1115568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Regional-only names"/>
          <p:cNvSpPr txBox="1"/>
          <p:nvPr/>
        </p:nvSpPr>
        <p:spPr>
          <a:xfrm>
            <a:off x="8202168" y="2596896"/>
            <a:ext cx="31089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127"/>
                </a:solidFill>
                <a:latin typeface="Aptos Display"/>
              </a:rPr>
              <a:t>Regional-only names</a:t>
            </a:r>
          </a:p>
        </p:txBody>
      </p:sp>
      <p:sp>
        <p:nvSpPr>
          <p:cNvPr id="35" name="Text: 002415.SHE, 600406.SHG, ABT.US, CVX.US, DG.PA, DHL"/>
          <p:cNvSpPr txBox="1"/>
          <p:nvPr/>
        </p:nvSpPr>
        <p:spPr>
          <a:xfrm>
            <a:off x="8202168" y="2907792"/>
            <a:ext cx="3154680" cy="52120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647078"/>
                </a:solidFill>
                <a:latin typeface="Aptos"/>
              </a:rPr>
              <a:t>002415.SHE, 600406.SHG, ABT.US, CVX.US, DG.PA, DHL.XETRA, GSK.LSE, LOW.US, NXT.LSE, PUB.PA, SHEL.LSE, T.US</a:t>
            </a:r>
          </a:p>
        </p:txBody>
      </p:sp>
      <p:sp>
        <p:nvSpPr>
          <p:cNvPr id="36" name="Text: Highest supervised 3-month research rank in each r"/>
          <p:cNvSpPr txBox="1"/>
          <p:nvPr/>
        </p:nvSpPr>
        <p:spPr>
          <a:xfrm>
            <a:off x="530352" y="3785615"/>
            <a:ext cx="749807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127"/>
                </a:solidFill>
                <a:latin typeface="Aptos Display"/>
              </a:rPr>
              <a:t>Highest supervised 3-month research rank in each region</a:t>
            </a:r>
          </a:p>
        </p:txBody>
      </p:sp>
      <p:graphicFrame>
        <p:nvGraphicFramePr>
          <p:cNvPr id="37" name="Evidence table"/>
          <p:cNvGraphicFramePr>
            <a:graphicFrameLocks noGrp="1"/>
          </p:cNvGraphicFramePr>
          <p:nvPr/>
        </p:nvGraphicFramePr>
        <p:xfrm>
          <a:off x="502920" y="4142232"/>
          <a:ext cx="1117396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139"/>
                <a:gridCol w="2900113"/>
                <a:gridCol w="1364759"/>
                <a:gridCol w="2132436"/>
                <a:gridCol w="1364759"/>
                <a:gridCol w="1364759"/>
              </a:tblGrid>
              <a:tr h="241662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Ticker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Score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Cost-adj alpha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Q05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Q95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NA9.XETRA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99.6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4.2%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-33%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41%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SESG.PA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EU ex-DACH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99.2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3.7%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-31%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41%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0354.HK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Hong Kong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99.4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4.5%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-32%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000009.SHE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Mainland China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85.5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2.9%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-31%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49%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241662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GEN.LSE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UK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100.0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4.9%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-32%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39%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241668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HPQ.US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US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100.0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3.6%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-30%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8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36%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: Research watchlist only. These are not buy orders;"/>
          <p:cNvSpPr txBox="1"/>
          <p:nvPr/>
        </p:nvSpPr>
        <p:spPr>
          <a:xfrm>
            <a:off x="530352" y="6053328"/>
            <a:ext cx="111099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BB4A4A"/>
                </a:solidFill>
                <a:latin typeface="Aptos"/>
              </a:rPr>
              <a:t>Research watchlist only. These are not buy orders; uncertainty bands are wide and the deployment gate is closed.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Evidence breadth and point-in-time progress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Evidence breadth and point-in-time progress</a:t>
            </a:r>
          </a:p>
        </p:txBody>
      </p:sp>
      <p:sp>
        <p:nvSpPr>
          <p:cNvPr id="3" name="Text: Bloomberg vintages expanded; survivorship-clean me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Bloomberg vintages expanded; survivorship-clean membership remains the main gap.</a:t>
            </a:r>
          </a:p>
        </p:txBody>
      </p:sp>
      <p:sp>
        <p:nvSpPr>
          <p:cNvPr id="4" name="Text: 08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08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Universe, walk-forward manifest and aggregate PIT 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Universe, walk-forward manifest and aggregate PIT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35024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50292" cy="93268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55,504"/>
          <p:cNvSpPr txBox="1"/>
          <p:nvPr/>
        </p:nvSpPr>
        <p:spPr>
          <a:xfrm>
            <a:off x="667512" y="1463040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55,504</a:t>
            </a:r>
          </a:p>
        </p:txBody>
      </p:sp>
      <p:sp>
        <p:nvSpPr>
          <p:cNvPr id="11" name="Text: active equities"/>
          <p:cNvSpPr txBox="1"/>
          <p:nvPr/>
        </p:nvSpPr>
        <p:spPr>
          <a:xfrm>
            <a:off x="667512" y="1865376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active equities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335024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335024"/>
            <a:ext cx="50292" cy="93268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1,409"/>
          <p:cNvSpPr txBox="1"/>
          <p:nvPr/>
        </p:nvSpPr>
        <p:spPr>
          <a:xfrm>
            <a:off x="3483864" y="1463040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1,409</a:t>
            </a:r>
          </a:p>
        </p:txBody>
      </p:sp>
      <p:sp>
        <p:nvSpPr>
          <p:cNvPr id="15" name="Text: walk-forward eligible"/>
          <p:cNvSpPr txBox="1"/>
          <p:nvPr/>
        </p:nvSpPr>
        <p:spPr>
          <a:xfrm>
            <a:off x="3483864" y="1865376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walk-forward eligible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335024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335024"/>
            <a:ext cx="50292" cy="93268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181,664"/>
          <p:cNvSpPr txBox="1"/>
          <p:nvPr/>
        </p:nvSpPr>
        <p:spPr>
          <a:xfrm>
            <a:off x="6300216" y="1463040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181,664</a:t>
            </a:r>
          </a:p>
        </p:txBody>
      </p:sp>
      <p:sp>
        <p:nvSpPr>
          <p:cNvPr id="19" name="Text: historical forecasts"/>
          <p:cNvSpPr txBox="1"/>
          <p:nvPr/>
        </p:nvSpPr>
        <p:spPr>
          <a:xfrm>
            <a:off x="6300216" y="1865376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historical forecasts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1976" y="1335024"/>
            <a:ext cx="2542032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335024"/>
            <a:ext cx="50292" cy="93268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25,240"/>
          <p:cNvSpPr txBox="1"/>
          <p:nvPr/>
        </p:nvSpPr>
        <p:spPr>
          <a:xfrm>
            <a:off x="9116568" y="1463040"/>
            <a:ext cx="22860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25,240</a:t>
            </a:r>
          </a:p>
        </p:txBody>
      </p:sp>
      <p:sp>
        <p:nvSpPr>
          <p:cNvPr id="23" name="Text: Bloomberg fundamental vintages"/>
          <p:cNvSpPr txBox="1"/>
          <p:nvPr/>
        </p:nvSpPr>
        <p:spPr>
          <a:xfrm>
            <a:off x="9116568" y="1865376"/>
            <a:ext cx="2286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Bloomberg fundamental vintages</a:t>
            </a:r>
          </a:p>
        </p:txBody>
      </p:sp>
      <p:graphicFrame>
        <p:nvGraphicFramePr>
          <p:cNvPr id="24" name="Evidence table"/>
          <p:cNvGraphicFramePr>
            <a:graphicFrameLocks noGrp="1"/>
          </p:cNvGraphicFramePr>
          <p:nvPr/>
        </p:nvGraphicFramePr>
        <p:xfrm>
          <a:off x="502920" y="2587752"/>
          <a:ext cx="5577837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432"/>
                <a:gridCol w="1042586"/>
                <a:gridCol w="1042586"/>
                <a:gridCol w="1303233"/>
              </a:tblGrid>
              <a:tr h="407561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Active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Master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Active share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21,603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38,792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55.7%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EU ex-DACH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2,436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5,088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47.9%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Hong Kong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3,504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4,130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84.8%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Mainland China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5,103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5,373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UK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3,932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6,664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59.0%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0756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US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18,926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52,523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36.0%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Evidence table"/>
          <p:cNvGraphicFramePr>
            <a:graphicFrameLocks noGrp="1"/>
          </p:cNvGraphicFramePr>
          <p:nvPr/>
        </p:nvGraphicFramePr>
        <p:xfrm>
          <a:off x="6336792" y="2587752"/>
          <a:ext cx="5340094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700"/>
                <a:gridCol w="1232329"/>
                <a:gridCol w="1489065"/>
              </a:tblGrid>
              <a:tr h="40756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PIT evidence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Coverage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Delisting events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59,183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Archived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Fundamentals with filing date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32,321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Mostly reconstructed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Observed acceptance times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Missing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Dated membership events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Missing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075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Inactive names with prices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Missing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0756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Names with historical volume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Missing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502920" y="5650992"/>
            <a:ext cx="11173968" cy="594360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650992"/>
            <a:ext cx="54864" cy="594360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Bloomberg checkpoint and publication boundary: 25,"/>
          <p:cNvSpPr txBox="1"/>
          <p:nvPr/>
        </p:nvSpPr>
        <p:spPr>
          <a:xfrm>
            <a:off x="704088" y="5742431"/>
            <a:ext cx="10844784" cy="4297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Bloomberg checkpoint and publication boundary: 25,240 fundamental, 694,246 market-cap and 151,659 corporate-action vintages are stored locally. Daily capacity paused the remaining snapshots at a durable checkpoint; only aggregate counts are published.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Equities to establish in the target portfolio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Equities to establish in the target portfolio</a:t>
            </a:r>
          </a:p>
        </p:txBody>
      </p:sp>
      <p:sp>
        <p:nvSpPr>
          <p:cNvPr id="3" name="Text: Model trade direction versus current holdings; wei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Model trade direction versus current holdings; weights are targets.</a:t>
            </a:r>
          </a:p>
        </p:txBody>
      </p:sp>
      <p:sp>
        <p:nvSpPr>
          <p:cNvPr id="4" name="Text: 09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09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Final portfolio weights and portfolio trade list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Final portfolio weights and portfolio trade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71016"/>
            <a:ext cx="2103120" cy="932688"/>
          </a:xfrm>
          <a:prstGeom prst="rect">
            <a:avLst/>
          </a:prstGeom>
          <a:solidFill>
            <a:srgbClr val="E8F4E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71016"/>
            <a:ext cx="50292" cy="93268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19"/>
          <p:cNvSpPr txBox="1"/>
          <p:nvPr/>
        </p:nvSpPr>
        <p:spPr>
          <a:xfrm>
            <a:off x="667512" y="1399031"/>
            <a:ext cx="1847087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19</a:t>
            </a:r>
          </a:p>
        </p:txBody>
      </p:sp>
      <p:sp>
        <p:nvSpPr>
          <p:cNvPr id="11" name="Text: buy actions"/>
          <p:cNvSpPr txBox="1"/>
          <p:nvPr/>
        </p:nvSpPr>
        <p:spPr>
          <a:xfrm>
            <a:off x="667512" y="1801367"/>
            <a:ext cx="1847087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buy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1271016"/>
            <a:ext cx="2103120" cy="932688"/>
          </a:xfrm>
          <a:prstGeom prst="rect">
            <a:avLst/>
          </a:prstGeom>
          <a:solidFill>
            <a:srgbClr val="FBF3D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61488" y="1271016"/>
            <a:ext cx="50292" cy="932688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1"/>
          <p:cNvSpPr txBox="1"/>
          <p:nvPr/>
        </p:nvSpPr>
        <p:spPr>
          <a:xfrm>
            <a:off x="2926080" y="1399031"/>
            <a:ext cx="1847087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1</a:t>
            </a:r>
          </a:p>
        </p:txBody>
      </p:sp>
      <p:sp>
        <p:nvSpPr>
          <p:cNvPr id="15" name="Text: reduce actions"/>
          <p:cNvSpPr txBox="1"/>
          <p:nvPr/>
        </p:nvSpPr>
        <p:spPr>
          <a:xfrm>
            <a:off x="2926080" y="1801367"/>
            <a:ext cx="1847087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reduce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1271016"/>
            <a:ext cx="21031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0056" y="1271016"/>
            <a:ext cx="50292" cy="93268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5.0%"/>
          <p:cNvSpPr txBox="1"/>
          <p:nvPr/>
        </p:nvSpPr>
        <p:spPr>
          <a:xfrm>
            <a:off x="5184648" y="1399031"/>
            <a:ext cx="1847087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5.0%</a:t>
            </a:r>
          </a:p>
        </p:txBody>
      </p:sp>
      <p:sp>
        <p:nvSpPr>
          <p:cNvPr id="19" name="Text: maximum name"/>
          <p:cNvSpPr txBox="1"/>
          <p:nvPr/>
        </p:nvSpPr>
        <p:spPr>
          <a:xfrm>
            <a:off x="5184648" y="1801367"/>
            <a:ext cx="1847087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maximum 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78624" y="1271016"/>
            <a:ext cx="210312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78624" y="1271016"/>
            <a:ext cx="50292" cy="932688"/>
          </a:xfrm>
          <a:prstGeom prst="rect">
            <a:avLst/>
          </a:prstGeom>
          <a:solidFill>
            <a:srgbClr val="2B7280"/>
          </a:solidFill>
          <a:ln w="10160">
            <a:solidFill>
              <a:srgbClr val="2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20"/>
          <p:cNvSpPr txBox="1"/>
          <p:nvPr/>
        </p:nvSpPr>
        <p:spPr>
          <a:xfrm>
            <a:off x="7443216" y="1399031"/>
            <a:ext cx="1847087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20</a:t>
            </a:r>
          </a:p>
        </p:txBody>
      </p:sp>
      <p:sp>
        <p:nvSpPr>
          <p:cNvPr id="23" name="Text: equity holdings"/>
          <p:cNvSpPr txBox="1"/>
          <p:nvPr/>
        </p:nvSpPr>
        <p:spPr>
          <a:xfrm>
            <a:off x="7443216" y="1801367"/>
            <a:ext cx="1847087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equity holdings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37192" y="1271016"/>
            <a:ext cx="2139696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37192" y="1271016"/>
            <a:ext cx="50292" cy="93268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6"/>
          <p:cNvSpPr txBox="1"/>
          <p:nvPr/>
        </p:nvSpPr>
        <p:spPr>
          <a:xfrm>
            <a:off x="9701784" y="1399031"/>
            <a:ext cx="1883663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6</a:t>
            </a:r>
          </a:p>
        </p:txBody>
      </p:sp>
      <p:sp>
        <p:nvSpPr>
          <p:cNvPr id="27" name="Text: equity regions"/>
          <p:cNvSpPr txBox="1"/>
          <p:nvPr/>
        </p:nvSpPr>
        <p:spPr>
          <a:xfrm>
            <a:off x="9701784" y="1801367"/>
            <a:ext cx="1883663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equity regions</a:t>
            </a:r>
          </a:p>
        </p:txBody>
      </p:sp>
      <p:graphicFrame>
        <p:nvGraphicFramePr>
          <p:cNvPr id="28" name="Evidence table"/>
          <p:cNvGraphicFramePr>
            <a:graphicFrameLocks noGrp="1"/>
          </p:cNvGraphicFramePr>
          <p:nvPr/>
        </p:nvGraphicFramePr>
        <p:xfrm>
          <a:off x="502920" y="2496312"/>
          <a:ext cx="53858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"/>
                <a:gridCol w="2065237"/>
                <a:gridCol w="1093361"/>
                <a:gridCol w="728907"/>
                <a:gridCol w="647917"/>
              </a:tblGrid>
              <a:tr h="309233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Ticker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Company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000333.SHE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Midea Group Co Ltd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Mainland China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000538.SHE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Yunnan Baiyao Group Co Ltd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Mainland China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0728.HK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China Telecom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Hong Kong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1113.HK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CK Asset Holdings Ltd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Hong Kong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3988.HK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Bank of China Ltd 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Hong Kong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600018.SHG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Shanghai International Port 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Mainland China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600036.SHG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China Merchants Bank Co Ltd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Mainland China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601816.SHG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Beijing-Shanghai High Speed R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Mainland China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601818.SHG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China Everbright Bank Co Ltd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Mainland China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8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AD.AS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Koninklijke Ahold Delhaize NV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EU ex-DACH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Evidence table"/>
          <p:cNvGraphicFramePr>
            <a:graphicFrameLocks noGrp="1"/>
          </p:cNvGraphicFramePr>
          <p:nvPr/>
        </p:nvGraphicFramePr>
        <p:xfrm>
          <a:off x="6135624" y="2496312"/>
          <a:ext cx="53858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"/>
                <a:gridCol w="2065237"/>
                <a:gridCol w="1093361"/>
                <a:gridCol w="728907"/>
                <a:gridCol w="647917"/>
              </a:tblGrid>
              <a:tr h="309233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Ticker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Company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ALV.XETRA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Allianz SE VNA O.N.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CA.PA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Carrefour SA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EU ex-DACH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ELE.MC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Endesa SA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EU ex-DACH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ESSITY-B.ST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Essity AB (publ)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EU ex-DACH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HEN3.XETRA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Henkel AG &amp; Co. KGaA vz. (Pre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HIG.US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Hartford Financial Services 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US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IMB.LSE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Imperial Brands PLC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UK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ORA.PA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Orange S.A.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EU ex-DACH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SHELL.AS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Shell PLC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EU ex-DACH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Buy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309238"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NOVN.SW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Novartis AG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DACH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Reduce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6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: Execution note: recalculate orders using live NAV,"/>
          <p:cNvSpPr txBox="1"/>
          <p:nvPr/>
        </p:nvSpPr>
        <p:spPr>
          <a:xfrm>
            <a:off x="530352" y="6108192"/>
            <a:ext cx="111099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BB4A4A"/>
                </a:solidFill>
                <a:latin typeface="Aptos"/>
              </a:rPr>
              <a:t>Execution note: recalculate orders using live NAV, FX, liquidity and prices. Manual review remains mandatory.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 deliberately diversified target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A deliberately diversified target</a:t>
            </a:r>
          </a:p>
        </p:txBody>
      </p:sp>
      <p:sp>
        <p:nvSpPr>
          <p:cNvPr id="3" name="Text: The portfolio uses equal name weights and explicit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The portfolio uses equal name weights and explicit exposure caps.</a:t>
            </a:r>
          </a:p>
        </p:txBody>
      </p:sp>
      <p:sp>
        <p:nvSpPr>
          <p:cNvPr id="4" name="Text: 10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10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Final portfolio weights and constraint report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Final portfolio weights and constraint report</a:t>
            </a:r>
          </a:p>
        </p:txBody>
      </p:sp>
      <p:pic>
        <p:nvPicPr>
          <p:cNvPr id="8" name="Chart: final_portfolio_exposures.png" descr="final_portfolio_expos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51188"/>
            <a:ext cx="7498079" cy="3513407"/>
          </a:xfrm>
          <a:prstGeom prst="rect">
            <a:avLst/>
          </a:prstGeom>
        </p:spPr>
      </p:pic>
      <p:sp>
        <p:nvSpPr>
          <p:cNvPr id="9" name="Text: Construction rules"/>
          <p:cNvSpPr txBox="1"/>
          <p:nvPr/>
        </p:nvSpPr>
        <p:spPr>
          <a:xfrm>
            <a:off x="8174736" y="1408176"/>
            <a:ext cx="33375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127"/>
                </a:solidFill>
                <a:latin typeface="Aptos Display"/>
              </a:rPr>
              <a:t>Construction rules</a:t>
            </a:r>
          </a:p>
        </p:txBody>
      </p:sp>
      <p:sp>
        <p:nvSpPr>
          <p:cNvPr id="10" name="Bullet list"/>
          <p:cNvSpPr txBox="1"/>
          <p:nvPr/>
        </p:nvSpPr>
        <p:spPr>
          <a:xfrm>
            <a:off x="8174736" y="1856231"/>
            <a:ext cx="3337560" cy="2414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20 equities at no more than 5.0% each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0% cash reserve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No sector above 25%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No country above 30%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No region or currency above 40%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One listing per issuer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4590288"/>
            <a:ext cx="3401568" cy="1078992"/>
          </a:xfrm>
          <a:prstGeom prst="rect">
            <a:avLst/>
          </a:prstGeom>
          <a:solidFill>
            <a:srgbClr val="E9F1F6"/>
          </a:solidFill>
          <a:ln w="10160">
            <a:solidFill>
              <a:srgbClr val="E9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74736" y="4590288"/>
            <a:ext cx="54864" cy="1078992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Largest allocations"/>
          <p:cNvSpPr txBox="1"/>
          <p:nvPr/>
        </p:nvSpPr>
        <p:spPr>
          <a:xfrm>
            <a:off x="8375904" y="4736592"/>
            <a:ext cx="3072384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Largest allocations</a:t>
            </a:r>
          </a:p>
        </p:txBody>
      </p:sp>
      <p:sp>
        <p:nvSpPr>
          <p:cNvPr id="14" name="Text: EU ex-DACH 30%; Consumer Staples 25%. Cash is excl"/>
          <p:cNvSpPr txBox="1"/>
          <p:nvPr/>
        </p:nvSpPr>
        <p:spPr>
          <a:xfrm>
            <a:off x="8375904" y="5111496"/>
            <a:ext cx="3072384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EU ex-DACH 30%; Consumer Staples 25%. Cash is excluded from equity exposure caps.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Why the CVaR portfolio is the baseline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Why the CVaR portfolio is the baseline</a:t>
            </a:r>
          </a:p>
        </p:txBody>
      </p:sp>
      <p:sp>
        <p:nvSpPr>
          <p:cNvPr id="3" name="Text: It balances expected return, downside loss and div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It balances expected return, downside loss and diversification.</a:t>
            </a:r>
          </a:p>
        </p:txBody>
      </p:sp>
      <p:sp>
        <p:nvSpPr>
          <p:cNvPr id="4" name="Text: 11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11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Portfolio optimisation summary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Portfolio optimisation summary</a:t>
            </a:r>
          </a:p>
        </p:txBody>
      </p:sp>
      <p:graphicFrame>
        <p:nvGraphicFramePr>
          <p:cNvPr id="8" name="Evidence table"/>
          <p:cNvGraphicFramePr>
            <a:graphicFrameLocks noGrp="1"/>
          </p:cNvGraphicFramePr>
          <p:nvPr/>
        </p:nvGraphicFramePr>
        <p:xfrm>
          <a:off x="502920" y="1389888"/>
          <a:ext cx="6720836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865"/>
                <a:gridCol w="1160432"/>
                <a:gridCol w="1160432"/>
                <a:gridCol w="918675"/>
                <a:gridCol w="1160432"/>
              </a:tblGrid>
              <a:tr h="508635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Portfolio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Volatility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CVaR 5%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Yield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Hard breaches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Equal weight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14.9%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-24.5%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3.4%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Score weighted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12.7%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-11.3%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4.7%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Risk parity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11.1%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-14.5%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3.3%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Mean variance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11.7%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-7.6%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4.6%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CVaR constrained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11.5%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-7.1%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4.6%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Dividend income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14.3%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-15.6%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5.5%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Regime aware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13.3%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-13.0%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5.2%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16368" y="1389888"/>
            <a:ext cx="4160520" cy="1170432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16368" y="1389888"/>
            <a:ext cx="54864" cy="1170432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Selected: CVaR constrained"/>
          <p:cNvSpPr txBox="1"/>
          <p:nvPr/>
        </p:nvSpPr>
        <p:spPr>
          <a:xfrm>
            <a:off x="7717536" y="1536192"/>
            <a:ext cx="3831335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Selected: CVaR constrained</a:t>
            </a:r>
          </a:p>
        </p:txBody>
      </p:sp>
      <p:sp>
        <p:nvSpPr>
          <p:cNvPr id="12" name="Text: The baseline keeps the forecast return target whil"/>
          <p:cNvSpPr txBox="1"/>
          <p:nvPr/>
        </p:nvSpPr>
        <p:spPr>
          <a:xfrm>
            <a:off x="7717536" y="1911095"/>
            <a:ext cx="3831335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The baseline keeps the forecast return target while reducing the average loss in the worst 5% of modeled outcomes to 5.10%.</a:t>
            </a:r>
          </a:p>
        </p:txBody>
      </p:sp>
      <p:sp>
        <p:nvSpPr>
          <p:cNvPr id="13" name="Text: Why this matters"/>
          <p:cNvSpPr txBox="1"/>
          <p:nvPr/>
        </p:nvSpPr>
        <p:spPr>
          <a:xfrm>
            <a:off x="7543800" y="2898648"/>
            <a:ext cx="384048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127"/>
                </a:solidFill>
                <a:latin typeface="Aptos Display"/>
              </a:rPr>
              <a:t>Why this matters</a:t>
            </a:r>
          </a:p>
        </p:txBody>
      </p:sp>
      <p:sp>
        <p:nvSpPr>
          <p:cNvPr id="14" name="Bullet list"/>
          <p:cNvSpPr txBox="1"/>
          <p:nvPr/>
        </p:nvSpPr>
        <p:spPr>
          <a:xfrm>
            <a:off x="7543800" y="3346704"/>
            <a:ext cx="3968496" cy="18745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Focuses on severe downside, not only average volatility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Maintains 20 effective holdings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Passes every hard portfolio constraint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Produces the final 20-name equal-weight 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8" y="5367528"/>
            <a:ext cx="4160520" cy="685800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16368" y="5367528"/>
            <a:ext cx="54864" cy="685800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Interpret carefully: Expected-return inputs are mo"/>
          <p:cNvSpPr txBox="1"/>
          <p:nvPr/>
        </p:nvSpPr>
        <p:spPr>
          <a:xfrm>
            <a:off x="7717536" y="5458968"/>
            <a:ext cx="3831335" cy="5212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Interpret carefully: Expected-return inputs are model forecasts, not guaranteed market returns. Live sizing still depends on trading capacity.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Five-year point-in-time proxy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Five-year point-in-time proxy</a:t>
            </a:r>
          </a:p>
        </p:txBody>
      </p:sp>
      <p:sp>
        <p:nvSpPr>
          <p:cNvPr id="3" name="Text: The relevant model evidence uses dated monthly dec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The relevant model evidence uses dated monthly decisions.</a:t>
            </a:r>
          </a:p>
        </p:txBody>
      </p:sp>
      <p:sp>
        <p:nvSpPr>
          <p:cNvPr id="4" name="Text: 12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12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60-month reconstructed point-in-time portfolio ret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60-month reconstructed point-in-time portfolio returns</a:t>
            </a:r>
          </a:p>
        </p:txBody>
      </p:sp>
      <p:pic>
        <p:nvPicPr>
          <p:cNvPr id="8" name="Chart: pit_capital_projection.png" descr="pit_capital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00662"/>
            <a:ext cx="7726679" cy="37058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39327" y="1380744"/>
            <a:ext cx="3337560" cy="1069848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39327" y="1380744"/>
            <a:ext cx="54864" cy="106984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Illustrative current-AUM result"/>
          <p:cNvSpPr txBox="1"/>
          <p:nvPr/>
        </p:nvSpPr>
        <p:spPr>
          <a:xfrm>
            <a:off x="8540496" y="1527048"/>
            <a:ext cx="300837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Illustrative current-AUM result</a:t>
            </a:r>
          </a:p>
        </p:txBody>
      </p:sp>
      <p:sp>
        <p:nvSpPr>
          <p:cNvPr id="12" name="Text: $186.1m grows to $347.2m; net PnL is $161.2m after"/>
          <p:cNvSpPr txBox="1"/>
          <p:nvPr/>
        </p:nvSpPr>
        <p:spPr>
          <a:xfrm>
            <a:off x="8540496" y="1901952"/>
            <a:ext cx="3008376" cy="4297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$186.1m grows to $347.2m; net PnL is $161.2m after trading costs and before the bank fee.</a:t>
            </a:r>
          </a:p>
        </p:txBody>
      </p:sp>
      <p:sp>
        <p:nvSpPr>
          <p:cNvPr id="13" name="Bullet list"/>
          <p:cNvSpPr txBox="1"/>
          <p:nvPr/>
        </p:nvSpPr>
        <p:spPr>
          <a:xfrm>
            <a:off x="8357616" y="2770632"/>
            <a:ext cx="3182112" cy="1783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Net annualised return: 13.3%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Sharpe ratio: 1.32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Maximum drawdown: -10.1%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400">
                <a:solidFill>
                  <a:srgbClr val="172127"/>
                </a:solidFill>
                <a:latin typeface="Aptos"/>
              </a:defRPr>
            </a:pPr>
            <a:r>
              <a:t>• Positive months: 63.3%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9327" y="4956048"/>
            <a:ext cx="3337560" cy="1188720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39327" y="4956048"/>
            <a:ext cx="54864" cy="1188720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Not a forecast"/>
          <p:cNvSpPr txBox="1"/>
          <p:nvPr/>
        </p:nvSpPr>
        <p:spPr>
          <a:xfrm>
            <a:off x="8540496" y="5102352"/>
            <a:ext cx="300837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Not a forecast</a:t>
            </a:r>
          </a:p>
        </p:txBody>
      </p:sp>
      <p:sp>
        <p:nvSpPr>
          <p:cNvPr id="17" name="Text: This scales the realised proxy path to current AUM"/>
          <p:cNvSpPr txBox="1"/>
          <p:nvPr/>
        </p:nvSpPr>
        <p:spPr>
          <a:xfrm>
            <a:off x="8540496" y="5477256"/>
            <a:ext cx="3008376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This scales the realised proxy path to current AUM. The 25 bp annual bank fee is modeled separately in the long replay.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What beat what over 60 months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What beat what over 60 months</a:t>
            </a:r>
          </a:p>
        </p:txBody>
      </p:sp>
      <p:sp>
        <p:nvSpPr>
          <p:cNvPr id="3" name="Text: Wolf delivered the best risk-adjusted result, not 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Wolf delivered the best risk-adjusted result, not the best return.</a:t>
            </a:r>
          </a:p>
        </p:txBody>
      </p:sp>
      <p:sp>
        <p:nvSpPr>
          <p:cNvPr id="4" name="Text: 13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13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Point-in-time strategy comparison, net of modeled 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Point-in-time strategy comparison, net of modeled costs</a:t>
            </a:r>
          </a:p>
        </p:txBody>
      </p:sp>
      <p:pic>
        <p:nvPicPr>
          <p:cNvPr id="8" name="Chart: pit_metric_comparison.png" descr="pit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1130"/>
            <a:ext cx="7589520" cy="27677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02752" y="1426464"/>
            <a:ext cx="3374136" cy="1197864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02752" y="1426464"/>
            <a:ext cx="54864" cy="1197864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The useful result"/>
          <p:cNvSpPr txBox="1"/>
          <p:nvPr/>
        </p:nvSpPr>
        <p:spPr>
          <a:xfrm>
            <a:off x="8503920" y="1572768"/>
            <a:ext cx="304495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The useful result</a:t>
            </a:r>
          </a:p>
        </p:txBody>
      </p:sp>
      <p:sp>
        <p:nvSpPr>
          <p:cNvPr id="12" name="Text: Wolf Sharpe was 1.32 and drawdown was 10.1%, bette"/>
          <p:cNvSpPr txBox="1"/>
          <p:nvPr/>
        </p:nvSpPr>
        <p:spPr>
          <a:xfrm>
            <a:off x="8503920" y="1947672"/>
            <a:ext cx="3044952" cy="5577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Wolf Sharpe was 1.32 and drawdown was 10.1%, better than both simple controls on these risk measures.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02752" y="2889504"/>
            <a:ext cx="3374136" cy="1197864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2889504"/>
            <a:ext cx="54864" cy="1197864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The honest result"/>
          <p:cNvSpPr txBox="1"/>
          <p:nvPr/>
        </p:nvSpPr>
        <p:spPr>
          <a:xfrm>
            <a:off x="8503920" y="3035808"/>
            <a:ext cx="304495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The honest result</a:t>
            </a:r>
          </a:p>
        </p:txBody>
      </p:sp>
      <p:sp>
        <p:nvSpPr>
          <p:cNvPr id="16" name="Text: Equal weight returned 15.72% versus Wolf at 13.29%"/>
          <p:cNvSpPr txBox="1"/>
          <p:nvPr/>
        </p:nvSpPr>
        <p:spPr>
          <a:xfrm>
            <a:off x="8503920" y="3410712"/>
            <a:ext cx="3044952" cy="5577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Equal weight returned 15.72% versus Wolf at 13.29%. The model did not beat the simplest control on net return.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2752" y="4352544"/>
            <a:ext cx="3374136" cy="1197864"/>
          </a:xfrm>
          <a:prstGeom prst="rect">
            <a:avLst/>
          </a:prstGeom>
          <a:solidFill>
            <a:srgbClr val="E9F1F6"/>
          </a:solidFill>
          <a:ln w="10160">
            <a:solidFill>
              <a:srgbClr val="E9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4352544"/>
            <a:ext cx="54864" cy="1197864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Investment interpretation"/>
          <p:cNvSpPr txBox="1"/>
          <p:nvPr/>
        </p:nvSpPr>
        <p:spPr>
          <a:xfrm>
            <a:off x="8503920" y="4498848"/>
            <a:ext cx="304495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Investment interpretation</a:t>
            </a:r>
          </a:p>
        </p:txBody>
      </p:sp>
      <p:sp>
        <p:nvSpPr>
          <p:cNvPr id="20" name="Text: The current case is risk control and decision disc"/>
          <p:cNvSpPr txBox="1"/>
          <p:nvPr/>
        </p:nvSpPr>
        <p:spPr>
          <a:xfrm>
            <a:off x="8503920" y="4873752"/>
            <a:ext cx="3044952" cy="5577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The current case is risk control and decision discipline. Incremental stock-selection alpha remains unproven.</a:t>
            </a:r>
          </a:p>
        </p:txBody>
      </p:sp>
      <p:sp>
        <p:nvSpPr>
          <p:cNvPr id="21" name="Text: Highest return: Equal weight  |  Highest Sharpe: W"/>
          <p:cNvSpPr txBox="1"/>
          <p:nvPr/>
        </p:nvSpPr>
        <p:spPr>
          <a:xfrm>
            <a:off x="530352" y="5934456"/>
            <a:ext cx="11064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B6F56"/>
                </a:solidFill>
                <a:latin typeface="Aptos"/>
              </a:rPr>
              <a:t>Highest return: Equal weight  |  Highest Sharpe: Wolf  |  Smallest drawdown: Wolf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lpha and overfitting: the hard truth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Alpha and overfitting: the hard truth</a:t>
            </a:r>
          </a:p>
        </p:txBody>
      </p:sp>
      <p:sp>
        <p:nvSpPr>
          <p:cNvPr id="3" name="Text: The retrospective strategies are interesting; depl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The retrospective strategies are interesting; deployable alpha is not established.</a:t>
            </a:r>
          </a:p>
        </p:txBody>
      </p:sp>
      <p:sp>
        <p:nvSpPr>
          <p:cNvPr id="4" name="Text: 14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14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Point-in-time alpha tests and CSCV overfitting dia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Point-in-time alpha tests and CSCV overfitting diagnostics</a:t>
            </a:r>
          </a:p>
        </p:txBody>
      </p:sp>
      <p:graphicFrame>
        <p:nvGraphicFramePr>
          <p:cNvPr id="8" name="Evidence table"/>
          <p:cNvGraphicFramePr>
            <a:graphicFrameLocks noGrp="1"/>
          </p:cNvGraphicFramePr>
          <p:nvPr/>
        </p:nvGraphicFramePr>
        <p:xfrm>
          <a:off x="502920" y="1389888"/>
          <a:ext cx="561441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673"/>
                <a:gridCol w="1058455"/>
                <a:gridCol w="966415"/>
                <a:gridCol w="782336"/>
                <a:gridCol w="1242534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Benchmark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Active return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Reg. alpha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p-value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Verdict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Cap weight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2.67%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5.33%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0.036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NOT SIGNIFICANT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Equal weight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-2.44%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4.38%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0.169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3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NOT SIGNIFICANT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Chart: overfitting_haircut.png" descr="overfitting_hair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348312"/>
            <a:ext cx="5330952" cy="305495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246120"/>
            <a:ext cx="5614416" cy="1234440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54864" cy="1234440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What the 50.3% fall means"/>
          <p:cNvSpPr txBox="1"/>
          <p:nvPr/>
        </p:nvSpPr>
        <p:spPr>
          <a:xfrm>
            <a:off x="704088" y="3392424"/>
            <a:ext cx="528523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What the 50.3% fall means</a:t>
            </a:r>
          </a:p>
        </p:txBody>
      </p:sp>
      <p:sp>
        <p:nvSpPr>
          <p:cNvPr id="13" name="Text: When history selects the apparent winner, its info"/>
          <p:cNvSpPr txBox="1"/>
          <p:nvPr/>
        </p:nvSpPr>
        <p:spPr>
          <a:xfrm>
            <a:off x="704088" y="3767328"/>
            <a:ext cx="5285231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When history selects the apparent winner, its information ratio typically drops from 1.32 in-sample to 0.66 out-of-sample. About half the apparent edge does not survive selection.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91456"/>
            <a:ext cx="11173968" cy="1097280"/>
          </a:xfrm>
          <a:prstGeom prst="rect">
            <a:avLst/>
          </a:prstGeom>
          <a:solidFill>
            <a:srgbClr val="F8EAEA"/>
          </a:solidFill>
          <a:ln w="10160">
            <a:solidFill>
              <a:srgbClr val="F8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791456"/>
            <a:ext cx="54864" cy="1097280"/>
          </a:xfrm>
          <a:prstGeom prst="rect">
            <a:avLst/>
          </a:prstGeom>
          <a:solidFill>
            <a:srgbClr val="BB4A4A"/>
          </a:solidFill>
          <a:ln w="10160">
            <a:solidFill>
              <a:srgbClr val="BB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Decision"/>
          <p:cNvSpPr txBox="1"/>
          <p:nvPr/>
        </p:nvSpPr>
        <p:spPr>
          <a:xfrm>
            <a:off x="704088" y="4937760"/>
            <a:ext cx="10844784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Decision</a:t>
            </a:r>
          </a:p>
        </p:txBody>
      </p:sp>
      <p:sp>
        <p:nvSpPr>
          <p:cNvPr id="17" name="Text: Use Wolf for disciplined ranking and risk control."/>
          <p:cNvSpPr txBox="1"/>
          <p:nvPr/>
        </p:nvSpPr>
        <p:spPr>
          <a:xfrm>
            <a:off x="704088" y="5312664"/>
            <a:ext cx="1084478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Use Wolf for disciplined ranking and risk control. Do not market it as a proven alpha engine until native live evidence clears the benchmark and cost hurdles.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The 1997 replay is a stress map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The 1997 replay is a stress map</a:t>
            </a:r>
          </a:p>
        </p:txBody>
      </p:sp>
      <p:sp>
        <p:nvSpPr>
          <p:cNvPr id="3" name="Text: It shows how today's holdings behaved through hist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It shows how today's holdings behaved through history, not what the model knew then.</a:t>
            </a:r>
          </a:p>
        </p:txBody>
      </p:sp>
      <p:sp>
        <p:nvSpPr>
          <p:cNvPr id="4" name="Text: 15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15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1997-present retrospective holdings replay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1997-present retrospective holdings replay</a:t>
            </a:r>
          </a:p>
        </p:txBody>
      </p:sp>
      <p:graphicFrame>
        <p:nvGraphicFramePr>
          <p:cNvPr id="8" name="Evidence table"/>
          <p:cNvGraphicFramePr>
            <a:graphicFrameLocks noGrp="1"/>
          </p:cNvGraphicFramePr>
          <p:nvPr/>
        </p:nvGraphicFramePr>
        <p:xfrm>
          <a:off x="502920" y="1399032"/>
          <a:ext cx="658368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51560"/>
                <a:gridCol w="731520"/>
                <a:gridCol w="685800"/>
                <a:gridCol w="822960"/>
                <a:gridCol w="1143000"/>
              </a:tblGrid>
              <a:tr h="509016">
                <a:tc>
                  <a:txBody>
                    <a:bodyPr/>
                    <a:lstStyle/>
                    <a:p>
                      <a:pPr algn="l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Portfolio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Start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CAGR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Sharpe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Max DD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End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Current Portfolio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$186.1m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14.1%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0.75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-42.6%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$9.0bn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Portfolio-Aware Overlay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$186.1m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13.7%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0.77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-47.4%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$8.2bn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Risk-Parity Optimiser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$100.0k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10.4%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0.74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-29.1%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$1.9m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LLM Analyst Benchmark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$100.0k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5.5%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0.63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-13.3%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$488.3k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Final Resolved Portfolio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$186.1m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8.3%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0.58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-37.3%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6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$2.0bn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Chart: risk_return.png" descr="risk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2" y="1860777"/>
            <a:ext cx="4379976" cy="223118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4791456"/>
            <a:ext cx="5486400" cy="1143000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791456"/>
            <a:ext cx="54864" cy="1143000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What looks strongest"/>
          <p:cNvSpPr txBox="1"/>
          <p:nvPr/>
        </p:nvSpPr>
        <p:spPr>
          <a:xfrm>
            <a:off x="704088" y="4937760"/>
            <a:ext cx="515721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What looks strongest</a:t>
            </a:r>
          </a:p>
        </p:txBody>
      </p:sp>
      <p:sp>
        <p:nvSpPr>
          <p:cNvPr id="13" name="Text: Current Portfolio PnL: $8.8bn. Final Resolved PnL:"/>
          <p:cNvSpPr txBox="1"/>
          <p:nvPr/>
        </p:nvSpPr>
        <p:spPr>
          <a:xfrm>
            <a:off x="704088" y="5312664"/>
            <a:ext cx="5157216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Current Portfolio PnL: $8.8bn. Final Resolved PnL: $1.8bn. Risk Parity led the independent optimisers.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4791456"/>
            <a:ext cx="5440680" cy="1197864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4791456"/>
            <a:ext cx="54864" cy="1197864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Why it cannot prove selection skill"/>
          <p:cNvSpPr txBox="1"/>
          <p:nvPr/>
        </p:nvSpPr>
        <p:spPr>
          <a:xfrm>
            <a:off x="6437376" y="4937760"/>
            <a:ext cx="511149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Why it cannot prove selection skill</a:t>
            </a:r>
          </a:p>
        </p:txBody>
      </p:sp>
      <p:sp>
        <p:nvSpPr>
          <p:cNvPr id="17" name="Text: The securities were chosen with current informatio"/>
          <p:cNvSpPr txBox="1"/>
          <p:nvPr/>
        </p:nvSpPr>
        <p:spPr>
          <a:xfrm>
            <a:off x="6437376" y="5312664"/>
            <a:ext cx="5111496" cy="5577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The securities were chosen with current information and then replayed backward. Survivorship and selection look-ahead make the long PnL unsuitable as a live promise.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Performance through major market shocks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Performance through major market shocks</a:t>
            </a:r>
          </a:p>
        </p:txBody>
      </p:sp>
      <p:sp>
        <p:nvSpPr>
          <p:cNvPr id="3" name="Text: Event windows are descriptive overlaps, not causal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Event windows are descriptive overlaps, not causal estimates.</a:t>
            </a:r>
          </a:p>
        </p:txBody>
      </p:sp>
      <p:sp>
        <p:nvSpPr>
          <p:cNvPr id="4" name="Text: 16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16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Macro-event timeline and event performance table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Macro-event timeline and event performance table</a:t>
            </a:r>
          </a:p>
        </p:txBody>
      </p:sp>
      <p:pic>
        <p:nvPicPr>
          <p:cNvPr id="8" name="Chart: macro_event_timeline.png" descr="macro_ev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11" y="1179576"/>
            <a:ext cx="8068185" cy="44074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641848"/>
            <a:ext cx="3511296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641848"/>
            <a:ext cx="54864" cy="557784"/>
          </a:xfrm>
          <a:prstGeom prst="rect">
            <a:avLst/>
          </a:prstGeom>
          <a:solidFill>
            <a:srgbClr val="BB4A4A"/>
          </a:solidFill>
          <a:ln w="10160">
            <a:solidFill>
              <a:srgbClr val="BB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COVID-19: -12.58% return; -15.19% event drawdown"/>
          <p:cNvSpPr txBox="1"/>
          <p:nvPr/>
        </p:nvSpPr>
        <p:spPr>
          <a:xfrm>
            <a:off x="704088" y="5733288"/>
            <a:ext cx="3182112" cy="3931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COVID-19: -12.58% return; -15.19% event drawdown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5641848"/>
            <a:ext cx="3511296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5641848"/>
            <a:ext cx="54864" cy="557784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2008 crisis: -27.12% event drawdown"/>
          <p:cNvSpPr txBox="1"/>
          <p:nvPr/>
        </p:nvSpPr>
        <p:spPr>
          <a:xfrm>
            <a:off x="4471416" y="5733288"/>
            <a:ext cx="3182112" cy="3931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2008 crisis: -27.12% event drawdown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76" y="5641848"/>
            <a:ext cx="3511296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6" y="5641848"/>
            <a:ext cx="54864" cy="557784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2026 Iran war: +3.57% return; -5.27% drawdown"/>
          <p:cNvSpPr txBox="1"/>
          <p:nvPr/>
        </p:nvSpPr>
        <p:spPr>
          <a:xfrm>
            <a:off x="8238744" y="5733288"/>
            <a:ext cx="3182112" cy="3931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2026 Iran war: +3.57% return; -5.27% drawdown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Interest-rate and market-regime context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Interest-rate and market-regime context</a:t>
            </a:r>
          </a:p>
        </p:txBody>
      </p:sp>
      <p:sp>
        <p:nvSpPr>
          <p:cNvPr id="3" name="Text: Conditional groupings show where the final portfol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Conditional groupings show where the final portfolio was most comfortable.</a:t>
            </a:r>
          </a:p>
        </p:txBody>
      </p:sp>
      <p:sp>
        <p:nvSpPr>
          <p:cNvPr id="4" name="Text: 17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17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Lagged rate and market-regime performance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Lagged rate and market-regime performance</a:t>
            </a:r>
          </a:p>
        </p:txBody>
      </p:sp>
      <p:pic>
        <p:nvPicPr>
          <p:cNvPr id="8" name="Chart: interest_rate_performance.png" descr="interest_rat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081564"/>
            <a:ext cx="5687568" cy="2502847"/>
          </a:xfrm>
          <a:prstGeom prst="rect">
            <a:avLst/>
          </a:prstGeom>
        </p:spPr>
      </p:pic>
      <p:pic>
        <p:nvPicPr>
          <p:cNvPr id="9" name="Chart: market_regime_performance.png" descr="market_regime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95648"/>
            <a:ext cx="5623560" cy="247467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522976"/>
            <a:ext cx="5440680" cy="676656"/>
          </a:xfrm>
          <a:prstGeom prst="rect">
            <a:avLst/>
          </a:prstGeom>
          <a:solidFill>
            <a:srgbClr val="E9F1F6"/>
          </a:solidFill>
          <a:ln w="10160">
            <a:solidFill>
              <a:srgbClr val="E9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522976"/>
            <a:ext cx="54864" cy="676656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Rate reading: Final Portfolio was strongest in hig"/>
          <p:cNvSpPr txBox="1"/>
          <p:nvPr/>
        </p:nvSpPr>
        <p:spPr>
          <a:xfrm>
            <a:off x="704088" y="5614416"/>
            <a:ext cx="5111496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Rate reading: Final Portfolio was strongest in high-rate months (15.77%) and when rates were rising (13.03%).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5522976"/>
            <a:ext cx="5440680" cy="676656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5522976"/>
            <a:ext cx="54864" cy="676656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Regime reading: Its strongest market group was Bul"/>
          <p:cNvSpPr txBox="1"/>
          <p:nvPr/>
        </p:nvSpPr>
        <p:spPr>
          <a:xfrm>
            <a:off x="6437376" y="5614416"/>
            <a:ext cx="5111496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Regime reading: Its strongest market group was Bull / Volatile (14.09%). Expansion months returned 9.91% annualised.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Risk calibration now passes; approval stays condit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Risk calibration now passes; approval stays conditional</a:t>
            </a:r>
          </a:p>
        </p:txBody>
      </p:sp>
      <p:sp>
        <p:nvSpPr>
          <p:cNvPr id="3" name="Text: Adaptive VaR fixed exception clustering without hi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Adaptive VaR fixed exception clustering without hiding PIT and alpha limits.</a:t>
            </a:r>
          </a:p>
        </p:txBody>
      </p:sp>
      <p:sp>
        <p:nvSpPr>
          <p:cNvPr id="4" name="Text: 18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18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Validation scorecard and overall/holdout VaR tests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Validation scorecard and overall/holdout VaR tests</a:t>
            </a:r>
          </a:p>
        </p:txBody>
      </p:sp>
      <p:pic>
        <p:nvPicPr>
          <p:cNvPr id="8" name="Chart: validation_scorecard.png" descr="validation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871263"/>
            <a:ext cx="5715000" cy="3298353"/>
          </a:xfrm>
          <a:prstGeom prst="rect">
            <a:avLst/>
          </a:prstGeom>
        </p:spPr>
      </p:pic>
      <p:sp>
        <p:nvSpPr>
          <p:cNvPr id="9" name="Text: VaR coverage and independence"/>
          <p:cNvSpPr txBox="1"/>
          <p:nvPr/>
        </p:nvSpPr>
        <p:spPr>
          <a:xfrm>
            <a:off x="6345936" y="1353312"/>
            <a:ext cx="50292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127"/>
                </a:solidFill>
                <a:latin typeface="Aptos Display"/>
              </a:rPr>
              <a:t>VaR coverage and independence</a:t>
            </a:r>
          </a:p>
        </p:txBody>
      </p:sp>
      <p:graphicFrame>
        <p:nvGraphicFramePr>
          <p:cNvPr id="10" name="Evidence table"/>
          <p:cNvGraphicFramePr>
            <a:graphicFrameLocks noGrp="1"/>
          </p:cNvGraphicFramePr>
          <p:nvPr/>
        </p:nvGraphicFramePr>
        <p:xfrm>
          <a:off x="6336792" y="1773936"/>
          <a:ext cx="534009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668"/>
                <a:gridCol w="780917"/>
                <a:gridCol w="1171375"/>
                <a:gridCol w="1033566"/>
                <a:gridCol w="1033566"/>
              </a:tblGrid>
              <a:tr h="435254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Sample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Exceptions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Kupiec p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Indep. p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Overall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95%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50/1158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0.276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0.080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Overall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99%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15/1158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0.334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0.530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435254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Holdout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95%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15/463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0.064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0.086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  <a:tr h="435256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Holdout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99%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2/463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0.166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19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0.895</a:t>
                      </a:r>
                    </a:p>
                  </a:txBody>
                  <a:tcPr marL="54864" marR="36576" marT="22860" marB="22860">
                    <a:solidFill>
                      <a:srgbClr val="E8F4E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336792" y="4251960"/>
            <a:ext cx="5340096" cy="1371600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4251960"/>
            <a:ext cx="54864" cy="1371600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velopment-locked risk stack: 15 / 15"/>
          <p:cNvSpPr txBox="1"/>
          <p:nvPr/>
        </p:nvSpPr>
        <p:spPr>
          <a:xfrm>
            <a:off x="6537959" y="4398264"/>
            <a:ext cx="501091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Development-locked risk stack: 15 / 15</a:t>
            </a:r>
          </a:p>
        </p:txBody>
      </p:sp>
      <p:sp>
        <p:nvSpPr>
          <p:cNvPr id="14" name="Text: DCC-IGARCH Student-t, filtered historical simulati"/>
          <p:cNvSpPr txBox="1"/>
          <p:nvPr/>
        </p:nvSpPr>
        <p:spPr>
          <a:xfrm>
            <a:off x="6537959" y="4773168"/>
            <a:ext cx="5010912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DCC-IGARCH Student-t, filtered historical simulation, EWMA Normal and EWMA Student-t are selected using trailing data. Development data selected a 1.075x scale and 1.40x buffer for 1 day after a breach. The holdout is chronological reconstructed evidence, not a pristine future shadow period.</a:t>
            </a:r>
          </a:p>
        </p:txBody>
      </p:sp>
      <p:sp>
        <p:nvSpPr>
          <p:cNvPr id="15" name="Text: Overall 87.5/100  |  6 pass  |  2 warnings  |  0 c"/>
          <p:cNvSpPr txBox="1"/>
          <p:nvPr/>
        </p:nvSpPr>
        <p:spPr>
          <a:xfrm>
            <a:off x="530352" y="5943600"/>
            <a:ext cx="11018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30" b="1">
                <a:solidFill>
                  <a:srgbClr val="0B6F56"/>
                </a:solidFill>
                <a:latin typeface="Aptos"/>
              </a:rPr>
              <a:t>Overall 87.5/100  |  6 pass  |  2 warnings  |  0 critical failures  |  full local suite passed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Turnover and modeled cost drag now meet target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Turnover and modeled cost drag now meet target</a:t>
            </a:r>
          </a:p>
        </p:txBody>
      </p:sp>
      <p:sp>
        <p:nvSpPr>
          <p:cNvPr id="3" name="Text: Retention hysteresis and minimum-turnover transiti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Retention hysteresis and minimum-turnover transitions reduced churn.</a:t>
            </a:r>
          </a:p>
        </p:txBody>
      </p:sp>
      <p:sp>
        <p:nvSpPr>
          <p:cNvPr id="4" name="Text: 19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19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Before/after point-in-time cost and turnover valid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Before/after point-in-time cost and turnover validation</a:t>
            </a:r>
          </a:p>
        </p:txBody>
      </p:sp>
      <p:pic>
        <p:nvPicPr>
          <p:cNvPr id="8" name="Chart: implementation_cost_drag.png" descr="implementation_cost_d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06104"/>
            <a:ext cx="6912864" cy="383781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07808" y="1435608"/>
            <a:ext cx="4069080" cy="932688"/>
          </a:xfrm>
          <a:prstGeom prst="rect">
            <a:avLst/>
          </a:prstGeom>
          <a:solidFill>
            <a:srgbClr val="E8F4E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7808" y="1435608"/>
            <a:ext cx="50292" cy="93268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0.82%"/>
          <p:cNvSpPr txBox="1"/>
          <p:nvPr/>
        </p:nvSpPr>
        <p:spPr>
          <a:xfrm>
            <a:off x="7772400" y="1563624"/>
            <a:ext cx="381304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0.82%</a:t>
            </a:r>
          </a:p>
        </p:txBody>
      </p:sp>
      <p:sp>
        <p:nvSpPr>
          <p:cNvPr id="12" name="Text: modeled cost drag; target &lt;= 1.50%"/>
          <p:cNvSpPr txBox="1"/>
          <p:nvPr/>
        </p:nvSpPr>
        <p:spPr>
          <a:xfrm>
            <a:off x="7772400" y="1965960"/>
            <a:ext cx="381304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modeled cost drag; target &lt;= 1.50%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7808" y="2587752"/>
            <a:ext cx="4069080" cy="932688"/>
          </a:xfrm>
          <a:prstGeom prst="rect">
            <a:avLst/>
          </a:prstGeom>
          <a:solidFill>
            <a:srgbClr val="E8F4E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8" y="2587752"/>
            <a:ext cx="50292" cy="93268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1.10x"/>
          <p:cNvSpPr txBox="1"/>
          <p:nvPr/>
        </p:nvSpPr>
        <p:spPr>
          <a:xfrm>
            <a:off x="7772400" y="2715768"/>
            <a:ext cx="381304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1.10x</a:t>
            </a:r>
          </a:p>
        </p:txBody>
      </p:sp>
      <p:sp>
        <p:nvSpPr>
          <p:cNvPr id="16" name="Text: annual turnover; target &lt;= 1.50x"/>
          <p:cNvSpPr txBox="1"/>
          <p:nvPr/>
        </p:nvSpPr>
        <p:spPr>
          <a:xfrm>
            <a:off x="7772400" y="3118104"/>
            <a:ext cx="381304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annual turnover; target &lt;= 1.50x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3739896"/>
            <a:ext cx="4069080" cy="93268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7808" y="3739896"/>
            <a:ext cx="50292" cy="93268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$465k"/>
          <p:cNvSpPr txBox="1"/>
          <p:nvPr/>
        </p:nvSpPr>
        <p:spPr>
          <a:xfrm>
            <a:off x="7772400" y="3867911"/>
            <a:ext cx="381304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7"/>
                </a:solidFill>
                <a:latin typeface="Aptos Display"/>
              </a:rPr>
              <a:t>$465k</a:t>
            </a:r>
          </a:p>
        </p:txBody>
      </p:sp>
      <p:sp>
        <p:nvSpPr>
          <p:cNvPr id="20" name="Text: 0.25% annual bank fee at reference AUM"/>
          <p:cNvSpPr txBox="1"/>
          <p:nvPr/>
        </p:nvSpPr>
        <p:spPr>
          <a:xfrm>
            <a:off x="7772400" y="4270248"/>
            <a:ext cx="3813048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078"/>
                </a:solidFill>
                <a:latin typeface="Aptos"/>
              </a:rPr>
              <a:t>0.25% annual bank fee at reference AUM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7808" y="4892040"/>
            <a:ext cx="4069080" cy="1024128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7808" y="4892040"/>
            <a:ext cx="54864" cy="1024128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Why portfolio remains a warning"/>
          <p:cNvSpPr txBox="1"/>
          <p:nvPr/>
        </p:nvSpPr>
        <p:spPr>
          <a:xfrm>
            <a:off x="7808976" y="5038344"/>
            <a:ext cx="373989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Why portfolio remains a warning</a:t>
            </a:r>
          </a:p>
        </p:txBody>
      </p:sp>
      <p:sp>
        <p:nvSpPr>
          <p:cNvPr id="24" name="Text: Both cost gates pass, but Wolf trailed equal weigh"/>
          <p:cNvSpPr txBox="1"/>
          <p:nvPr/>
        </p:nvSpPr>
        <p:spPr>
          <a:xfrm>
            <a:off x="7808976" y="5413248"/>
            <a:ext cx="3739896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Both cost gates pass, but Wolf trailed equal weight by 2.43% per year in this 60-month sample (p=0.550).</a:t>
            </a:r>
          </a:p>
        </p:txBody>
      </p:sp>
      <p:sp>
        <p:nvSpPr>
          <p:cNvPr id="25" name="Text: Retention and capped/minimum-turnover transitions "/>
          <p:cNvSpPr txBox="1"/>
          <p:nvPr/>
        </p:nvSpPr>
        <p:spPr>
          <a:xfrm>
            <a:off x="530352" y="5989320"/>
            <a:ext cx="1106424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0B6F56"/>
                </a:solidFill>
                <a:latin typeface="Aptos"/>
              </a:rPr>
              <a:t>Retention and capped/minimum-turnover transitions drove the improvement; the configured no-trade band did not trigger in this sample.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 controlled path to live use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A controlled path to live use</a:t>
            </a:r>
          </a:p>
        </p:txBody>
      </p:sp>
      <p:sp>
        <p:nvSpPr>
          <p:cNvPr id="3" name="Text: Scale only when operations, costs and evidence ear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Scale only when operations, costs and evidence earn it.</a:t>
            </a:r>
          </a:p>
        </p:txBody>
      </p:sp>
      <p:sp>
        <p:nvSpPr>
          <p:cNvPr id="4" name="Text: 20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20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Proposed implementation and model-risk controls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Proposed implementation and model-risk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44752"/>
            <a:ext cx="3511296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44752"/>
            <a:ext cx="3511296" cy="10972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0  SHADOW"/>
          <p:cNvSpPr txBox="1"/>
          <p:nvPr/>
        </p:nvSpPr>
        <p:spPr>
          <a:xfrm>
            <a:off x="685800" y="1746504"/>
            <a:ext cx="310896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0  SHADOW</a:t>
            </a:r>
          </a:p>
        </p:txBody>
      </p:sp>
      <p:sp>
        <p:nvSpPr>
          <p:cNvPr id="11" name="Text: 4 weeks"/>
          <p:cNvSpPr txBox="1"/>
          <p:nvPr/>
        </p:nvSpPr>
        <p:spPr>
          <a:xfrm>
            <a:off x="685800" y="2167128"/>
            <a:ext cx="31089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6F56"/>
                </a:solidFill>
                <a:latin typeface="Aptos"/>
              </a:rPr>
              <a:t>4 weeks</a:t>
            </a:r>
          </a:p>
        </p:txBody>
      </p:sp>
      <p:sp>
        <p:nvSpPr>
          <p:cNvPr id="12" name="Text: Generate orders, do not trade. Validate data, NAV,"/>
          <p:cNvSpPr txBox="1"/>
          <p:nvPr/>
        </p:nvSpPr>
        <p:spPr>
          <a:xfrm>
            <a:off x="685800" y="2542032"/>
            <a:ext cx="309981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Generate orders, do not trade. Validate data, NAV, FX and fills.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444752"/>
            <a:ext cx="3511296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444752"/>
            <a:ext cx="3511296" cy="109728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1  PILOT"/>
          <p:cNvSpPr txBox="1"/>
          <p:nvPr/>
        </p:nvSpPr>
        <p:spPr>
          <a:xfrm>
            <a:off x="4453128" y="1746504"/>
            <a:ext cx="310896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1  PILOT</a:t>
            </a:r>
          </a:p>
        </p:txBody>
      </p:sp>
      <p:sp>
        <p:nvSpPr>
          <p:cNvPr id="16" name="Text: 6 to 12 months"/>
          <p:cNvSpPr txBox="1"/>
          <p:nvPr/>
        </p:nvSpPr>
        <p:spPr>
          <a:xfrm>
            <a:off x="4453128" y="2167128"/>
            <a:ext cx="31089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6F56"/>
                </a:solidFill>
                <a:latin typeface="Aptos"/>
              </a:rPr>
              <a:t>6 to 12 months</a:t>
            </a:r>
          </a:p>
        </p:txBody>
      </p:sp>
      <p:sp>
        <p:nvSpPr>
          <p:cNvPr id="17" name="Text: Use limited capital with human approval and staged"/>
          <p:cNvSpPr txBox="1"/>
          <p:nvPr/>
        </p:nvSpPr>
        <p:spPr>
          <a:xfrm>
            <a:off x="4453128" y="2542032"/>
            <a:ext cx="309981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Use limited capital with human approval and staged execution.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7576" y="1444752"/>
            <a:ext cx="3511296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6" y="1444752"/>
            <a:ext cx="3511296" cy="109728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2  SCALE"/>
          <p:cNvSpPr txBox="1"/>
          <p:nvPr/>
        </p:nvSpPr>
        <p:spPr>
          <a:xfrm>
            <a:off x="8220456" y="1746504"/>
            <a:ext cx="310896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2  SCALE</a:t>
            </a:r>
          </a:p>
        </p:txBody>
      </p:sp>
      <p:sp>
        <p:nvSpPr>
          <p:cNvPr id="21" name="Text: Evidence gated"/>
          <p:cNvSpPr txBox="1"/>
          <p:nvPr/>
        </p:nvSpPr>
        <p:spPr>
          <a:xfrm>
            <a:off x="8220456" y="2167128"/>
            <a:ext cx="310896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B6F56"/>
                </a:solidFill>
                <a:latin typeface="Aptos"/>
              </a:rPr>
              <a:t>Evidence gated</a:t>
            </a:r>
          </a:p>
        </p:txBody>
      </p:sp>
      <p:sp>
        <p:nvSpPr>
          <p:cNvPr id="22" name="Text: Increase capital only after cost, risk and benchma"/>
          <p:cNvSpPr txBox="1"/>
          <p:nvPr/>
        </p:nvSpPr>
        <p:spPr>
          <a:xfrm>
            <a:off x="8220456" y="2542032"/>
            <a:ext cx="3099816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Increase capital only after cost, risk and benchmark hurdles hold.</a:t>
            </a:r>
          </a:p>
        </p:txBody>
      </p:sp>
      <p:sp>
        <p:nvSpPr>
          <p:cNvPr id="23" name="Text: Proposed pilot gates"/>
          <p:cNvSpPr txBox="1"/>
          <p:nvPr/>
        </p:nvSpPr>
        <p:spPr>
          <a:xfrm>
            <a:off x="530352" y="3721608"/>
            <a:ext cx="49377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2127"/>
                </a:solidFill>
                <a:latin typeface="Aptos Display"/>
              </a:rPr>
              <a:t>Proposed pilot gates</a:t>
            </a:r>
          </a:p>
        </p:txBody>
      </p:sp>
      <p:sp>
        <p:nvSpPr>
          <p:cNvPr id="24" name="Bullet list"/>
          <p:cNvSpPr txBox="1"/>
          <p:nvPr/>
        </p:nvSpPr>
        <p:spPr>
          <a:xfrm>
            <a:off x="530352" y="4133087"/>
            <a:ext cx="5330952" cy="167335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72127"/>
                </a:solidFill>
                <a:latin typeface="Aptos"/>
              </a:defRPr>
            </a:pPr>
            <a:r>
              <a:t>• Zero hard constraint or data-lineage breaches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72127"/>
                </a:solidFill>
                <a:latin typeface="Aptos"/>
              </a:defRPr>
            </a:pPr>
            <a:r>
              <a:t>• Pre-trade cost estimate approved for every rebalance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72127"/>
                </a:solidFill>
                <a:latin typeface="Aptos"/>
              </a:defRPr>
            </a:pPr>
            <a:r>
              <a:t>• Keep turnover &lt;=1.5x; stretch goal &lt;=1.0x in the pilot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72127"/>
                </a:solidFill>
                <a:latin typeface="Aptos"/>
              </a:defRPr>
            </a:pPr>
            <a:r>
              <a:t>• Net performance tracked against equal and cap weight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50">
                <a:solidFill>
                  <a:srgbClr val="172127"/>
                </a:solidFill>
                <a:latin typeface="Aptos"/>
              </a:defRPr>
            </a:pPr>
            <a:r>
              <a:t>• Monthly model-risk and investment-committee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3767328"/>
            <a:ext cx="5440680" cy="1234440"/>
          </a:xfrm>
          <a:prstGeom prst="rect">
            <a:avLst/>
          </a:prstGeom>
          <a:solidFill>
            <a:srgbClr val="F8EAEA"/>
          </a:solidFill>
          <a:ln w="10160">
            <a:solidFill>
              <a:srgbClr val="F8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767328"/>
            <a:ext cx="54864" cy="1234440"/>
          </a:xfrm>
          <a:prstGeom prst="rect">
            <a:avLst/>
          </a:prstGeom>
          <a:solidFill>
            <a:srgbClr val="BB4A4A"/>
          </a:solidFill>
          <a:ln w="10160">
            <a:solidFill>
              <a:srgbClr val="BB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Immediate stop conditions"/>
          <p:cNvSpPr txBox="1"/>
          <p:nvPr/>
        </p:nvSpPr>
        <p:spPr>
          <a:xfrm>
            <a:off x="6437376" y="3913632"/>
            <a:ext cx="5111496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Immediate stop conditions</a:t>
            </a:r>
          </a:p>
        </p:txBody>
      </p:sp>
      <p:sp>
        <p:nvSpPr>
          <p:cNvPr id="28" name="Text: Stale critical data, any hard breach, a failed liv"/>
          <p:cNvSpPr txBox="1"/>
          <p:nvPr/>
        </p:nvSpPr>
        <p:spPr>
          <a:xfrm>
            <a:off x="6437376" y="4288536"/>
            <a:ext cx="5111496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Stale critical data, any hard breach, a failed live risk test, failed reconciliation or trading costs above the approved budget.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5221224"/>
            <a:ext cx="5440680" cy="768096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5221224"/>
            <a:ext cx="54864" cy="768096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Alpha gate: Full-scale alpha claims require native"/>
          <p:cNvSpPr txBox="1"/>
          <p:nvPr/>
        </p:nvSpPr>
        <p:spPr>
          <a:xfrm>
            <a:off x="6437376" y="5312664"/>
            <a:ext cx="5111496" cy="603503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72127"/>
                </a:solidFill>
                <a:latin typeface="Aptos"/>
              </a:rPr>
              <a:t>Alpha gate: Full-scale alpha claims require native live evidence and at least 60 months under the existing governance policy.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How to read the results"/>
          <p:cNvSpPr txBox="1"/>
          <p:nvPr/>
        </p:nvSpPr>
        <p:spPr>
          <a:xfrm>
            <a:off x="475488" y="292608"/>
            <a:ext cx="996696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127"/>
                </a:solidFill>
                <a:latin typeface="Aptos Display"/>
              </a:rPr>
              <a:t>How to read the results</a:t>
            </a:r>
          </a:p>
        </p:txBody>
      </p:sp>
      <p:sp>
        <p:nvSpPr>
          <p:cNvPr id="3" name="Text: Plain-language definitions for the investment comm"/>
          <p:cNvSpPr txBox="1"/>
          <p:nvPr/>
        </p:nvSpPr>
        <p:spPr>
          <a:xfrm>
            <a:off x="493776" y="740664"/>
            <a:ext cx="104241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078"/>
                </a:solidFill>
                <a:latin typeface="Aptos"/>
              </a:rPr>
              <a:t>Plain-language definitions for the investment committee.</a:t>
            </a:r>
          </a:p>
        </p:txBody>
      </p:sp>
      <p:sp>
        <p:nvSpPr>
          <p:cNvPr id="4" name="Text: 21"/>
          <p:cNvSpPr txBox="1"/>
          <p:nvPr/>
        </p:nvSpPr>
        <p:spPr>
          <a:xfrm>
            <a:off x="11219688" y="320040"/>
            <a:ext cx="475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47078"/>
                </a:solidFill>
                <a:latin typeface="Aptos"/>
              </a:rPr>
              <a:t>21</a:t>
            </a:r>
          </a:p>
        </p:txBody>
      </p:sp>
      <p:sp>
        <p:nvSpPr>
          <p:cNvPr id="5" name="Header divider"/>
          <p:cNvSpPr/>
          <p:nvPr/>
        </p:nvSpPr>
        <p:spPr>
          <a:xfrm>
            <a:off x="493776" y="1060704"/>
            <a:ext cx="11201400" cy="10972"/>
          </a:xfrm>
          <a:prstGeom prst="rect">
            <a:avLst/>
          </a:prstGeom>
          <a:solidFill>
            <a:srgbClr val="D8E0DD"/>
          </a:solidFill>
          <a:ln w="10160">
            <a:solidFill>
              <a:srgbClr val="D8E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Wolf Quant Model | Research use"/>
          <p:cNvSpPr txBox="1"/>
          <p:nvPr/>
        </p:nvSpPr>
        <p:spPr>
          <a:xfrm>
            <a:off x="493776" y="6565392"/>
            <a:ext cx="3474720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Wolf Quant Model | Research use</a:t>
            </a:r>
          </a:p>
        </p:txBody>
      </p:sp>
      <p:sp>
        <p:nvSpPr>
          <p:cNvPr id="7" name="Text: Backtest methodology and validation framework"/>
          <p:cNvSpPr txBox="1"/>
          <p:nvPr/>
        </p:nvSpPr>
        <p:spPr>
          <a:xfrm>
            <a:off x="3749039" y="6565392"/>
            <a:ext cx="7936992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078"/>
                </a:solidFill>
                <a:latin typeface="Aptos"/>
              </a:rPr>
              <a:t>Backtest methodology and validation framework</a:t>
            </a:r>
          </a:p>
        </p:txBody>
      </p:sp>
      <p:graphicFrame>
        <p:nvGraphicFramePr>
          <p:cNvPr id="8" name="Evidence table"/>
          <p:cNvGraphicFramePr>
            <a:graphicFrameLocks noGrp="1"/>
          </p:cNvGraphicFramePr>
          <p:nvPr/>
        </p:nvGraphicFramePr>
        <p:xfrm>
          <a:off x="502920" y="1362456"/>
          <a:ext cx="6400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80060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Measure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Simple meaning</a:t>
                      </a:r>
                    </a:p>
                  </a:txBody>
                  <a:tcPr marL="54864" marR="36576" marT="27432" marB="27432">
                    <a:solidFill>
                      <a:srgbClr val="1721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CAGR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Average compounded annual growth.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Sharpe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Return earned per unit of overall variability.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Sortino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Return earned per unit of harmful downside variation.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Max drawdown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Largest peak-to-trough loss.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CVaR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Average loss among the worst modeled outcomes.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Information ratio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Active return per unit of benchmark-relative risk.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p-value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How surprising the result is if true alpha were zero.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PBO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72127"/>
                          </a:solidFill>
                          <a:latin typeface="Aptos"/>
                        </a:defRPr>
                      </a:pPr>
                      <a:r>
                        <a:t>Chance that selecting the backtest winner overfits history.</a:t>
                      </a:r>
                    </a:p>
                  </a:txBody>
                  <a:tcPr marL="54864" marR="36576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87184" y="1362456"/>
            <a:ext cx="4489704" cy="1481328"/>
          </a:xfrm>
          <a:prstGeom prst="rect">
            <a:avLst/>
          </a:prstGeom>
          <a:solidFill>
            <a:srgbClr val="E9F1F6"/>
          </a:solidFill>
          <a:ln w="10160">
            <a:solidFill>
              <a:srgbClr val="E9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87184" y="1362456"/>
            <a:ext cx="54864" cy="1481328"/>
          </a:xfrm>
          <a:prstGeom prst="rect">
            <a:avLst/>
          </a:prstGeom>
          <a:solidFill>
            <a:srgbClr val="3478A5"/>
          </a:solidFill>
          <a:ln w="10160">
            <a:solidFill>
              <a:srgbClr val="34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Three evidence layers"/>
          <p:cNvSpPr txBox="1"/>
          <p:nvPr/>
        </p:nvSpPr>
        <p:spPr>
          <a:xfrm>
            <a:off x="7388352" y="1508760"/>
            <a:ext cx="41605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Three evidence layers</a:t>
            </a:r>
          </a:p>
        </p:txBody>
      </p:sp>
      <p:sp>
        <p:nvSpPr>
          <p:cNvPr id="12" name="Text: 1. Dated 60-month proxy: primary model evidence.&#10;2"/>
          <p:cNvSpPr txBox="1"/>
          <p:nvPr/>
        </p:nvSpPr>
        <p:spPr>
          <a:xfrm>
            <a:off x="7388352" y="1883664"/>
            <a:ext cx="4160520" cy="8412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1. Dated 60-month proxy: primary model evidence.
2. 1997 replay: stress and exposure history.
3. Native live record: required before full alpha approval.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87184" y="3154680"/>
            <a:ext cx="4489704" cy="1298448"/>
          </a:xfrm>
          <a:prstGeom prst="rect">
            <a:avLst/>
          </a:prstGeom>
          <a:solidFill>
            <a:srgbClr val="FBF3DF"/>
          </a:solidFill>
          <a:ln w="1016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87184" y="3154680"/>
            <a:ext cx="54864" cy="1298448"/>
          </a:xfrm>
          <a:prstGeom prst="rect">
            <a:avLst/>
          </a:prstGeom>
          <a:solidFill>
            <a:srgbClr val="C99328"/>
          </a:solidFill>
          <a:ln w="10160">
            <a:solidFill>
              <a:srgbClr val="C99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Higher is not always better"/>
          <p:cNvSpPr txBox="1"/>
          <p:nvPr/>
        </p:nvSpPr>
        <p:spPr>
          <a:xfrm>
            <a:off x="7388352" y="3300984"/>
            <a:ext cx="41605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Higher is not always better</a:t>
            </a:r>
          </a:p>
        </p:txBody>
      </p:sp>
      <p:sp>
        <p:nvSpPr>
          <p:cNvPr id="16" name="Text: A portfolio can have a higher return but a deeper "/>
          <p:cNvSpPr txBox="1"/>
          <p:nvPr/>
        </p:nvSpPr>
        <p:spPr>
          <a:xfrm>
            <a:off x="7388352" y="3675888"/>
            <a:ext cx="41605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A portfolio can have a higher return but a deeper drawdown, more turnover or weaker statistical evidence. The committee should judge the package, not one headline number.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87184" y="4764024"/>
            <a:ext cx="4489704" cy="1124712"/>
          </a:xfrm>
          <a:prstGeom prst="rect">
            <a:avLst/>
          </a:prstGeom>
          <a:solidFill>
            <a:srgbClr val="E8F4EF"/>
          </a:solidFill>
          <a:ln w="10160">
            <a:solidFill>
              <a:srgbClr val="E8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87184" y="4764024"/>
            <a:ext cx="54864" cy="1124712"/>
          </a:xfrm>
          <a:prstGeom prst="rect">
            <a:avLst/>
          </a:prstGeom>
          <a:solidFill>
            <a:srgbClr val="14966F"/>
          </a:solidFill>
          <a:ln w="10160">
            <a:solidFill>
              <a:srgbClr val="14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Where to verify"/>
          <p:cNvSpPr txBox="1"/>
          <p:nvPr/>
        </p:nvSpPr>
        <p:spPr>
          <a:xfrm>
            <a:off x="7388352" y="4910328"/>
            <a:ext cx="41605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127"/>
                </a:solidFill>
                <a:latin typeface="Aptos Display"/>
              </a:rPr>
              <a:t>Where to verify</a:t>
            </a:r>
          </a:p>
        </p:txBody>
      </p:sp>
      <p:sp>
        <p:nvSpPr>
          <p:cNvPr id="20" name="Text: The GitHub release contains the 42-page PDF, plain"/>
          <p:cNvSpPr txBox="1"/>
          <p:nvPr/>
        </p:nvSpPr>
        <p:spPr>
          <a:xfrm>
            <a:off x="7388352" y="5285232"/>
            <a:ext cx="4160520" cy="4846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078"/>
                </a:solidFill>
                <a:latin typeface="Aptos"/>
              </a:rPr>
              <a:t>The GitHub release contains the 42-page PDF, plain-language interpretation, CSV evidence, plots, manifests and checksums.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THE RECOMMENDATION"/>
          <p:cNvSpPr txBox="1"/>
          <p:nvPr/>
        </p:nvSpPr>
        <p:spPr>
          <a:xfrm>
            <a:off x="832104" y="676656"/>
            <a:ext cx="43891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D7BF"/>
                </a:solidFill>
                <a:latin typeface="Aptos"/>
              </a:rPr>
              <a:t>THE RECOMMENDATION</a:t>
            </a:r>
          </a:p>
        </p:txBody>
      </p:sp>
      <p:sp>
        <p:nvSpPr>
          <p:cNvPr id="3" name="Text: Approve a controlled live pilot."/>
          <p:cNvSpPr txBox="1"/>
          <p:nvPr/>
        </p:nvSpPr>
        <p:spPr>
          <a:xfrm>
            <a:off x="813816" y="1207008"/>
            <a:ext cx="7955279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Approve a controlled live pilot.</a:t>
            </a:r>
          </a:p>
        </p:txBody>
      </p:sp>
      <p:sp>
        <p:nvSpPr>
          <p:cNvPr id="4" name="Text: Wolf is ready to improve how decisions are made: b"/>
          <p:cNvSpPr txBox="1"/>
          <p:nvPr/>
        </p:nvSpPr>
        <p:spPr>
          <a:xfrm>
            <a:off x="841248" y="2066543"/>
            <a:ext cx="7818120" cy="960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7E1DE"/>
                </a:solidFill>
                <a:latin typeface="Aptos"/>
              </a:rPr>
              <a:t>Wolf is ready to improve how decisions are made: broad screening, explicit risk, consistent portfolio construction and an audit trail. It is not yet ready to promise alpha.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730752"/>
            <a:ext cx="3355848" cy="1225296"/>
          </a:xfrm>
          <a:prstGeom prst="rect">
            <a:avLst/>
          </a:prstGeom>
          <a:solidFill>
            <a:srgbClr val="243037"/>
          </a:solidFill>
          <a:ln w="10160">
            <a:solidFill>
              <a:srgbClr val="435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USE NOW"/>
          <p:cNvSpPr txBox="1"/>
          <p:nvPr/>
        </p:nvSpPr>
        <p:spPr>
          <a:xfrm>
            <a:off x="1005840" y="3950208"/>
            <a:ext cx="292608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FD7BF"/>
                </a:solidFill>
                <a:latin typeface="Aptos"/>
              </a:rPr>
              <a:t>USE NOW</a:t>
            </a:r>
          </a:p>
        </p:txBody>
      </p:sp>
      <p:sp>
        <p:nvSpPr>
          <p:cNvPr id="7" name="Text: Ranking, diversification, adaptive risk and govern"/>
          <p:cNvSpPr txBox="1"/>
          <p:nvPr/>
        </p:nvSpPr>
        <p:spPr>
          <a:xfrm>
            <a:off x="1005840" y="4379976"/>
            <a:ext cx="289864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ptos"/>
              </a:rPr>
              <a:t>Ranking, diversification, adaptive risk and governance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3730752"/>
            <a:ext cx="3355848" cy="1225296"/>
          </a:xfrm>
          <a:prstGeom prst="rect">
            <a:avLst/>
          </a:prstGeom>
          <a:solidFill>
            <a:srgbClr val="243037"/>
          </a:solidFill>
          <a:ln w="10160">
            <a:solidFill>
              <a:srgbClr val="435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PROVE LIVE"/>
          <p:cNvSpPr txBox="1"/>
          <p:nvPr/>
        </p:nvSpPr>
        <p:spPr>
          <a:xfrm>
            <a:off x="4690872" y="3950208"/>
            <a:ext cx="292608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FD7BF"/>
                </a:solidFill>
                <a:latin typeface="Aptos"/>
              </a:rPr>
              <a:t>PROVE LIVE</a:t>
            </a:r>
          </a:p>
        </p:txBody>
      </p:sp>
      <p:sp>
        <p:nvSpPr>
          <p:cNvPr id="10" name="Text: Net benchmark edge in a genuine future shadow reco"/>
          <p:cNvSpPr txBox="1"/>
          <p:nvPr/>
        </p:nvSpPr>
        <p:spPr>
          <a:xfrm>
            <a:off x="4690872" y="4379976"/>
            <a:ext cx="289864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ptos"/>
              </a:rPr>
              <a:t>Net benchmark edge in a genuine future shadow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11312" y="3730752"/>
            <a:ext cx="3355848" cy="1225296"/>
          </a:xfrm>
          <a:prstGeom prst="rect">
            <a:avLst/>
          </a:prstGeom>
          <a:solidFill>
            <a:srgbClr val="243037"/>
          </a:solidFill>
          <a:ln w="10160">
            <a:solidFill>
              <a:srgbClr val="435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FIX NEXT"/>
          <p:cNvSpPr txBox="1"/>
          <p:nvPr/>
        </p:nvSpPr>
        <p:spPr>
          <a:xfrm>
            <a:off x="8375904" y="3950208"/>
            <a:ext cx="292608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FD7BF"/>
                </a:solidFill>
                <a:latin typeface="Aptos"/>
              </a:rPr>
              <a:t>FIX NEXT</a:t>
            </a:r>
          </a:p>
        </p:txBody>
      </p:sp>
      <p:sp>
        <p:nvSpPr>
          <p:cNvPr id="13" name="Text: Observed PIT vintages and probability calibration"/>
          <p:cNvSpPr txBox="1"/>
          <p:nvPr/>
        </p:nvSpPr>
        <p:spPr>
          <a:xfrm>
            <a:off x="8375904" y="4379976"/>
            <a:ext cx="289864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ptos"/>
              </a:rPr>
              <a:t>Observed PIT vintages and probability calibration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5623560"/>
            <a:ext cx="10716768" cy="530352"/>
          </a:xfrm>
          <a:prstGeom prst="rect">
            <a:avLst/>
          </a:prstGeom>
          <a:solidFill>
            <a:srgbClr val="0B6F56"/>
          </a:solidFill>
          <a:ln w="10160">
            <a:solidFill>
              <a:srgbClr val="0B6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Investment edge today: a better-controlled process"/>
          <p:cNvSpPr txBox="1"/>
          <p:nvPr/>
        </p:nvSpPr>
        <p:spPr>
          <a:xfrm>
            <a:off x="1051560" y="5788152"/>
            <a:ext cx="1028700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Investment edge today: a better-controlled process.  Investment edge tomorrow: only what live evidence proves.</a:t>
            </a:r>
          </a:p>
        </p:txBody>
      </p:sp>
      <p:sp>
        <p:nvSpPr>
          <p:cNvPr id="16" name="Text: CONDITIONALLY_APPROVED  |  Governance 87.5/100  | "/>
          <p:cNvSpPr txBox="1"/>
          <p:nvPr/>
        </p:nvSpPr>
        <p:spPr>
          <a:xfrm>
            <a:off x="841248" y="6419088"/>
            <a:ext cx="1069848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EAFAB"/>
                </a:solidFill>
                <a:latin typeface="Aptos"/>
              </a:rPr>
              <a:t>CONDITIONALLY_APPROVED  |  Governance 87.5/100  |  As of 17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Wolf Quant Model Investment Committee Briefing</dc:title>
  <dc:subject>Current recommendations, validation evidence and live pilot plan</dc:subject>
  <dc:creator>The Wolf Quant Model</dc:creator>
  <cp:keywords>equities, portfolio, validation, backtest, investment committee</cp:keywords>
  <dc:description>Generated from tracked repository evidence. Research use only.</dc:description>
  <cp:lastModifiedBy>Steve Canny</cp:lastModifiedBy>
  <cp:revision>1</cp:revision>
  <dcterms:created xsi:type="dcterms:W3CDTF">2026-08-17T15:39:22Z</dcterms:created>
  <dcterms:modified xsi:type="dcterms:W3CDTF">2026-08-17T15:39:22Z</dcterms:modified>
  <cp:category/>
</cp:coreProperties>
</file>