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73152" cy="5074920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: WOLF QUANT MODEL"/>
          <p:cNvSpPr txBox="1"/>
          <p:nvPr/>
        </p:nvSpPr>
        <p:spPr>
          <a:xfrm>
            <a:off x="822960" y="585216"/>
            <a:ext cx="51206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FD7BF"/>
                </a:solidFill>
                <a:latin typeface="Aptos"/>
              </a:rPr>
              <a:t>WOLF QUANT MODEL</a:t>
            </a:r>
          </a:p>
        </p:txBody>
      </p:sp>
      <p:sp>
        <p:nvSpPr>
          <p:cNvPr id="4" name="Text: Investment committee&#10;briefing"/>
          <p:cNvSpPr txBox="1"/>
          <p:nvPr/>
        </p:nvSpPr>
        <p:spPr>
          <a:xfrm>
            <a:off x="804672" y="1078992"/>
            <a:ext cx="685800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ptos Display"/>
              </a:rPr>
              <a:t>Investment committee
briefing</a:t>
            </a:r>
          </a:p>
        </p:txBody>
      </p:sp>
      <p:sp>
        <p:nvSpPr>
          <p:cNvPr id="5" name="Text: A disciplined global-equity decision system with p"/>
          <p:cNvSpPr txBox="1"/>
          <p:nvPr/>
        </p:nvSpPr>
        <p:spPr>
          <a:xfrm>
            <a:off x="832104" y="2487168"/>
            <a:ext cx="67665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D7E1DE"/>
                </a:solidFill>
                <a:latin typeface="Aptos"/>
              </a:rPr>
              <a:t>A disciplined global-equity decision system with portfolio constraints, stress testing and governance.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32104" y="3493008"/>
            <a:ext cx="5074920" cy="512064"/>
          </a:xfrm>
          <a:prstGeom prst="rect">
            <a:avLst/>
          </a:prstGeom>
          <a:solidFill>
            <a:srgbClr val="0B6F56"/>
          </a:solidFill>
          <a:ln w="10160">
            <a:solidFill>
              <a:srgbClr val="0B6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: DECISION: APPROVE A CONTROLLED LIVE PILOT"/>
          <p:cNvSpPr txBox="1"/>
          <p:nvPr/>
        </p:nvSpPr>
        <p:spPr>
          <a:xfrm>
            <a:off x="1024128" y="3639312"/>
            <a:ext cx="470916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DECISION: APPROVE A CONTROLLED LIVE PILOT</a:t>
            </a:r>
          </a:p>
        </p:txBody>
      </p:sp>
      <p:sp>
        <p:nvSpPr>
          <p:cNvPr id="8" name="Rectangle 7"/>
          <p:cNvSpPr/>
          <p:nvPr/>
        </p:nvSpPr>
        <p:spPr>
          <a:xfrm>
            <a:off x="832104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: 55,504"/>
          <p:cNvSpPr txBox="1"/>
          <p:nvPr/>
        </p:nvSpPr>
        <p:spPr>
          <a:xfrm>
            <a:off x="978408" y="4956048"/>
            <a:ext cx="2148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55,504</a:t>
            </a:r>
          </a:p>
        </p:txBody>
      </p:sp>
      <p:sp>
        <p:nvSpPr>
          <p:cNvPr id="10" name="Text: active equities"/>
          <p:cNvSpPr txBox="1"/>
          <p:nvPr/>
        </p:nvSpPr>
        <p:spPr>
          <a:xfrm>
            <a:off x="978408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active equities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93592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60"/>
          <p:cNvSpPr txBox="1"/>
          <p:nvPr/>
        </p:nvSpPr>
        <p:spPr>
          <a:xfrm>
            <a:off x="3739896" y="4956048"/>
            <a:ext cx="2148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60</a:t>
            </a:r>
          </a:p>
        </p:txBody>
      </p:sp>
      <p:sp>
        <p:nvSpPr>
          <p:cNvPr id="13" name="Text: monthly decisions"/>
          <p:cNvSpPr txBox="1"/>
          <p:nvPr/>
        </p:nvSpPr>
        <p:spPr>
          <a:xfrm>
            <a:off x="3739896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monthly decisions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80 / 100"/>
          <p:cNvSpPr txBox="1"/>
          <p:nvPr/>
        </p:nvSpPr>
        <p:spPr>
          <a:xfrm>
            <a:off x="6501384" y="4956048"/>
            <a:ext cx="2148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80 / 100</a:t>
            </a:r>
          </a:p>
        </p:txBody>
      </p:sp>
      <p:sp>
        <p:nvSpPr>
          <p:cNvPr id="16" name="Text: governance score"/>
          <p:cNvSpPr txBox="1"/>
          <p:nvPr/>
        </p:nvSpPr>
        <p:spPr>
          <a:xfrm>
            <a:off x="6501384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governance score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16568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0"/>
          <p:cNvSpPr txBox="1"/>
          <p:nvPr/>
        </p:nvSpPr>
        <p:spPr>
          <a:xfrm>
            <a:off x="9262872" y="4956048"/>
            <a:ext cx="2148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0</a:t>
            </a:r>
          </a:p>
        </p:txBody>
      </p:sp>
      <p:sp>
        <p:nvSpPr>
          <p:cNvPr id="19" name="Text: hard breaches"/>
          <p:cNvSpPr txBox="1"/>
          <p:nvPr/>
        </p:nvSpPr>
        <p:spPr>
          <a:xfrm>
            <a:off x="9262872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hard breaches</a:t>
            </a:r>
          </a:p>
        </p:txBody>
      </p:sp>
      <p:sp>
        <p:nvSpPr>
          <p:cNvPr id="20" name="Text: As of 12 August 2026  |  CONDITIONALLY_APPROVED  |"/>
          <p:cNvSpPr txBox="1"/>
          <p:nvPr/>
        </p:nvSpPr>
        <p:spPr>
          <a:xfrm>
            <a:off x="832104" y="6245352"/>
            <a:ext cx="105156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EAFAB"/>
                </a:solidFill>
                <a:latin typeface="Aptos"/>
              </a:rPr>
              <a:t>As of 12 August 2026  |  CONDITIONALLY_APPROVED  |  Research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he decision in one page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The decision in one page</a:t>
            </a:r>
          </a:p>
        </p:txBody>
      </p:sp>
      <p:sp>
        <p:nvSpPr>
          <p:cNvPr id="3" name="Text: Use the model as a governed process, not as an alp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Use the model as a governed process, not as an alpha promise.</a:t>
            </a:r>
          </a:p>
        </p:txBody>
      </p:sp>
      <p:sp>
        <p:nvSpPr>
          <p:cNvPr id="4" name="Text: 02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02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Validation scorecard and point-in-time strategy co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Validation scorecard and point-in-time strategy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07592"/>
            <a:ext cx="5394960" cy="1078992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07592"/>
            <a:ext cx="54864" cy="1078992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Recommendation"/>
          <p:cNvSpPr txBox="1"/>
          <p:nvPr/>
        </p:nvSpPr>
        <p:spPr>
          <a:xfrm>
            <a:off x="704088" y="1453895"/>
            <a:ext cx="506577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Recommendation</a:t>
            </a:r>
          </a:p>
        </p:txBody>
      </p:sp>
      <p:sp>
        <p:nvSpPr>
          <p:cNvPr id="11" name="Text: Approve a small, human-supervised live pilot. Do n"/>
          <p:cNvSpPr txBox="1"/>
          <p:nvPr/>
        </p:nvSpPr>
        <p:spPr>
          <a:xfrm>
            <a:off x="704088" y="1828800"/>
            <a:ext cx="5065776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Approve a small, human-supervised live pilot. Do not authorize unattended or full-scale deployment yet.</a:t>
            </a:r>
          </a:p>
        </p:txBody>
      </p:sp>
      <p:sp>
        <p:nvSpPr>
          <p:cNvPr id="12" name="Text: Why it earns a pilot"/>
          <p:cNvSpPr txBox="1"/>
          <p:nvPr/>
        </p:nvSpPr>
        <p:spPr>
          <a:xfrm>
            <a:off x="530352" y="2660904"/>
            <a:ext cx="5029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Why it earns a pilot</a:t>
            </a:r>
          </a:p>
        </p:txBody>
      </p:sp>
      <p:sp>
        <p:nvSpPr>
          <p:cNvPr id="13" name="Bullet list"/>
          <p:cNvSpPr txBox="1"/>
          <p:nvPr/>
        </p:nvSpPr>
        <p:spPr>
          <a:xfrm>
            <a:off x="530352" y="3054096"/>
            <a:ext cx="5285232" cy="239572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Repeatable screening across six equity regions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Five years of dated proxy decisions with positive net results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Hard portfolio limits held in every validated decision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Auditable inputs, forecasts, trades and governance outputs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1307592"/>
            <a:ext cx="5440680" cy="1078992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6208" y="1307592"/>
            <a:ext cx="54864" cy="1078992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What still blocks full deployment"/>
          <p:cNvSpPr txBox="1"/>
          <p:nvPr/>
        </p:nvSpPr>
        <p:spPr>
          <a:xfrm>
            <a:off x="6437376" y="1453895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What still blocks full deployment</a:t>
            </a:r>
          </a:p>
        </p:txBody>
      </p:sp>
      <p:sp>
        <p:nvSpPr>
          <p:cNvPr id="17" name="Text: Alpha is not statistically established. Turnover c"/>
          <p:cNvSpPr txBox="1"/>
          <p:nvPr/>
        </p:nvSpPr>
        <p:spPr>
          <a:xfrm>
            <a:off x="6437376" y="1828800"/>
            <a:ext cx="5111496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Alpha is not statistically established. Turnover consumes 2.35% per year, and tail-loss violations cluster over time.</a:t>
            </a:r>
          </a:p>
        </p:txBody>
      </p:sp>
      <p:graphicFrame>
        <p:nvGraphicFramePr>
          <p:cNvPr id="18" name="Evidence table"/>
          <p:cNvGraphicFramePr>
            <a:graphicFrameLocks noGrp="1"/>
          </p:cNvGraphicFramePr>
          <p:nvPr/>
        </p:nvGraphicFramePr>
        <p:xfrm>
          <a:off x="6236208" y="2660904"/>
          <a:ext cx="5440679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6573"/>
                <a:gridCol w="1612053"/>
                <a:gridCol w="1612053"/>
              </a:tblGrid>
              <a:tr h="385354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Decision area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Evidence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Process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Strong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Use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Hard constraints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 breaches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Use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Forecast calibration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Use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Risk backtest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Warning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Monitor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Net-of-cost edge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Unproven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Improve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85356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Deployable alpha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Not established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Do not claim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530352" y="5650992"/>
            <a:ext cx="11146536" cy="594360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5650992"/>
            <a:ext cx="54864" cy="594360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: Approval means: Pilot capital, pre-trade review, m"/>
          <p:cNvSpPr txBox="1"/>
          <p:nvPr/>
        </p:nvSpPr>
        <p:spPr>
          <a:xfrm>
            <a:off x="731519" y="5742431"/>
            <a:ext cx="10817352" cy="4297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Approval means: Pilot capital, pre-trade review, monthly risk reporting and explicit stop conditions. It does not mean automatic execution.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What the model actually doe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What the model actually does</a:t>
            </a:r>
          </a:p>
        </p:txBody>
      </p:sp>
      <p:sp>
        <p:nvSpPr>
          <p:cNvPr id="3" name="Text: A monthly decision pipeline with risk controls at 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A monthly decision pipeline with risk controls at the end.</a:t>
            </a:r>
          </a:p>
        </p:txBody>
      </p:sp>
      <p:sp>
        <p:nvSpPr>
          <p:cNvPr id="4" name="Text: 03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03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Repository pipeline stages and current resolved ou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Repository pipeline stages and current resolved outputs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65376"/>
            <a:ext cx="1581912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1  OBSERVE"/>
          <p:cNvSpPr txBox="1"/>
          <p:nvPr/>
        </p:nvSpPr>
        <p:spPr>
          <a:xfrm>
            <a:off x="63093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1  OBSERVE</a:t>
            </a:r>
          </a:p>
        </p:txBody>
      </p:sp>
      <p:sp>
        <p:nvSpPr>
          <p:cNvPr id="11" name="Text: Prices, filings, macro and portfolio"/>
          <p:cNvSpPr txBox="1"/>
          <p:nvPr/>
        </p:nvSpPr>
        <p:spPr>
          <a:xfrm>
            <a:off x="63093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Prices, filings, macro and portfolio</a:t>
            </a:r>
          </a:p>
        </p:txBody>
      </p:sp>
      <p:sp>
        <p:nvSpPr>
          <p:cNvPr id="12" name="Chevron 11"/>
          <p:cNvSpPr/>
          <p:nvPr/>
        </p:nvSpPr>
        <p:spPr>
          <a:xfrm>
            <a:off x="213055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77439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77439" y="1865376"/>
            <a:ext cx="1581912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2  FEATURE"/>
          <p:cNvSpPr txBox="1"/>
          <p:nvPr/>
        </p:nvSpPr>
        <p:spPr>
          <a:xfrm>
            <a:off x="250545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2  FEATURE</a:t>
            </a:r>
          </a:p>
        </p:txBody>
      </p:sp>
      <p:sp>
        <p:nvSpPr>
          <p:cNvPr id="16" name="Text: Point-in-time quality, value and risk signals"/>
          <p:cNvSpPr txBox="1"/>
          <p:nvPr/>
        </p:nvSpPr>
        <p:spPr>
          <a:xfrm>
            <a:off x="250545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Point-in-time quality, value and risk signals</a:t>
            </a:r>
          </a:p>
        </p:txBody>
      </p:sp>
      <p:sp>
        <p:nvSpPr>
          <p:cNvPr id="17" name="Chevron 16"/>
          <p:cNvSpPr/>
          <p:nvPr/>
        </p:nvSpPr>
        <p:spPr>
          <a:xfrm>
            <a:off x="400507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51959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1959" y="1865376"/>
            <a:ext cx="1581912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: 3  FORECAST"/>
          <p:cNvSpPr txBox="1"/>
          <p:nvPr/>
        </p:nvSpPr>
        <p:spPr>
          <a:xfrm>
            <a:off x="4379975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3  FORECAST</a:t>
            </a:r>
          </a:p>
        </p:txBody>
      </p:sp>
      <p:sp>
        <p:nvSpPr>
          <p:cNvPr id="21" name="Text: 3, 6, 9 and 12 month distributions"/>
          <p:cNvSpPr txBox="1"/>
          <p:nvPr/>
        </p:nvSpPr>
        <p:spPr>
          <a:xfrm>
            <a:off x="4379975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3, 6, 9 and 12 month distributions</a:t>
            </a:r>
          </a:p>
        </p:txBody>
      </p:sp>
      <p:sp>
        <p:nvSpPr>
          <p:cNvPr id="22" name="Chevron 21"/>
          <p:cNvSpPr/>
          <p:nvPr/>
        </p:nvSpPr>
        <p:spPr>
          <a:xfrm>
            <a:off x="587959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79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79" y="1865376"/>
            <a:ext cx="1581912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: 4  COMPARE"/>
          <p:cNvSpPr txBox="1"/>
          <p:nvPr/>
        </p:nvSpPr>
        <p:spPr>
          <a:xfrm>
            <a:off x="6254495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4  COMPARE</a:t>
            </a:r>
          </a:p>
        </p:txBody>
      </p:sp>
      <p:sp>
        <p:nvSpPr>
          <p:cNvPr id="26" name="Text: Portfolio-aware, clean-sheet and LLM branches"/>
          <p:cNvSpPr txBox="1"/>
          <p:nvPr/>
        </p:nvSpPr>
        <p:spPr>
          <a:xfrm>
            <a:off x="6254495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Portfolio-aware, clean-sheet and LLM branches</a:t>
            </a:r>
          </a:p>
        </p:txBody>
      </p:sp>
      <p:sp>
        <p:nvSpPr>
          <p:cNvPr id="27" name="Chevron 26"/>
          <p:cNvSpPr/>
          <p:nvPr/>
        </p:nvSpPr>
        <p:spPr>
          <a:xfrm>
            <a:off x="7754111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01000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01000" y="1865376"/>
            <a:ext cx="1581912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: 5  CONSTRAIN"/>
          <p:cNvSpPr txBox="1"/>
          <p:nvPr/>
        </p:nvSpPr>
        <p:spPr>
          <a:xfrm>
            <a:off x="812901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5  CONSTRAIN</a:t>
            </a:r>
          </a:p>
        </p:txBody>
      </p:sp>
      <p:sp>
        <p:nvSpPr>
          <p:cNvPr id="31" name="Text: CVaR, liquidity and concentration limits"/>
          <p:cNvSpPr txBox="1"/>
          <p:nvPr/>
        </p:nvSpPr>
        <p:spPr>
          <a:xfrm>
            <a:off x="812901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CVaR, liquidity and concentration limits</a:t>
            </a:r>
          </a:p>
        </p:txBody>
      </p:sp>
      <p:sp>
        <p:nvSpPr>
          <p:cNvPr id="32" name="Chevron 31"/>
          <p:cNvSpPr/>
          <p:nvPr/>
        </p:nvSpPr>
        <p:spPr>
          <a:xfrm>
            <a:off x="962863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875520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75520" y="1865376"/>
            <a:ext cx="1581912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: 6  GOVERN"/>
          <p:cNvSpPr txBox="1"/>
          <p:nvPr/>
        </p:nvSpPr>
        <p:spPr>
          <a:xfrm>
            <a:off x="1000353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6  GOVERN</a:t>
            </a:r>
          </a:p>
        </p:txBody>
      </p:sp>
      <p:sp>
        <p:nvSpPr>
          <p:cNvPr id="36" name="Text: Stress, validation and committee reporting"/>
          <p:cNvSpPr txBox="1"/>
          <p:nvPr/>
        </p:nvSpPr>
        <p:spPr>
          <a:xfrm>
            <a:off x="1000353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Stress, validation and committee reporting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242816"/>
            <a:ext cx="5486400" cy="1042415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4242816"/>
            <a:ext cx="54864" cy="1042415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: The output is a decision package"/>
          <p:cNvSpPr txBox="1"/>
          <p:nvPr/>
        </p:nvSpPr>
        <p:spPr>
          <a:xfrm>
            <a:off x="704088" y="4389120"/>
            <a:ext cx="515721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The output is a decision package</a:t>
            </a:r>
          </a:p>
        </p:txBody>
      </p:sp>
      <p:sp>
        <p:nvSpPr>
          <p:cNvPr id="40" name="Text: Ranked equities, target weights, trade direction, "/>
          <p:cNvSpPr txBox="1"/>
          <p:nvPr/>
        </p:nvSpPr>
        <p:spPr>
          <a:xfrm>
            <a:off x="704088" y="4764024"/>
            <a:ext cx="5157216" cy="40233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Ranked equities, target weights, trade direction, exposure limits, risk tests, stress results and an approval status.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36208" y="4242816"/>
            <a:ext cx="5440680" cy="1042415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36208" y="4242816"/>
            <a:ext cx="54864" cy="1042415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: DRL is a challenger, not the final authority"/>
          <p:cNvSpPr txBox="1"/>
          <p:nvPr/>
        </p:nvSpPr>
        <p:spPr>
          <a:xfrm>
            <a:off x="6437376" y="4389120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DRL is a challenger, not the final authority</a:t>
            </a:r>
          </a:p>
        </p:txBody>
      </p:sp>
      <p:sp>
        <p:nvSpPr>
          <p:cNvPr id="44" name="Text: The current DRL proposal was rejected because turn"/>
          <p:cNvSpPr txBox="1"/>
          <p:nvPr/>
        </p:nvSpPr>
        <p:spPr>
          <a:xfrm>
            <a:off x="6437376" y="4764024"/>
            <a:ext cx="5111496" cy="40233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current DRL proposal was rejected because turnover exceeded its hard limit. The CVaR baseline remained selected.</a:t>
            </a:r>
          </a:p>
        </p:txBody>
      </p:sp>
      <p:sp>
        <p:nvSpPr>
          <p:cNvPr id="45" name="Text: Human review stays between model recommendation an"/>
          <p:cNvSpPr txBox="1"/>
          <p:nvPr/>
        </p:nvSpPr>
        <p:spPr>
          <a:xfrm>
            <a:off x="530352" y="5650992"/>
            <a:ext cx="109728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B6F56"/>
                </a:solidFill>
                <a:latin typeface="Aptos Display"/>
              </a:rPr>
              <a:t>Human review stays between model recommendation and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Evidence breadth and provenance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Evidence breadth and provenance</a:t>
            </a:r>
          </a:p>
        </p:txBody>
      </p:sp>
      <p:sp>
        <p:nvSpPr>
          <p:cNvPr id="3" name="Text: The full universe is broad; the dated validation s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full universe is broad; the dated validation set is narrower.</a:t>
            </a:r>
          </a:p>
        </p:txBody>
      </p:sp>
      <p:sp>
        <p:nvSpPr>
          <p:cNvPr id="4" name="Text: 04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04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Universe summary and walk-forward manifest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Universe summary and walk-forward manifest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35024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112,570"/>
          <p:cNvSpPr txBox="1"/>
          <p:nvPr/>
        </p:nvSpPr>
        <p:spPr>
          <a:xfrm>
            <a:off x="667512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112,570</a:t>
            </a:r>
          </a:p>
        </p:txBody>
      </p:sp>
      <p:sp>
        <p:nvSpPr>
          <p:cNvPr id="11" name="Text: security master"/>
          <p:cNvSpPr txBox="1"/>
          <p:nvPr/>
        </p:nvSpPr>
        <p:spPr>
          <a:xfrm>
            <a:off x="667512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security master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9272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9272" y="1335024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55,504"/>
          <p:cNvSpPr txBox="1"/>
          <p:nvPr/>
        </p:nvSpPr>
        <p:spPr>
          <a:xfrm>
            <a:off x="3483864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55,504</a:t>
            </a:r>
          </a:p>
        </p:txBody>
      </p:sp>
      <p:sp>
        <p:nvSpPr>
          <p:cNvPr id="15" name="Text: active equities"/>
          <p:cNvSpPr txBox="1"/>
          <p:nvPr/>
        </p:nvSpPr>
        <p:spPr>
          <a:xfrm>
            <a:off x="3483864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active equities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35624" y="1335024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1,408"/>
          <p:cNvSpPr txBox="1"/>
          <p:nvPr/>
        </p:nvSpPr>
        <p:spPr>
          <a:xfrm>
            <a:off x="6300216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1,408</a:t>
            </a:r>
          </a:p>
        </p:txBody>
      </p:sp>
      <p:sp>
        <p:nvSpPr>
          <p:cNvPr id="19" name="Text: walk-forward eligible"/>
          <p:cNvSpPr txBox="1"/>
          <p:nvPr/>
        </p:nvSpPr>
        <p:spPr>
          <a:xfrm>
            <a:off x="6300216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walk-forward eligible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1335024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156,764"/>
          <p:cNvSpPr txBox="1"/>
          <p:nvPr/>
        </p:nvSpPr>
        <p:spPr>
          <a:xfrm>
            <a:off x="9116568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156,764</a:t>
            </a:r>
          </a:p>
        </p:txBody>
      </p:sp>
      <p:sp>
        <p:nvSpPr>
          <p:cNvPr id="23" name="Text: historical forecasts"/>
          <p:cNvSpPr txBox="1"/>
          <p:nvPr/>
        </p:nvSpPr>
        <p:spPr>
          <a:xfrm>
            <a:off x="9116568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historical forecasts</a:t>
            </a:r>
          </a:p>
        </p:txBody>
      </p:sp>
      <p:graphicFrame>
        <p:nvGraphicFramePr>
          <p:cNvPr id="24" name="Evidence table"/>
          <p:cNvGraphicFramePr>
            <a:graphicFrameLocks noGrp="1"/>
          </p:cNvGraphicFramePr>
          <p:nvPr/>
        </p:nvGraphicFramePr>
        <p:xfrm>
          <a:off x="502920" y="2587752"/>
          <a:ext cx="5577837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9432"/>
                <a:gridCol w="1042586"/>
                <a:gridCol w="1042586"/>
                <a:gridCol w="1303233"/>
              </a:tblGrid>
              <a:tr h="407561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Active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Master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Active share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21,603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38,792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55.7%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2,436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5,088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47.9%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Hong Kong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3,504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4,130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84.8%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5,103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5,373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3,932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6,664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59.0%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18,926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52,523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36.0%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Evidence table"/>
          <p:cNvGraphicFramePr>
            <a:graphicFrameLocks noGrp="1"/>
          </p:cNvGraphicFramePr>
          <p:nvPr/>
        </p:nvGraphicFramePr>
        <p:xfrm>
          <a:off x="6336792" y="2587752"/>
          <a:ext cx="5340095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4739"/>
                <a:gridCol w="1256493"/>
                <a:gridCol w="2198863"/>
              </a:tblGrid>
              <a:tr h="407561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Evidence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Rows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Meaning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Prices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3,307,843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Observed bars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Statements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7,632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Reported annuals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Aligned outcomes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156,312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99.7% matched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Risk observations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1,141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Daily checks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Chronology breaches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40756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Hard breaches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502920" y="5650992"/>
            <a:ext cx="11173968" cy="59436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650992"/>
            <a:ext cx="54864" cy="59436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: Important boundary: Historical filing dates are co"/>
          <p:cNvSpPr txBox="1"/>
          <p:nvPr/>
        </p:nvSpPr>
        <p:spPr>
          <a:xfrm>
            <a:off x="704088" y="5742431"/>
            <a:ext cx="10844784" cy="4297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Important boundary: Historical filing dates are conservatively reconstructed where observed timestamps are unavailable. This caps approval at conditional, even though chronology checks pass.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Equities to establish in the target portfolio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Equities to establish in the target portfolio</a:t>
            </a:r>
          </a:p>
        </p:txBody>
      </p:sp>
      <p:sp>
        <p:nvSpPr>
          <p:cNvPr id="3" name="Text: Model trade direction versus current holdings; wei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Model trade direction versus current holdings; weights are targets.</a:t>
            </a:r>
          </a:p>
        </p:txBody>
      </p:sp>
      <p:sp>
        <p:nvSpPr>
          <p:cNvPr id="4" name="Text: 05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05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Final portfolio weights and portfolio trade list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Final portfolio weights and portfolio trade 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71016"/>
            <a:ext cx="2103120" cy="932688"/>
          </a:xfrm>
          <a:prstGeom prst="rect">
            <a:avLst/>
          </a:prstGeom>
          <a:solidFill>
            <a:srgbClr val="E8F4E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71016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19"/>
          <p:cNvSpPr txBox="1"/>
          <p:nvPr/>
        </p:nvSpPr>
        <p:spPr>
          <a:xfrm>
            <a:off x="667512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19</a:t>
            </a:r>
          </a:p>
        </p:txBody>
      </p:sp>
      <p:sp>
        <p:nvSpPr>
          <p:cNvPr id="11" name="Text: buy actions"/>
          <p:cNvSpPr txBox="1"/>
          <p:nvPr/>
        </p:nvSpPr>
        <p:spPr>
          <a:xfrm>
            <a:off x="667512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buy 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61488" y="1271016"/>
            <a:ext cx="2103120" cy="932688"/>
          </a:xfrm>
          <a:prstGeom prst="rect">
            <a:avLst/>
          </a:prstGeom>
          <a:solidFill>
            <a:srgbClr val="FBF3D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61488" y="1271016"/>
            <a:ext cx="50292" cy="93268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1"/>
          <p:cNvSpPr txBox="1"/>
          <p:nvPr/>
        </p:nvSpPr>
        <p:spPr>
          <a:xfrm>
            <a:off x="2926080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</a:t>
            </a:r>
          </a:p>
        </p:txBody>
      </p:sp>
      <p:sp>
        <p:nvSpPr>
          <p:cNvPr id="15" name="Text: reduce actions"/>
          <p:cNvSpPr txBox="1"/>
          <p:nvPr/>
        </p:nvSpPr>
        <p:spPr>
          <a:xfrm>
            <a:off x="2926080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reduce actions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0056" y="1271016"/>
            <a:ext cx="21031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0056" y="1271016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5.0%"/>
          <p:cNvSpPr txBox="1"/>
          <p:nvPr/>
        </p:nvSpPr>
        <p:spPr>
          <a:xfrm>
            <a:off x="5184648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5.0%</a:t>
            </a:r>
          </a:p>
        </p:txBody>
      </p:sp>
      <p:sp>
        <p:nvSpPr>
          <p:cNvPr id="19" name="Text: target per name"/>
          <p:cNvSpPr txBox="1"/>
          <p:nvPr/>
        </p:nvSpPr>
        <p:spPr>
          <a:xfrm>
            <a:off x="5184648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target per name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78624" y="1271016"/>
            <a:ext cx="21031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78624" y="1271016"/>
            <a:ext cx="50292" cy="932688"/>
          </a:xfrm>
          <a:prstGeom prst="rect">
            <a:avLst/>
          </a:prstGeom>
          <a:solidFill>
            <a:srgbClr val="2B7280"/>
          </a:solidFill>
          <a:ln w="10160">
            <a:solidFill>
              <a:srgbClr val="2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20"/>
          <p:cNvSpPr txBox="1"/>
          <p:nvPr/>
        </p:nvSpPr>
        <p:spPr>
          <a:xfrm>
            <a:off x="7443216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20</a:t>
            </a:r>
          </a:p>
        </p:txBody>
      </p:sp>
      <p:sp>
        <p:nvSpPr>
          <p:cNvPr id="23" name="Text: target holdings"/>
          <p:cNvSpPr txBox="1"/>
          <p:nvPr/>
        </p:nvSpPr>
        <p:spPr>
          <a:xfrm>
            <a:off x="7443216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target holdings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1271016"/>
            <a:ext cx="2139696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37192" y="1271016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: 6"/>
          <p:cNvSpPr txBox="1"/>
          <p:nvPr/>
        </p:nvSpPr>
        <p:spPr>
          <a:xfrm>
            <a:off x="9701784" y="1399031"/>
            <a:ext cx="1883663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6</a:t>
            </a:r>
          </a:p>
        </p:txBody>
      </p:sp>
      <p:sp>
        <p:nvSpPr>
          <p:cNvPr id="27" name="Text: equity regions"/>
          <p:cNvSpPr txBox="1"/>
          <p:nvPr/>
        </p:nvSpPr>
        <p:spPr>
          <a:xfrm>
            <a:off x="9701784" y="1801367"/>
            <a:ext cx="1883663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equity regions</a:t>
            </a:r>
          </a:p>
        </p:txBody>
      </p:sp>
      <p:graphicFrame>
        <p:nvGraphicFramePr>
          <p:cNvPr id="28" name="Evidence table"/>
          <p:cNvGraphicFramePr>
            <a:graphicFrameLocks noGrp="1"/>
          </p:cNvGraphicFramePr>
          <p:nvPr/>
        </p:nvGraphicFramePr>
        <p:xfrm>
          <a:off x="502920" y="2496312"/>
          <a:ext cx="5385814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"/>
                <a:gridCol w="2065237"/>
                <a:gridCol w="1093361"/>
                <a:gridCol w="728907"/>
                <a:gridCol w="647917"/>
              </a:tblGrid>
              <a:tr h="309233"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Ticker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Company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000333.SHE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Midea Group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000538.SHE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Yunnan Baiyao Group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0823.HK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Link Real Estate Investment 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Hong Kong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3988.HK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Bank of China Ltd 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Hong Kong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600018.SHG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Shanghai International Port 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600036.SHG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China Merchants Bank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601816.SHG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Beijing-Shanghai High Speed 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601818.SHG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China Everbright Bank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AD.AS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Koninklijke Ahold Delhaize NV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8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ALV.XETRA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Allianz SE VNA O.N.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Evidence table"/>
          <p:cNvGraphicFramePr>
            <a:graphicFrameLocks noGrp="1"/>
          </p:cNvGraphicFramePr>
          <p:nvPr/>
        </p:nvGraphicFramePr>
        <p:xfrm>
          <a:off x="6135624" y="2496312"/>
          <a:ext cx="5385814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"/>
                <a:gridCol w="2065237"/>
                <a:gridCol w="1093361"/>
                <a:gridCol w="728907"/>
                <a:gridCol w="647917"/>
              </a:tblGrid>
              <a:tr h="309233"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Ticker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Company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CS.PA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AXA SA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ESSITY-B.ST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Essity AB (publ)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HEN3.XETRA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Henkel AG &amp; Co. KGaA vz. (Pre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LI.PA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Klepierre SA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MCD.US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McDonalds Corporation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ORA.PA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Orange S.A.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PG.US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Procter &amp; Gamble Company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SBRY.LSE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J Sainsbury PLC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SHEL.US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Shell PLC ADR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8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NOVN.SW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Novartis AG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Reduce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: Execution note: recalculate orders using live NAV,"/>
          <p:cNvSpPr txBox="1"/>
          <p:nvPr/>
        </p:nvSpPr>
        <p:spPr>
          <a:xfrm>
            <a:off x="530352" y="6108192"/>
            <a:ext cx="11109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BB4A4A"/>
                </a:solidFill>
                <a:latin typeface="Aptos"/>
              </a:rPr>
              <a:t>Execution note: recalculate orders using live NAV, FX, liquidity and prices. Manual review remains mandatory.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A deliberately diversified target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A deliberately diversified target</a:t>
            </a:r>
          </a:p>
        </p:txBody>
      </p:sp>
      <p:sp>
        <p:nvSpPr>
          <p:cNvPr id="3" name="Text: The portfolio uses equal name weights and explicit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portfolio uses equal name weights and explicit exposure caps.</a:t>
            </a:r>
          </a:p>
        </p:txBody>
      </p:sp>
      <p:sp>
        <p:nvSpPr>
          <p:cNvPr id="4" name="Text: 06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06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Final portfolio weights and constraint report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Final portfolio weights and constraint report</a:t>
            </a:r>
          </a:p>
        </p:txBody>
      </p:sp>
      <p:pic>
        <p:nvPicPr>
          <p:cNvPr id="8" name="Chart: final_portfolio_exposures.png" descr="final_portfolio_expos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51188"/>
            <a:ext cx="7498079" cy="3513407"/>
          </a:xfrm>
          <a:prstGeom prst="rect">
            <a:avLst/>
          </a:prstGeom>
        </p:spPr>
      </p:pic>
      <p:sp>
        <p:nvSpPr>
          <p:cNvPr id="9" name="Text: Construction rules"/>
          <p:cNvSpPr txBox="1"/>
          <p:nvPr/>
        </p:nvSpPr>
        <p:spPr>
          <a:xfrm>
            <a:off x="8174736" y="1408176"/>
            <a:ext cx="333756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Construction rules</a:t>
            </a:r>
          </a:p>
        </p:txBody>
      </p:sp>
      <p:sp>
        <p:nvSpPr>
          <p:cNvPr id="10" name="Bullet list"/>
          <p:cNvSpPr txBox="1"/>
          <p:nvPr/>
        </p:nvSpPr>
        <p:spPr>
          <a:xfrm>
            <a:off x="8174736" y="1856231"/>
            <a:ext cx="3337560" cy="241401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20 holdings at 5% each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No sector above 25%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No country above 30%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No region or currency above 40%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One listing per issuer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No quarantined price history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4736" y="4590288"/>
            <a:ext cx="3401568" cy="1078992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74736" y="4590288"/>
            <a:ext cx="54864" cy="1078992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Largest allocations"/>
          <p:cNvSpPr txBox="1"/>
          <p:nvPr/>
        </p:nvSpPr>
        <p:spPr>
          <a:xfrm>
            <a:off x="8375904" y="4736592"/>
            <a:ext cx="3072384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Largest allocations</a:t>
            </a:r>
          </a:p>
        </p:txBody>
      </p:sp>
      <p:sp>
        <p:nvSpPr>
          <p:cNvPr id="14" name="Text: Mainland China 30%; EU ex-DACH 25%; Financials and"/>
          <p:cNvSpPr txBox="1"/>
          <p:nvPr/>
        </p:nvSpPr>
        <p:spPr>
          <a:xfrm>
            <a:off x="8375904" y="5111496"/>
            <a:ext cx="3072384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Mainland China 30%; EU ex-DACH 25%; Financials and Consumer Staples 25% each.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Why the CVaR portfolio is the baseline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Why the CVaR portfolio is the baseline</a:t>
            </a:r>
          </a:p>
        </p:txBody>
      </p:sp>
      <p:sp>
        <p:nvSpPr>
          <p:cNvPr id="3" name="Text: It balances expected return, downside loss and div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It balances expected return, downside loss and diversification.</a:t>
            </a:r>
          </a:p>
        </p:txBody>
      </p:sp>
      <p:sp>
        <p:nvSpPr>
          <p:cNvPr id="4" name="Text: 07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07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ortfolio optimisation summary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Portfolio optimisation summary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89888"/>
          <a:ext cx="6720836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0865"/>
                <a:gridCol w="1160432"/>
                <a:gridCol w="1160432"/>
                <a:gridCol w="918675"/>
                <a:gridCol w="1160432"/>
              </a:tblGrid>
              <a:tr h="508635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Portfolio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Volatility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CVaR 5%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Yield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Hard breaches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Equal weight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14.7%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-27.4%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Score weighted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12.5%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-9.5%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Risk parity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10.9%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-9.8%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Mean variance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11.3%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-5.6%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CVaR constrained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11.1%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-5.1%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4.3%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Dividend income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13.6%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-13.5%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Regime aware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13.0%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-11.3%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516368" y="1389888"/>
            <a:ext cx="4160520" cy="1170432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16368" y="1389888"/>
            <a:ext cx="54864" cy="1170432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Selected: CVaR constrained"/>
          <p:cNvSpPr txBox="1"/>
          <p:nvPr/>
        </p:nvSpPr>
        <p:spPr>
          <a:xfrm>
            <a:off x="7717536" y="1536192"/>
            <a:ext cx="3831335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Selected: CVaR constrained</a:t>
            </a:r>
          </a:p>
        </p:txBody>
      </p:sp>
      <p:sp>
        <p:nvSpPr>
          <p:cNvPr id="12" name="Text: The baseline keeps the forecast return target whil"/>
          <p:cNvSpPr txBox="1"/>
          <p:nvPr/>
        </p:nvSpPr>
        <p:spPr>
          <a:xfrm>
            <a:off x="7717536" y="1911095"/>
            <a:ext cx="3831335" cy="5303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baseline keeps the forecast return target while reducing the average loss in the worst 5% of modeled outcomes to 5.10%.</a:t>
            </a:r>
          </a:p>
        </p:txBody>
      </p:sp>
      <p:sp>
        <p:nvSpPr>
          <p:cNvPr id="13" name="Text: Why this matters"/>
          <p:cNvSpPr txBox="1"/>
          <p:nvPr/>
        </p:nvSpPr>
        <p:spPr>
          <a:xfrm>
            <a:off x="7543800" y="2898648"/>
            <a:ext cx="38404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Why this matters</a:t>
            </a:r>
          </a:p>
        </p:txBody>
      </p:sp>
      <p:sp>
        <p:nvSpPr>
          <p:cNvPr id="14" name="Bullet list"/>
          <p:cNvSpPr txBox="1"/>
          <p:nvPr/>
        </p:nvSpPr>
        <p:spPr>
          <a:xfrm>
            <a:off x="7543800" y="3346704"/>
            <a:ext cx="3968496" cy="1874519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Focuses on severe downside, not only average volatility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Maintains 20 effective holdings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Passes every hard portfolio constraint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Produces the final 20-name equal-weight target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16368" y="5367528"/>
            <a:ext cx="4160520" cy="68580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16368" y="5367528"/>
            <a:ext cx="54864" cy="68580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Interpret carefully: Expected-return inputs are mo"/>
          <p:cNvSpPr txBox="1"/>
          <p:nvPr/>
        </p:nvSpPr>
        <p:spPr>
          <a:xfrm>
            <a:off x="7717536" y="5458968"/>
            <a:ext cx="3831335" cy="5212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Interpret carefully: Expected-return inputs are model forecasts, not guaranteed market returns. Live sizing still depends on trading capacity.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Five-year point-in-time proxy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Five-year point-in-time proxy</a:t>
            </a:r>
          </a:p>
        </p:txBody>
      </p:sp>
      <p:sp>
        <p:nvSpPr>
          <p:cNvPr id="3" name="Text: The relevant model evidence uses dated monthly dec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relevant model evidence uses dated monthly decisions.</a:t>
            </a:r>
          </a:p>
        </p:txBody>
      </p:sp>
      <p:sp>
        <p:nvSpPr>
          <p:cNvPr id="4" name="Text: 08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08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60-month reconstructed point-in-time portfolio ret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60-month reconstructed point-in-time portfolio returns</a:t>
            </a:r>
          </a:p>
        </p:txBody>
      </p:sp>
      <p:pic>
        <p:nvPicPr>
          <p:cNvPr id="8" name="Chart: pit_capital_projection.png" descr="pit_capital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00662"/>
            <a:ext cx="7726679" cy="37058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39327" y="1380744"/>
            <a:ext cx="3337560" cy="1069848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39327" y="1380744"/>
            <a:ext cx="54864" cy="106984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Illustrative current-AUM result"/>
          <p:cNvSpPr txBox="1"/>
          <p:nvPr/>
        </p:nvSpPr>
        <p:spPr>
          <a:xfrm>
            <a:off x="8540496" y="1527048"/>
            <a:ext cx="300837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Illustrative current-AUM result</a:t>
            </a:r>
          </a:p>
        </p:txBody>
      </p:sp>
      <p:sp>
        <p:nvSpPr>
          <p:cNvPr id="12" name="Text: $186.1m grows to $352.9m; net PnL is $166.9m after"/>
          <p:cNvSpPr txBox="1"/>
          <p:nvPr/>
        </p:nvSpPr>
        <p:spPr>
          <a:xfrm>
            <a:off x="8540496" y="1901952"/>
            <a:ext cx="3008376" cy="4297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$186.1m grows to $352.9m; net PnL is $166.9m after trading costs and before the bank fee.</a:t>
            </a:r>
          </a:p>
        </p:txBody>
      </p:sp>
      <p:sp>
        <p:nvSpPr>
          <p:cNvPr id="13" name="Bullet list"/>
          <p:cNvSpPr txBox="1"/>
          <p:nvPr/>
        </p:nvSpPr>
        <p:spPr>
          <a:xfrm>
            <a:off x="8357616" y="2770632"/>
            <a:ext cx="3182112" cy="17830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Net annualised return: 13.7%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Sharpe ratio: 1.16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Maximum drawdown: -13.7%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Positive months: 63.3%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39327" y="4956048"/>
            <a:ext cx="3337560" cy="96012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39327" y="4956048"/>
            <a:ext cx="54864" cy="96012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Not a forecast"/>
          <p:cNvSpPr txBox="1"/>
          <p:nvPr/>
        </p:nvSpPr>
        <p:spPr>
          <a:xfrm>
            <a:off x="8540496" y="5102352"/>
            <a:ext cx="300837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Not a forecast</a:t>
            </a:r>
          </a:p>
        </p:txBody>
      </p:sp>
      <p:sp>
        <p:nvSpPr>
          <p:cNvPr id="17" name="Text: This scales the realised proxy path to current AUM"/>
          <p:cNvSpPr txBox="1"/>
          <p:nvPr/>
        </p:nvSpPr>
        <p:spPr>
          <a:xfrm>
            <a:off x="8540496" y="5477256"/>
            <a:ext cx="3008376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This scales the realised proxy path to current AUM. The 25 bp annual bank fee is modeled separately in the long replay.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What beat what over 60 month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What beat what over 60 months</a:t>
            </a:r>
          </a:p>
        </p:txBody>
      </p:sp>
      <p:sp>
        <p:nvSpPr>
          <p:cNvPr id="3" name="Text: Wolf delivered the best risk-adjusted result, not 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Wolf delivered the best risk-adjusted result, not the best return.</a:t>
            </a:r>
          </a:p>
        </p:txBody>
      </p:sp>
      <p:sp>
        <p:nvSpPr>
          <p:cNvPr id="4" name="Text: 09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09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oint-in-time strategy comparison, net of modeled 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Point-in-time strategy comparison, net of modeled costs</a:t>
            </a:r>
          </a:p>
        </p:txBody>
      </p:sp>
      <p:pic>
        <p:nvPicPr>
          <p:cNvPr id="8" name="Chart: pit_metric_comparison.png" descr="pit_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41130"/>
            <a:ext cx="7589520" cy="276776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02752" y="1426464"/>
            <a:ext cx="3374136" cy="1143000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02752" y="1426464"/>
            <a:ext cx="54864" cy="1143000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The useful result"/>
          <p:cNvSpPr txBox="1"/>
          <p:nvPr/>
        </p:nvSpPr>
        <p:spPr>
          <a:xfrm>
            <a:off x="8503920" y="1572768"/>
            <a:ext cx="304495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The useful result</a:t>
            </a:r>
          </a:p>
        </p:txBody>
      </p:sp>
      <p:sp>
        <p:nvSpPr>
          <p:cNvPr id="12" name="Text: Wolf Sharpe was 1.16 and drawdown was 13.72%, bett"/>
          <p:cNvSpPr txBox="1"/>
          <p:nvPr/>
        </p:nvSpPr>
        <p:spPr>
          <a:xfrm>
            <a:off x="8503920" y="1947672"/>
            <a:ext cx="3044952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Wolf Sharpe was 1.16 and drawdown was 13.72%, better than both simple controls on these risk measures.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02752" y="2889504"/>
            <a:ext cx="3374136" cy="114300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02752" y="2889504"/>
            <a:ext cx="54864" cy="114300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The honest result"/>
          <p:cNvSpPr txBox="1"/>
          <p:nvPr/>
        </p:nvSpPr>
        <p:spPr>
          <a:xfrm>
            <a:off x="8503920" y="3035808"/>
            <a:ext cx="304495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The honest result</a:t>
            </a:r>
          </a:p>
        </p:txBody>
      </p:sp>
      <p:sp>
        <p:nvSpPr>
          <p:cNvPr id="16" name="Text: Equal weight returned 14.84% versus Wolf at 13.66%"/>
          <p:cNvSpPr txBox="1"/>
          <p:nvPr/>
        </p:nvSpPr>
        <p:spPr>
          <a:xfrm>
            <a:off x="8503920" y="3410712"/>
            <a:ext cx="3044952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Equal weight returned 14.84% versus Wolf at 13.66%. The model did not beat the simplest control on net return.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02752" y="4352544"/>
            <a:ext cx="3374136" cy="1143000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02752" y="4352544"/>
            <a:ext cx="54864" cy="1143000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Investment interpretation"/>
          <p:cNvSpPr txBox="1"/>
          <p:nvPr/>
        </p:nvSpPr>
        <p:spPr>
          <a:xfrm>
            <a:off x="8503920" y="4498848"/>
            <a:ext cx="304495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Investment interpretation</a:t>
            </a:r>
          </a:p>
        </p:txBody>
      </p:sp>
      <p:sp>
        <p:nvSpPr>
          <p:cNvPr id="20" name="Text: The current case is risk control and decision disc"/>
          <p:cNvSpPr txBox="1"/>
          <p:nvPr/>
        </p:nvSpPr>
        <p:spPr>
          <a:xfrm>
            <a:off x="8503920" y="4873752"/>
            <a:ext cx="3044952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current case is risk control and decision discipline. Incremental stock-selection alpha remains unproven.</a:t>
            </a:r>
          </a:p>
        </p:txBody>
      </p:sp>
      <p:sp>
        <p:nvSpPr>
          <p:cNvPr id="21" name="Text: Highest return: Equal weight  |  Highest Sharpe: W"/>
          <p:cNvSpPr txBox="1"/>
          <p:nvPr/>
        </p:nvSpPr>
        <p:spPr>
          <a:xfrm>
            <a:off x="530352" y="5934456"/>
            <a:ext cx="11064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0B6F56"/>
                </a:solidFill>
                <a:latin typeface="Aptos"/>
              </a:rPr>
              <a:t>Highest return: Equal weight  |  Highest Sharpe: Wolf  |  Smallest drawdown: Wolf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Alpha and overfitting: the hard truth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Alpha and overfitting: the hard truth</a:t>
            </a:r>
          </a:p>
        </p:txBody>
      </p:sp>
      <p:sp>
        <p:nvSpPr>
          <p:cNvPr id="3" name="Text: The retrospective strategies are interesting; dep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retrospective strategies are interesting; deployable alpha is not established.</a:t>
            </a:r>
          </a:p>
        </p:txBody>
      </p:sp>
      <p:sp>
        <p:nvSpPr>
          <p:cNvPr id="4" name="Text: 10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10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oint-in-time alpha tests and CSCV overfitting dia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Point-in-time alpha tests and CSCV overfitting diagnostics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89888"/>
          <a:ext cx="5614413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4673"/>
                <a:gridCol w="1058455"/>
                <a:gridCol w="966415"/>
                <a:gridCol w="782336"/>
                <a:gridCol w="1242534"/>
              </a:tblGrid>
              <a:tr h="487680"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Benchmark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Active return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Reg. alpha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p-value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Verdict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Cap weight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3.43%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4.40%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0.108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NOT SIGNIFICANT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Equal weight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-1.24%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3.29%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0.312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NOT SIGNIFICANT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Chart: overfitting_haircut.png" descr="overfitting_hair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936" y="1348312"/>
            <a:ext cx="5330952" cy="305495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3246120"/>
            <a:ext cx="5614416" cy="123444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54864" cy="123444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What the 50.3% fall means"/>
          <p:cNvSpPr txBox="1"/>
          <p:nvPr/>
        </p:nvSpPr>
        <p:spPr>
          <a:xfrm>
            <a:off x="704088" y="3392424"/>
            <a:ext cx="5285231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What the 50.3% fall means</a:t>
            </a:r>
          </a:p>
        </p:txBody>
      </p:sp>
      <p:sp>
        <p:nvSpPr>
          <p:cNvPr id="13" name="Text: When history selects the apparent winner, its info"/>
          <p:cNvSpPr txBox="1"/>
          <p:nvPr/>
        </p:nvSpPr>
        <p:spPr>
          <a:xfrm>
            <a:off x="704088" y="3767328"/>
            <a:ext cx="5285231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When history selects the apparent winner, its information ratio typically drops from 1.32 in-sample to 0.66 out-of-sample. About half the apparent edge does not survive selection.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791456"/>
            <a:ext cx="11173968" cy="1097280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791456"/>
            <a:ext cx="54864" cy="1097280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Decision"/>
          <p:cNvSpPr txBox="1"/>
          <p:nvPr/>
        </p:nvSpPr>
        <p:spPr>
          <a:xfrm>
            <a:off x="704088" y="4937760"/>
            <a:ext cx="10844784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Decision</a:t>
            </a:r>
          </a:p>
        </p:txBody>
      </p:sp>
      <p:sp>
        <p:nvSpPr>
          <p:cNvPr id="17" name="Text: Use Wolf for disciplined ranking and risk control."/>
          <p:cNvSpPr txBox="1"/>
          <p:nvPr/>
        </p:nvSpPr>
        <p:spPr>
          <a:xfrm>
            <a:off x="704088" y="5312664"/>
            <a:ext cx="1084478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Use Wolf for disciplined ranking and risk control. Do not market it as a proven alpha engine until native live evidence clears the benchmark and cost hurdles.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he 1997 replay is a stress map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The 1997 replay is a stress map</a:t>
            </a:r>
          </a:p>
        </p:txBody>
      </p:sp>
      <p:sp>
        <p:nvSpPr>
          <p:cNvPr id="3" name="Text: It shows how today's holdings behaved through hist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It shows how today's holdings behaved through history, not what the model knew then.</a:t>
            </a:r>
          </a:p>
        </p:txBody>
      </p:sp>
      <p:sp>
        <p:nvSpPr>
          <p:cNvPr id="4" name="Text: 11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11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1997-present retrospective holdings replay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1997-present retrospective holdings replay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99032"/>
          <a:ext cx="6583680" cy="305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51560"/>
                <a:gridCol w="731520"/>
                <a:gridCol w="685800"/>
                <a:gridCol w="822960"/>
                <a:gridCol w="1143000"/>
              </a:tblGrid>
              <a:tr h="509016"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Portfolio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Start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CAGR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Sharpe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Max DD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End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Current Portfolio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$186.1m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14.1%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0.75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-42.6%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$9.0bn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Portfolio-Aware Overlay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$186.1m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13.0%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0.77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-41.2%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$6.8bn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Risk-Parity Optimiser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$100.0k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10.9%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0.77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-30.6%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$2.1m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LLM Analyst Benchmark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$100.0k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0.81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-20.9%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$1.5m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Final Resolved Portfolio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$186.1m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9.1%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0.65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-28.4%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$2.4bn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Chart: risk_return.png" descr="risk_ret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912" y="1860777"/>
            <a:ext cx="4379976" cy="223118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4791456"/>
            <a:ext cx="5486400" cy="1143000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791456"/>
            <a:ext cx="54864" cy="1143000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What looks strongest"/>
          <p:cNvSpPr txBox="1"/>
          <p:nvPr/>
        </p:nvSpPr>
        <p:spPr>
          <a:xfrm>
            <a:off x="704088" y="4937760"/>
            <a:ext cx="515721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What looks strongest</a:t>
            </a:r>
          </a:p>
        </p:txBody>
      </p:sp>
      <p:sp>
        <p:nvSpPr>
          <p:cNvPr id="13" name="Text: Current Portfolio PnL: $8.8bn. Final Resolved PnL:"/>
          <p:cNvSpPr txBox="1"/>
          <p:nvPr/>
        </p:nvSpPr>
        <p:spPr>
          <a:xfrm>
            <a:off x="704088" y="5312664"/>
            <a:ext cx="5157216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Current Portfolio PnL: $8.8bn. Final Resolved PnL: $2.2bn. Risk Parity led the independent optimisers.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4791456"/>
            <a:ext cx="5440680" cy="114300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6208" y="4791456"/>
            <a:ext cx="54864" cy="114300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Why it cannot prove selection skill"/>
          <p:cNvSpPr txBox="1"/>
          <p:nvPr/>
        </p:nvSpPr>
        <p:spPr>
          <a:xfrm>
            <a:off x="6437376" y="4937760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Why it cannot prove selection skill</a:t>
            </a:r>
          </a:p>
        </p:txBody>
      </p:sp>
      <p:sp>
        <p:nvSpPr>
          <p:cNvPr id="17" name="Text: The securities were chosen with current informatio"/>
          <p:cNvSpPr txBox="1"/>
          <p:nvPr/>
        </p:nvSpPr>
        <p:spPr>
          <a:xfrm>
            <a:off x="6437376" y="5312664"/>
            <a:ext cx="5111496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securities were chosen with current information and then replayed backward. Survivorship and selection look-ahead make the long PnL unsuitable as a live promise.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Performance through major market shock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Performance through major market shocks</a:t>
            </a:r>
          </a:p>
        </p:txBody>
      </p:sp>
      <p:sp>
        <p:nvSpPr>
          <p:cNvPr id="3" name="Text: Event windows are descriptive overlaps, not causa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Event windows are descriptive overlaps, not causal estimates.</a:t>
            </a:r>
          </a:p>
        </p:txBody>
      </p:sp>
      <p:sp>
        <p:nvSpPr>
          <p:cNvPr id="4" name="Text: 12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12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Macro-event timeline and event performance table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Macro-event timeline and event performance table</a:t>
            </a:r>
          </a:p>
        </p:txBody>
      </p:sp>
      <p:pic>
        <p:nvPicPr>
          <p:cNvPr id="8" name="Chart: macro_event_timeline.png" descr="macro_event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811" y="1179576"/>
            <a:ext cx="8068185" cy="440740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5641848"/>
            <a:ext cx="3511296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641848"/>
            <a:ext cx="54864" cy="557784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COVID-19: -12.58% return; -15.19% event drawdown"/>
          <p:cNvSpPr txBox="1"/>
          <p:nvPr/>
        </p:nvSpPr>
        <p:spPr>
          <a:xfrm>
            <a:off x="704088" y="5733288"/>
            <a:ext cx="3182112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COVID-19: -12.58% return; -15.19% event drawdown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5641848"/>
            <a:ext cx="3511296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5641848"/>
            <a:ext cx="54864" cy="557784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2008 crisis: -27.12% event drawdown"/>
          <p:cNvSpPr txBox="1"/>
          <p:nvPr/>
        </p:nvSpPr>
        <p:spPr>
          <a:xfrm>
            <a:off x="4471416" y="5733288"/>
            <a:ext cx="3182112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2008 crisis: -27.12% event drawdown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7576" y="5641848"/>
            <a:ext cx="3511296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7576" y="5641848"/>
            <a:ext cx="54864" cy="557784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2026 Iran war: +3.57% return; -5.27% drawdown"/>
          <p:cNvSpPr txBox="1"/>
          <p:nvPr/>
        </p:nvSpPr>
        <p:spPr>
          <a:xfrm>
            <a:off x="8238744" y="5733288"/>
            <a:ext cx="3182112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2026 Iran war: +3.57% return; -5.27% drawdown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Interest-rate and market-regime context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Interest-rate and market-regime context</a:t>
            </a:r>
          </a:p>
        </p:txBody>
      </p:sp>
      <p:sp>
        <p:nvSpPr>
          <p:cNvPr id="3" name="Text: Conditional groupings show where the final portfo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Conditional groupings show where the final portfolio was most comfortable.</a:t>
            </a:r>
          </a:p>
        </p:txBody>
      </p:sp>
      <p:sp>
        <p:nvSpPr>
          <p:cNvPr id="4" name="Text: 13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13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Lagged rate and market-regime performance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Lagged rate and market-regime performance</a:t>
            </a:r>
          </a:p>
        </p:txBody>
      </p:sp>
      <p:pic>
        <p:nvPicPr>
          <p:cNvPr id="8" name="Chart: interest_rate_performance.png" descr="interest_rate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" y="2081564"/>
            <a:ext cx="5687568" cy="2502847"/>
          </a:xfrm>
          <a:prstGeom prst="rect">
            <a:avLst/>
          </a:prstGeom>
        </p:spPr>
      </p:pic>
      <p:pic>
        <p:nvPicPr>
          <p:cNvPr id="9" name="Chart: market_regime_performance.png" descr="market_regime_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95648"/>
            <a:ext cx="5623560" cy="247467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522976"/>
            <a:ext cx="5440680" cy="676656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522976"/>
            <a:ext cx="54864" cy="676656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Rate reading: Final Portfolio was strongest in hig"/>
          <p:cNvSpPr txBox="1"/>
          <p:nvPr/>
        </p:nvSpPr>
        <p:spPr>
          <a:xfrm>
            <a:off x="704088" y="5614416"/>
            <a:ext cx="5111496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Rate reading: Final Portfolio was strongest in high-rate months (15.77%) and when rates were rising (13.03%).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5522976"/>
            <a:ext cx="5440680" cy="676656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6208" y="5522976"/>
            <a:ext cx="54864" cy="676656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Regime reading: Its strongest market group was Bul"/>
          <p:cNvSpPr txBox="1"/>
          <p:nvPr/>
        </p:nvSpPr>
        <p:spPr>
          <a:xfrm>
            <a:off x="6437376" y="5614416"/>
            <a:ext cx="5111496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Regime reading: Its strongest market group was Bull / Volatile (14.09%). Expansion months returned 9.91% annualised.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Governance is conditional, not failed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Governance is conditional, not failed</a:t>
            </a:r>
          </a:p>
        </p:txBody>
      </p:sp>
      <p:sp>
        <p:nvSpPr>
          <p:cNvPr id="3" name="Text: The model passed core controls but still carries t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model passed core controls but still carries three warning areas.</a:t>
            </a:r>
          </a:p>
        </p:txBody>
      </p:sp>
      <p:sp>
        <p:nvSpPr>
          <p:cNvPr id="4" name="Text: 14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14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Model validation scorecard and risk backtesting re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Model validation scorecard and risk backtesting report</a:t>
            </a:r>
          </a:p>
        </p:txBody>
      </p:sp>
      <p:pic>
        <p:nvPicPr>
          <p:cNvPr id="8" name="Chart: validation_scorecard.png" descr="validation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1562537"/>
            <a:ext cx="6784848" cy="39158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79792" y="1399032"/>
            <a:ext cx="4197096" cy="1078992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79792" y="1399032"/>
            <a:ext cx="54864" cy="1078992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5 components passed"/>
          <p:cNvSpPr txBox="1"/>
          <p:nvPr/>
        </p:nvSpPr>
        <p:spPr>
          <a:xfrm>
            <a:off x="7680960" y="1545336"/>
            <a:ext cx="3867911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5 components passed</a:t>
            </a:r>
          </a:p>
        </p:txBody>
      </p:sp>
      <p:sp>
        <p:nvSpPr>
          <p:cNvPr id="12" name="Text: Data integrity, forecasts, distributions, constrai"/>
          <p:cNvSpPr txBox="1"/>
          <p:nvPr/>
        </p:nvSpPr>
        <p:spPr>
          <a:xfrm>
            <a:off x="7680960" y="1920240"/>
            <a:ext cx="3867911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Data integrity, forecasts, distributions, constraints and stability met their configured gates.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79792" y="2798064"/>
            <a:ext cx="4197096" cy="1078992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79792" y="2798064"/>
            <a:ext cx="54864" cy="1078992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3 components warned"/>
          <p:cNvSpPr txBox="1"/>
          <p:nvPr/>
        </p:nvSpPr>
        <p:spPr>
          <a:xfrm>
            <a:off x="7680960" y="2944368"/>
            <a:ext cx="3867911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3 components warned</a:t>
            </a:r>
          </a:p>
        </p:txBody>
      </p:sp>
      <p:sp>
        <p:nvSpPr>
          <p:cNvPr id="16" name="Text: Point-in-time evidence is reconstructed; risk exce"/>
          <p:cNvSpPr txBox="1"/>
          <p:nvPr/>
        </p:nvSpPr>
        <p:spPr>
          <a:xfrm>
            <a:off x="7680960" y="3319272"/>
            <a:ext cx="3867911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Point-in-time evidence is reconstructed; risk exceptions cluster; and costs consume too much return.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9792" y="4197096"/>
            <a:ext cx="4197096" cy="1078992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79792" y="4197096"/>
            <a:ext cx="54864" cy="1078992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0 critical failures"/>
          <p:cNvSpPr txBox="1"/>
          <p:nvPr/>
        </p:nvSpPr>
        <p:spPr>
          <a:xfrm>
            <a:off x="7680960" y="4343400"/>
            <a:ext cx="3867911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0 critical failures</a:t>
            </a:r>
          </a:p>
        </p:txBody>
      </p:sp>
      <p:sp>
        <p:nvSpPr>
          <p:cNvPr id="20" name="Text: No leakage or hard-constraint failure was found. T"/>
          <p:cNvSpPr txBox="1"/>
          <p:nvPr/>
        </p:nvSpPr>
        <p:spPr>
          <a:xfrm>
            <a:off x="7680960" y="4718304"/>
            <a:ext cx="3867911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No leakage or hard-constraint failure was found. The warning status limits use but does not invalidate the entire model.</a:t>
            </a:r>
          </a:p>
        </p:txBody>
      </p:sp>
      <p:sp>
        <p:nvSpPr>
          <p:cNvPr id="21" name="Text: Overall score 80/100  |  Conditional approval  |  "/>
          <p:cNvSpPr txBox="1"/>
          <p:nvPr/>
        </p:nvSpPr>
        <p:spPr>
          <a:xfrm>
            <a:off x="530352" y="5943600"/>
            <a:ext cx="110185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B6F56"/>
                </a:solidFill>
                <a:latin typeface="Aptos"/>
              </a:rPr>
              <a:t>Overall score 80/100  |  Conditional approval  |  Human supervision required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Costs are the clearest improvement opportunity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Costs are the clearest improvement opportunity</a:t>
            </a:r>
          </a:p>
        </p:txBody>
      </p:sp>
      <p:sp>
        <p:nvSpPr>
          <p:cNvPr id="3" name="Text: The model has enough gross return; implementation 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model has enough gross return; implementation is consuming too much of it.</a:t>
            </a:r>
          </a:p>
        </p:txBody>
      </p:sp>
      <p:sp>
        <p:nvSpPr>
          <p:cNvPr id="4" name="Text: 15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15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oint-in-time cost validation, turnover and DRL ac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Point-in-time cost validation, turnover and DRL acceptance</a:t>
            </a:r>
          </a:p>
        </p:txBody>
      </p:sp>
      <p:pic>
        <p:nvPicPr>
          <p:cNvPr id="8" name="Chart: implementation_cost_drag.png" descr="implementation_cost_d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1631175"/>
            <a:ext cx="6912864" cy="378767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07808" y="1435608"/>
            <a:ext cx="4069080" cy="932688"/>
          </a:xfrm>
          <a:prstGeom prst="rect">
            <a:avLst/>
          </a:prstGeom>
          <a:solidFill>
            <a:srgbClr val="F8EAEA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7808" y="1435608"/>
            <a:ext cx="50292" cy="932688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2.35%"/>
          <p:cNvSpPr txBox="1"/>
          <p:nvPr/>
        </p:nvSpPr>
        <p:spPr>
          <a:xfrm>
            <a:off x="7772400" y="1563624"/>
            <a:ext cx="381304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2.35%</a:t>
            </a:r>
          </a:p>
        </p:txBody>
      </p:sp>
      <p:sp>
        <p:nvSpPr>
          <p:cNvPr id="12" name="Text: annualised model cost drag"/>
          <p:cNvSpPr txBox="1"/>
          <p:nvPr/>
        </p:nvSpPr>
        <p:spPr>
          <a:xfrm>
            <a:off x="7772400" y="1965960"/>
            <a:ext cx="381304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annualised model cost drag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7808" y="2587752"/>
            <a:ext cx="4069080" cy="932688"/>
          </a:xfrm>
          <a:prstGeom prst="rect">
            <a:avLst/>
          </a:prstGeom>
          <a:solidFill>
            <a:srgbClr val="FBF3D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7808" y="2587752"/>
            <a:ext cx="50292" cy="93268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2.11x"/>
          <p:cNvSpPr txBox="1"/>
          <p:nvPr/>
        </p:nvSpPr>
        <p:spPr>
          <a:xfrm>
            <a:off x="7772400" y="2715768"/>
            <a:ext cx="381304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2.11x</a:t>
            </a:r>
          </a:p>
        </p:txBody>
      </p:sp>
      <p:sp>
        <p:nvSpPr>
          <p:cNvPr id="16" name="Text: annualised turnover"/>
          <p:cNvSpPr txBox="1"/>
          <p:nvPr/>
        </p:nvSpPr>
        <p:spPr>
          <a:xfrm>
            <a:off x="7772400" y="3118104"/>
            <a:ext cx="381304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annualised turnover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7808" y="3739896"/>
            <a:ext cx="406908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7808" y="3739896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$465k"/>
          <p:cNvSpPr txBox="1"/>
          <p:nvPr/>
        </p:nvSpPr>
        <p:spPr>
          <a:xfrm>
            <a:off x="7772400" y="3867911"/>
            <a:ext cx="381304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$465k</a:t>
            </a:r>
          </a:p>
        </p:txBody>
      </p:sp>
      <p:sp>
        <p:nvSpPr>
          <p:cNvPr id="20" name="Text: first annual bank fee at reference AUM"/>
          <p:cNvSpPr txBox="1"/>
          <p:nvPr/>
        </p:nvSpPr>
        <p:spPr>
          <a:xfrm>
            <a:off x="7772400" y="4270248"/>
            <a:ext cx="381304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first annual bank fee at reference AUM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7808" y="4892040"/>
            <a:ext cx="4069080" cy="941832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7808" y="4892040"/>
            <a:ext cx="54864" cy="941832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DRL stayed out"/>
          <p:cNvSpPr txBox="1"/>
          <p:nvPr/>
        </p:nvSpPr>
        <p:spPr>
          <a:xfrm>
            <a:off x="7808976" y="5038344"/>
            <a:ext cx="37398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DRL stayed out</a:t>
            </a:r>
          </a:p>
        </p:txBody>
      </p:sp>
      <p:sp>
        <p:nvSpPr>
          <p:cNvPr id="24" name="Text: The challenger breached its turnover hard limit, s"/>
          <p:cNvSpPr txBox="1"/>
          <p:nvPr/>
        </p:nvSpPr>
        <p:spPr>
          <a:xfrm>
            <a:off x="7808976" y="5413248"/>
            <a:ext cx="3739896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challenger breached its turnover hard limit, so its weight was set to zero and the baseline optimiser remained final.</a:t>
            </a:r>
          </a:p>
        </p:txBody>
      </p:sp>
      <p:sp>
        <p:nvSpPr>
          <p:cNvPr id="25" name="Text: Priority fixes: no-trade bands, staged transitions"/>
          <p:cNvSpPr txBox="1"/>
          <p:nvPr/>
        </p:nvSpPr>
        <p:spPr>
          <a:xfrm>
            <a:off x="530352" y="5989320"/>
            <a:ext cx="1106424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0B6F56"/>
                </a:solidFill>
                <a:latin typeface="Aptos"/>
              </a:rPr>
              <a:t>Priority fixes: no-trade bands, staged transitions, turnover penalties and pre-trade cost quotes.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A controlled path to live use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A controlled path to live use</a:t>
            </a:r>
          </a:p>
        </p:txBody>
      </p:sp>
      <p:sp>
        <p:nvSpPr>
          <p:cNvPr id="3" name="Text: Scale only when operations, costs and evidence ear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Scale only when operations, costs and evidence earn it.</a:t>
            </a:r>
          </a:p>
        </p:txBody>
      </p:sp>
      <p:sp>
        <p:nvSpPr>
          <p:cNvPr id="4" name="Text: 16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16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roposed implementation and model-risk controls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Proposed implementation and model-risk controls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44752"/>
            <a:ext cx="3511296" cy="1901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44752"/>
            <a:ext cx="3511296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0  SHADOW"/>
          <p:cNvSpPr txBox="1"/>
          <p:nvPr/>
        </p:nvSpPr>
        <p:spPr>
          <a:xfrm>
            <a:off x="685800" y="1746504"/>
            <a:ext cx="31089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0  SHADOW</a:t>
            </a:r>
          </a:p>
        </p:txBody>
      </p:sp>
      <p:sp>
        <p:nvSpPr>
          <p:cNvPr id="11" name="Text: 4 weeks"/>
          <p:cNvSpPr txBox="1"/>
          <p:nvPr/>
        </p:nvSpPr>
        <p:spPr>
          <a:xfrm>
            <a:off x="685800" y="2167128"/>
            <a:ext cx="3108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F56"/>
                </a:solidFill>
                <a:latin typeface="Aptos"/>
              </a:rPr>
              <a:t>4 weeks</a:t>
            </a:r>
          </a:p>
        </p:txBody>
      </p:sp>
      <p:sp>
        <p:nvSpPr>
          <p:cNvPr id="12" name="Text: Generate orders, do not trade. Validate data, NAV,"/>
          <p:cNvSpPr txBox="1"/>
          <p:nvPr/>
        </p:nvSpPr>
        <p:spPr>
          <a:xfrm>
            <a:off x="685800" y="2542032"/>
            <a:ext cx="3099816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Generate orders, do not trade. Validate data, NAV, FX and fills.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444752"/>
            <a:ext cx="3511296" cy="1901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444752"/>
            <a:ext cx="3511296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1  PILOT"/>
          <p:cNvSpPr txBox="1"/>
          <p:nvPr/>
        </p:nvSpPr>
        <p:spPr>
          <a:xfrm>
            <a:off x="4453128" y="1746504"/>
            <a:ext cx="31089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1  PILOT</a:t>
            </a:r>
          </a:p>
        </p:txBody>
      </p:sp>
      <p:sp>
        <p:nvSpPr>
          <p:cNvPr id="16" name="Text: 6 to 12 months"/>
          <p:cNvSpPr txBox="1"/>
          <p:nvPr/>
        </p:nvSpPr>
        <p:spPr>
          <a:xfrm>
            <a:off x="4453128" y="2167128"/>
            <a:ext cx="3108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F56"/>
                </a:solidFill>
                <a:latin typeface="Aptos"/>
              </a:rPr>
              <a:t>6 to 12 months</a:t>
            </a:r>
          </a:p>
        </p:txBody>
      </p:sp>
      <p:sp>
        <p:nvSpPr>
          <p:cNvPr id="17" name="Text: Use limited capital with human approval and staged"/>
          <p:cNvSpPr txBox="1"/>
          <p:nvPr/>
        </p:nvSpPr>
        <p:spPr>
          <a:xfrm>
            <a:off x="4453128" y="2542032"/>
            <a:ext cx="3099816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Use limited capital with human approval and staged execution.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7576" y="1444752"/>
            <a:ext cx="3511296" cy="1901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6" y="1444752"/>
            <a:ext cx="3511296" cy="10972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: 2  SCALE"/>
          <p:cNvSpPr txBox="1"/>
          <p:nvPr/>
        </p:nvSpPr>
        <p:spPr>
          <a:xfrm>
            <a:off x="8220456" y="1746504"/>
            <a:ext cx="31089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2  SCALE</a:t>
            </a:r>
          </a:p>
        </p:txBody>
      </p:sp>
      <p:sp>
        <p:nvSpPr>
          <p:cNvPr id="21" name="Text: Evidence gated"/>
          <p:cNvSpPr txBox="1"/>
          <p:nvPr/>
        </p:nvSpPr>
        <p:spPr>
          <a:xfrm>
            <a:off x="8220456" y="2167128"/>
            <a:ext cx="3108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F56"/>
                </a:solidFill>
                <a:latin typeface="Aptos"/>
              </a:rPr>
              <a:t>Evidence gated</a:t>
            </a:r>
          </a:p>
        </p:txBody>
      </p:sp>
      <p:sp>
        <p:nvSpPr>
          <p:cNvPr id="22" name="Text: Increase capital only after cost, risk and benchma"/>
          <p:cNvSpPr txBox="1"/>
          <p:nvPr/>
        </p:nvSpPr>
        <p:spPr>
          <a:xfrm>
            <a:off x="8220456" y="2542032"/>
            <a:ext cx="3099816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Increase capital only after cost, risk and benchmark hurdles hold.</a:t>
            </a:r>
          </a:p>
        </p:txBody>
      </p:sp>
      <p:sp>
        <p:nvSpPr>
          <p:cNvPr id="23" name="Text: Proposed pilot gates"/>
          <p:cNvSpPr txBox="1"/>
          <p:nvPr/>
        </p:nvSpPr>
        <p:spPr>
          <a:xfrm>
            <a:off x="530352" y="3721608"/>
            <a:ext cx="493776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Proposed pilot gates</a:t>
            </a:r>
          </a:p>
        </p:txBody>
      </p:sp>
      <p:sp>
        <p:nvSpPr>
          <p:cNvPr id="24" name="Bullet list"/>
          <p:cNvSpPr txBox="1"/>
          <p:nvPr/>
        </p:nvSpPr>
        <p:spPr>
          <a:xfrm>
            <a:off x="530352" y="4133087"/>
            <a:ext cx="5330952" cy="167335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Zero hard constraint or data-lineage breaches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Pre-trade cost estimate approved for every rebalance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Annualised turnover below 1.0x during the pilot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Net performance tracked against equal and cap weight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Monthly model-risk and investment-committee review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6208" y="3767328"/>
            <a:ext cx="5440680" cy="1234440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3767328"/>
            <a:ext cx="54864" cy="1234440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: Immediate stop conditions"/>
          <p:cNvSpPr txBox="1"/>
          <p:nvPr/>
        </p:nvSpPr>
        <p:spPr>
          <a:xfrm>
            <a:off x="6437376" y="3913632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Immediate stop conditions</a:t>
            </a:r>
          </a:p>
        </p:txBody>
      </p:sp>
      <p:sp>
        <p:nvSpPr>
          <p:cNvPr id="28" name="Text: Stale critical data, any hard breach, unexplained "/>
          <p:cNvSpPr txBox="1"/>
          <p:nvPr/>
        </p:nvSpPr>
        <p:spPr>
          <a:xfrm>
            <a:off x="6437376" y="4288536"/>
            <a:ext cx="5111496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Stale critical data, any hard breach, unexplained risk exception clustering, failed reconciliation or trading costs above the approved budget.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8" y="5221224"/>
            <a:ext cx="5440680" cy="768096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6208" y="5221224"/>
            <a:ext cx="54864" cy="768096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: Alpha gate: Full-scale alpha claims require native"/>
          <p:cNvSpPr txBox="1"/>
          <p:nvPr/>
        </p:nvSpPr>
        <p:spPr>
          <a:xfrm>
            <a:off x="6437376" y="5312664"/>
            <a:ext cx="511149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Alpha gate: Full-scale alpha claims require native live evidence and at least 60 months under the existing governance policy.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How to read the result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How to read the results</a:t>
            </a:r>
          </a:p>
        </p:txBody>
      </p:sp>
      <p:sp>
        <p:nvSpPr>
          <p:cNvPr id="3" name="Text: Plain-language definitions for the investment comm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Plain-language definitions for the investment committee.</a:t>
            </a:r>
          </a:p>
        </p:txBody>
      </p:sp>
      <p:sp>
        <p:nvSpPr>
          <p:cNvPr id="4" name="Text: 17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17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Backtest methodology and validation framework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Backtest methodology and validation framework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62456"/>
          <a:ext cx="640080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4800600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Measure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Simple meaning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CAGR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Average compounded annual growth.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Sharpe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Return earned per unit of overall variability.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Sortino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Return earned per unit of harmful downside variation.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Max drawdown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Largest peak-to-trough loss.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CVaR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Average loss among the worst modeled outcomes.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Information ratio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Active return per unit of benchmark-relative risk.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p-value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How surprising the result is if true alpha were zero.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PBO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Chance that selecting the backtest winner overfits history.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187184" y="1362456"/>
            <a:ext cx="4489704" cy="1481328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87184" y="1362456"/>
            <a:ext cx="54864" cy="14813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Three evidence layers"/>
          <p:cNvSpPr txBox="1"/>
          <p:nvPr/>
        </p:nvSpPr>
        <p:spPr>
          <a:xfrm>
            <a:off x="7388352" y="1508760"/>
            <a:ext cx="41605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Three evidence layers</a:t>
            </a:r>
          </a:p>
        </p:txBody>
      </p:sp>
      <p:sp>
        <p:nvSpPr>
          <p:cNvPr id="12" name="Text: 1. Dated 60-month proxy: primary model evidence.&#10;2"/>
          <p:cNvSpPr txBox="1"/>
          <p:nvPr/>
        </p:nvSpPr>
        <p:spPr>
          <a:xfrm>
            <a:off x="7388352" y="1883664"/>
            <a:ext cx="4160520" cy="8412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1. Dated 60-month proxy: primary model evidence.
2. 1997 replay: stress and exposure history.
3. Native live record: required before full alpha approval.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87184" y="3154680"/>
            <a:ext cx="4489704" cy="1298448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87184" y="3154680"/>
            <a:ext cx="54864" cy="129844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Higher is not always better"/>
          <p:cNvSpPr txBox="1"/>
          <p:nvPr/>
        </p:nvSpPr>
        <p:spPr>
          <a:xfrm>
            <a:off x="7388352" y="3300984"/>
            <a:ext cx="41605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Higher is not always better</a:t>
            </a:r>
          </a:p>
        </p:txBody>
      </p:sp>
      <p:sp>
        <p:nvSpPr>
          <p:cNvPr id="16" name="Text: A portfolio can have a higher return but a deeper "/>
          <p:cNvSpPr txBox="1"/>
          <p:nvPr/>
        </p:nvSpPr>
        <p:spPr>
          <a:xfrm>
            <a:off x="7388352" y="3675888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A portfolio can have a higher return but a deeper drawdown, more turnover or weaker statistical evidence. The committee should judge the package, not one headline number.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87184" y="4764024"/>
            <a:ext cx="4489704" cy="1124712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87184" y="4764024"/>
            <a:ext cx="54864" cy="1124712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Where to verify"/>
          <p:cNvSpPr txBox="1"/>
          <p:nvPr/>
        </p:nvSpPr>
        <p:spPr>
          <a:xfrm>
            <a:off x="7388352" y="4910328"/>
            <a:ext cx="41605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Where to verify</a:t>
            </a:r>
          </a:p>
        </p:txBody>
      </p:sp>
      <p:sp>
        <p:nvSpPr>
          <p:cNvPr id="20" name="Text: The GitHub release contains the 42-page PDF, plain"/>
          <p:cNvSpPr txBox="1"/>
          <p:nvPr/>
        </p:nvSpPr>
        <p:spPr>
          <a:xfrm>
            <a:off x="7388352" y="5285232"/>
            <a:ext cx="4160520" cy="4846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GitHub release contains the 42-page PDF, plain-language interpretation, CSV evidence, plots, manifests and checksums.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HE RECOMMENDATION"/>
          <p:cNvSpPr txBox="1"/>
          <p:nvPr/>
        </p:nvSpPr>
        <p:spPr>
          <a:xfrm>
            <a:off x="832104" y="676656"/>
            <a:ext cx="43891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FD7BF"/>
                </a:solidFill>
                <a:latin typeface="Aptos"/>
              </a:rPr>
              <a:t>THE RECOMMENDATION</a:t>
            </a:r>
          </a:p>
        </p:txBody>
      </p:sp>
      <p:sp>
        <p:nvSpPr>
          <p:cNvPr id="3" name="Text: Approve a controlled live pilot."/>
          <p:cNvSpPr txBox="1"/>
          <p:nvPr/>
        </p:nvSpPr>
        <p:spPr>
          <a:xfrm>
            <a:off x="813816" y="1207008"/>
            <a:ext cx="7955279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 Display"/>
              </a:rPr>
              <a:t>Approve a controlled live pilot.</a:t>
            </a:r>
          </a:p>
        </p:txBody>
      </p:sp>
      <p:sp>
        <p:nvSpPr>
          <p:cNvPr id="4" name="Text: Wolf is ready to improve how decisions are made: b"/>
          <p:cNvSpPr txBox="1"/>
          <p:nvPr/>
        </p:nvSpPr>
        <p:spPr>
          <a:xfrm>
            <a:off x="841248" y="2066543"/>
            <a:ext cx="7818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D7E1DE"/>
                </a:solidFill>
                <a:latin typeface="Aptos"/>
              </a:rPr>
              <a:t>Wolf is ready to improve how decisions are made: broad screening, explicit risk, consistent portfolio construction and an audit trail. It is not yet ready to promise alpha.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3730752"/>
            <a:ext cx="3355848" cy="1225296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USE NOW"/>
          <p:cNvSpPr txBox="1"/>
          <p:nvPr/>
        </p:nvSpPr>
        <p:spPr>
          <a:xfrm>
            <a:off x="1005840" y="3950208"/>
            <a:ext cx="292608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FD7BF"/>
                </a:solidFill>
                <a:latin typeface="Aptos"/>
              </a:rPr>
              <a:t>USE NOW</a:t>
            </a:r>
          </a:p>
        </p:txBody>
      </p:sp>
      <p:sp>
        <p:nvSpPr>
          <p:cNvPr id="7" name="Text: Ranking, diversification, risk and governance"/>
          <p:cNvSpPr txBox="1"/>
          <p:nvPr/>
        </p:nvSpPr>
        <p:spPr>
          <a:xfrm>
            <a:off x="1005840" y="4379976"/>
            <a:ext cx="289864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Aptos"/>
              </a:rPr>
              <a:t>Ranking, diversification, risk and governance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3730752"/>
            <a:ext cx="3355848" cy="1225296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: PROVE LIVE"/>
          <p:cNvSpPr txBox="1"/>
          <p:nvPr/>
        </p:nvSpPr>
        <p:spPr>
          <a:xfrm>
            <a:off x="4690872" y="3950208"/>
            <a:ext cx="292608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FD7BF"/>
                </a:solidFill>
                <a:latin typeface="Aptos"/>
              </a:rPr>
              <a:t>PROVE LIVE</a:t>
            </a:r>
          </a:p>
        </p:txBody>
      </p:sp>
      <p:sp>
        <p:nvSpPr>
          <p:cNvPr id="10" name="Text: Net benchmark edge and tail-risk independence"/>
          <p:cNvSpPr txBox="1"/>
          <p:nvPr/>
        </p:nvSpPr>
        <p:spPr>
          <a:xfrm>
            <a:off x="4690872" y="4379976"/>
            <a:ext cx="289864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Aptos"/>
              </a:rPr>
              <a:t>Net benchmark edge and tail-risk independence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11312" y="3730752"/>
            <a:ext cx="3355848" cy="1225296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FIX NEXT"/>
          <p:cNvSpPr txBox="1"/>
          <p:nvPr/>
        </p:nvSpPr>
        <p:spPr>
          <a:xfrm>
            <a:off x="8375904" y="3950208"/>
            <a:ext cx="292608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FD7BF"/>
                </a:solidFill>
                <a:latin typeface="Aptos"/>
              </a:rPr>
              <a:t>FIX NEXT</a:t>
            </a:r>
          </a:p>
        </p:txBody>
      </p:sp>
      <p:sp>
        <p:nvSpPr>
          <p:cNvPr id="13" name="Text: Turnover, trading costs and data vintages"/>
          <p:cNvSpPr txBox="1"/>
          <p:nvPr/>
        </p:nvSpPr>
        <p:spPr>
          <a:xfrm>
            <a:off x="8375904" y="4379976"/>
            <a:ext cx="289864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Aptos"/>
              </a:rPr>
              <a:t>Turnover, trading costs and data vintages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5623560"/>
            <a:ext cx="10716768" cy="530352"/>
          </a:xfrm>
          <a:prstGeom prst="rect">
            <a:avLst/>
          </a:prstGeom>
          <a:solidFill>
            <a:srgbClr val="0B6F56"/>
          </a:solidFill>
          <a:ln w="10160">
            <a:solidFill>
              <a:srgbClr val="0B6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Investment edge today: a better-controlled process"/>
          <p:cNvSpPr txBox="1"/>
          <p:nvPr/>
        </p:nvSpPr>
        <p:spPr>
          <a:xfrm>
            <a:off x="1051560" y="5788152"/>
            <a:ext cx="10287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Investment edge today: a better-controlled process.  Investment edge tomorrow: only what live evidence proves.</a:t>
            </a:r>
          </a:p>
        </p:txBody>
      </p:sp>
      <p:sp>
        <p:nvSpPr>
          <p:cNvPr id="16" name="Text: CONDITIONALLY_APPROVED  |  Governance 80/100  |  A"/>
          <p:cNvSpPr txBox="1"/>
          <p:nvPr/>
        </p:nvSpPr>
        <p:spPr>
          <a:xfrm>
            <a:off x="841248" y="6419088"/>
            <a:ext cx="1069848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9EAFAB"/>
                </a:solidFill>
                <a:latin typeface="Aptos"/>
              </a:rPr>
              <a:t>CONDITIONALLY_APPROVED  |  Governance 80/100  |  As of 12 August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Wolf Quant Model Investment Committee Briefing</dc:title>
  <dc:subject>Current recommendations, validation evidence and live pilot plan</dc:subject>
  <dc:creator>The Wolf Quant Model</dc:creator>
  <cp:keywords>equities, portfolio, validation, backtest, investment committee</cp:keywords>
  <dc:description>Generated from tracked repository evidence. Research use only.</dc:description>
  <cp:lastModifiedBy>Steve Canny</cp:lastModifiedBy>
  <cp:revision>1</cp:revision>
  <dcterms:created xsi:type="dcterms:W3CDTF">2026-08-12T20:05:56Z</dcterms:created>
  <dcterms:modified xsi:type="dcterms:W3CDTF">2026-08-12T20:05:56Z</dcterms:modified>
  <cp:category/>
</cp:coreProperties>
</file>