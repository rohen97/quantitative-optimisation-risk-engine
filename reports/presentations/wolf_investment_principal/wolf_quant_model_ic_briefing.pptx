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502920"/>
            <a:ext cx="73152" cy="5074920"/>
          </a:xfrm>
          <a:prstGeom prst="rect">
            <a:avLst/>
          </a:prstGeom>
          <a:solidFill>
            <a:srgbClr val="14966F"/>
          </a:solidFill>
          <a:ln w="10160">
            <a:solidFill>
              <a:srgbClr val="1496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: WOLF QUANT MODEL"/>
          <p:cNvSpPr txBox="1"/>
          <p:nvPr/>
        </p:nvSpPr>
        <p:spPr>
          <a:xfrm>
            <a:off x="822960" y="585216"/>
            <a:ext cx="51206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8FD7BF"/>
                </a:solidFill>
                <a:latin typeface="Aptos"/>
              </a:rPr>
              <a:t>WOLF QUANT MODEL</a:t>
            </a:r>
          </a:p>
        </p:txBody>
      </p:sp>
      <p:sp>
        <p:nvSpPr>
          <p:cNvPr id="4" name="Text: Investment committee&#10;briefing"/>
          <p:cNvSpPr txBox="1"/>
          <p:nvPr/>
        </p:nvSpPr>
        <p:spPr>
          <a:xfrm>
            <a:off x="804672" y="1078992"/>
            <a:ext cx="6858000" cy="11887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3800" b="1">
                <a:solidFill>
                  <a:srgbClr val="FFFFFF"/>
                </a:solidFill>
                <a:latin typeface="Aptos Display"/>
              </a:rPr>
              <a:t>Investment committee
briefing</a:t>
            </a:r>
          </a:p>
        </p:txBody>
      </p:sp>
      <p:sp>
        <p:nvSpPr>
          <p:cNvPr id="5" name="Text: A disciplined global-equity decision system with p"/>
          <p:cNvSpPr txBox="1"/>
          <p:nvPr/>
        </p:nvSpPr>
        <p:spPr>
          <a:xfrm>
            <a:off x="832104" y="2487168"/>
            <a:ext cx="676656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D7E1DE"/>
                </a:solidFill>
                <a:latin typeface="Aptos"/>
              </a:rPr>
              <a:t>A disciplined global-equity decision system with portfolio constraints, stress testing and governance.</a:t>
            </a:r>
          </a:p>
        </p:txBody>
      </p:sp>
      <p:sp>
        <p:nvSpPr>
          <p:cNvPr id="6" name="Rectangle 5"/>
          <p:cNvSpPr/>
          <p:nvPr/>
        </p:nvSpPr>
        <p:spPr>
          <a:xfrm>
            <a:off x="832104" y="3493008"/>
            <a:ext cx="5074920" cy="512064"/>
          </a:xfrm>
          <a:prstGeom prst="rect">
            <a:avLst/>
          </a:prstGeom>
          <a:solidFill>
            <a:srgbClr val="0B6F56"/>
          </a:solidFill>
          <a:ln w="10160">
            <a:solidFill>
              <a:srgbClr val="0B6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: DECISION: APPROVE A CONTROLLED LIVE PILOT"/>
          <p:cNvSpPr txBox="1"/>
          <p:nvPr/>
        </p:nvSpPr>
        <p:spPr>
          <a:xfrm>
            <a:off x="1024128" y="3639312"/>
            <a:ext cx="4709160" cy="1828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DECISION: APPROVE A CONTROLLED LIVE PILOT</a:t>
            </a:r>
          </a:p>
        </p:txBody>
      </p:sp>
      <p:sp>
        <p:nvSpPr>
          <p:cNvPr id="8" name="Rectangle 7"/>
          <p:cNvSpPr/>
          <p:nvPr/>
        </p:nvSpPr>
        <p:spPr>
          <a:xfrm>
            <a:off x="832104" y="4800600"/>
            <a:ext cx="2487168" cy="960120"/>
          </a:xfrm>
          <a:prstGeom prst="rect">
            <a:avLst/>
          </a:prstGeom>
          <a:solidFill>
            <a:srgbClr val="243037"/>
          </a:solidFill>
          <a:ln w="10160">
            <a:solidFill>
              <a:srgbClr val="4351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: 55,504"/>
          <p:cNvSpPr txBox="1"/>
          <p:nvPr/>
        </p:nvSpPr>
        <p:spPr>
          <a:xfrm>
            <a:off x="978408" y="4956048"/>
            <a:ext cx="21488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100" b="1">
                <a:solidFill>
                  <a:srgbClr val="FFFFFF"/>
                </a:solidFill>
                <a:latin typeface="Aptos Display"/>
              </a:rPr>
              <a:t>55,504</a:t>
            </a:r>
          </a:p>
        </p:txBody>
      </p:sp>
      <p:sp>
        <p:nvSpPr>
          <p:cNvPr id="10" name="Text: active equities"/>
          <p:cNvSpPr txBox="1"/>
          <p:nvPr/>
        </p:nvSpPr>
        <p:spPr>
          <a:xfrm>
            <a:off x="978408" y="5340096"/>
            <a:ext cx="2148840" cy="1828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B9C8C3"/>
                </a:solidFill>
                <a:latin typeface="Aptos"/>
              </a:rPr>
              <a:t>active equities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593592" y="4800600"/>
            <a:ext cx="2487168" cy="960120"/>
          </a:xfrm>
          <a:prstGeom prst="rect">
            <a:avLst/>
          </a:prstGeom>
          <a:solidFill>
            <a:srgbClr val="243037"/>
          </a:solidFill>
          <a:ln w="10160">
            <a:solidFill>
              <a:srgbClr val="4351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: 60"/>
          <p:cNvSpPr txBox="1"/>
          <p:nvPr/>
        </p:nvSpPr>
        <p:spPr>
          <a:xfrm>
            <a:off x="3739896" y="4956048"/>
            <a:ext cx="21488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100" b="1">
                <a:solidFill>
                  <a:srgbClr val="FFFFFF"/>
                </a:solidFill>
                <a:latin typeface="Aptos Display"/>
              </a:rPr>
              <a:t>60</a:t>
            </a:r>
          </a:p>
        </p:txBody>
      </p:sp>
      <p:sp>
        <p:nvSpPr>
          <p:cNvPr id="13" name="Text: monthly decisions"/>
          <p:cNvSpPr txBox="1"/>
          <p:nvPr/>
        </p:nvSpPr>
        <p:spPr>
          <a:xfrm>
            <a:off x="3739896" y="5340096"/>
            <a:ext cx="2148840" cy="1828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B9C8C3"/>
                </a:solidFill>
                <a:latin typeface="Aptos"/>
              </a:rPr>
              <a:t>monthly decisions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55080" y="4800600"/>
            <a:ext cx="2487168" cy="960120"/>
          </a:xfrm>
          <a:prstGeom prst="rect">
            <a:avLst/>
          </a:prstGeom>
          <a:solidFill>
            <a:srgbClr val="243037"/>
          </a:solidFill>
          <a:ln w="10160">
            <a:solidFill>
              <a:srgbClr val="4351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: 87.5 / 100"/>
          <p:cNvSpPr txBox="1"/>
          <p:nvPr/>
        </p:nvSpPr>
        <p:spPr>
          <a:xfrm>
            <a:off x="6501384" y="4956048"/>
            <a:ext cx="21488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100" b="1">
                <a:solidFill>
                  <a:srgbClr val="FFFFFF"/>
                </a:solidFill>
                <a:latin typeface="Aptos Display"/>
              </a:rPr>
              <a:t>87.5 / 100</a:t>
            </a:r>
          </a:p>
        </p:txBody>
      </p:sp>
      <p:sp>
        <p:nvSpPr>
          <p:cNvPr id="16" name="Text: governance score"/>
          <p:cNvSpPr txBox="1"/>
          <p:nvPr/>
        </p:nvSpPr>
        <p:spPr>
          <a:xfrm>
            <a:off x="6501384" y="5340096"/>
            <a:ext cx="2148840" cy="1828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B9C8C3"/>
                </a:solidFill>
                <a:latin typeface="Aptos"/>
              </a:rPr>
              <a:t>governance score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16568" y="4800600"/>
            <a:ext cx="2487168" cy="960120"/>
          </a:xfrm>
          <a:prstGeom prst="rect">
            <a:avLst/>
          </a:prstGeom>
          <a:solidFill>
            <a:srgbClr val="243037"/>
          </a:solidFill>
          <a:ln w="10160">
            <a:solidFill>
              <a:srgbClr val="4351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: 0"/>
          <p:cNvSpPr txBox="1"/>
          <p:nvPr/>
        </p:nvSpPr>
        <p:spPr>
          <a:xfrm>
            <a:off x="9262872" y="4956048"/>
            <a:ext cx="21488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100" b="1">
                <a:solidFill>
                  <a:srgbClr val="FFFFFF"/>
                </a:solidFill>
                <a:latin typeface="Aptos Display"/>
              </a:rPr>
              <a:t>0</a:t>
            </a:r>
          </a:p>
        </p:txBody>
      </p:sp>
      <p:sp>
        <p:nvSpPr>
          <p:cNvPr id="19" name="Text: hard breaches"/>
          <p:cNvSpPr txBox="1"/>
          <p:nvPr/>
        </p:nvSpPr>
        <p:spPr>
          <a:xfrm>
            <a:off x="9262872" y="5340096"/>
            <a:ext cx="2148840" cy="1828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B9C8C3"/>
                </a:solidFill>
                <a:latin typeface="Aptos"/>
              </a:rPr>
              <a:t>hard breaches</a:t>
            </a:r>
          </a:p>
        </p:txBody>
      </p:sp>
      <p:sp>
        <p:nvSpPr>
          <p:cNvPr id="20" name="Text: As of 13 August 2026  |  CONDITIONALLY_APPROVED  |"/>
          <p:cNvSpPr txBox="1"/>
          <p:nvPr/>
        </p:nvSpPr>
        <p:spPr>
          <a:xfrm>
            <a:off x="832104" y="6245352"/>
            <a:ext cx="10515600" cy="20116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9EAFAB"/>
                </a:solidFill>
                <a:latin typeface="Aptos"/>
              </a:rPr>
              <a:t>As of 13 August 2026  |  CONDITIONALLY_APPROVED  |  Research evidence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: The decision in one page"/>
          <p:cNvSpPr txBox="1"/>
          <p:nvPr/>
        </p:nvSpPr>
        <p:spPr>
          <a:xfrm>
            <a:off x="475488" y="292608"/>
            <a:ext cx="9966960" cy="40233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72127"/>
                </a:solidFill>
                <a:latin typeface="Aptos Display"/>
              </a:rPr>
              <a:t>The decision in one page</a:t>
            </a:r>
          </a:p>
        </p:txBody>
      </p:sp>
      <p:sp>
        <p:nvSpPr>
          <p:cNvPr id="3" name="Text: The controls improved materially; the alpha claim "/>
          <p:cNvSpPr txBox="1"/>
          <p:nvPr/>
        </p:nvSpPr>
        <p:spPr>
          <a:xfrm>
            <a:off x="493776" y="740664"/>
            <a:ext cx="10424160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47078"/>
                </a:solidFill>
                <a:latin typeface="Aptos"/>
              </a:rPr>
              <a:t>The controls improved materially; the alpha claim did not.</a:t>
            </a:r>
          </a:p>
        </p:txBody>
      </p:sp>
      <p:sp>
        <p:nvSpPr>
          <p:cNvPr id="4" name="Text: 02"/>
          <p:cNvSpPr txBox="1"/>
          <p:nvPr/>
        </p:nvSpPr>
        <p:spPr>
          <a:xfrm>
            <a:off x="11219688" y="320040"/>
            <a:ext cx="475488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647078"/>
                </a:solidFill>
                <a:latin typeface="Aptos"/>
              </a:rPr>
              <a:t>02</a:t>
            </a:r>
          </a:p>
        </p:txBody>
      </p:sp>
      <p:sp>
        <p:nvSpPr>
          <p:cNvPr id="5" name="Header divider"/>
          <p:cNvSpPr/>
          <p:nvPr/>
        </p:nvSpPr>
        <p:spPr>
          <a:xfrm>
            <a:off x="493776" y="1060704"/>
            <a:ext cx="11201400" cy="10972"/>
          </a:xfrm>
          <a:prstGeom prst="rect">
            <a:avLst/>
          </a:prstGeom>
          <a:solidFill>
            <a:srgbClr val="D8E0DD"/>
          </a:solidFill>
          <a:ln w="10160"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: Wolf Quant Model | Research use"/>
          <p:cNvSpPr txBox="1"/>
          <p:nvPr/>
        </p:nvSpPr>
        <p:spPr>
          <a:xfrm>
            <a:off x="493776" y="6565392"/>
            <a:ext cx="3474720" cy="14630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647078"/>
                </a:solidFill>
                <a:latin typeface="Aptos"/>
              </a:rPr>
              <a:t>Wolf Quant Model | Research use</a:t>
            </a:r>
          </a:p>
        </p:txBody>
      </p:sp>
      <p:sp>
        <p:nvSpPr>
          <p:cNvPr id="7" name="Text: 13 August validation scorecard and point-in-time c"/>
          <p:cNvSpPr txBox="1"/>
          <p:nvPr/>
        </p:nvSpPr>
        <p:spPr>
          <a:xfrm>
            <a:off x="3749039" y="6565392"/>
            <a:ext cx="7936992" cy="14630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0"/>
              </a:spcAft>
            </a:pPr>
            <a:r>
              <a:rPr sz="750" b="0">
                <a:solidFill>
                  <a:srgbClr val="647078"/>
                </a:solidFill>
                <a:latin typeface="Aptos"/>
              </a:rPr>
              <a:t>13 August validation scorecard and point-in-time comparison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307592"/>
            <a:ext cx="5394960" cy="1078992"/>
          </a:xfrm>
          <a:prstGeom prst="rect">
            <a:avLst/>
          </a:prstGeom>
          <a:solidFill>
            <a:srgbClr val="E8F4EF"/>
          </a:solidFill>
          <a:ln w="10160">
            <a:solidFill>
              <a:srgbClr val="E8F4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307592"/>
            <a:ext cx="54864" cy="1078992"/>
          </a:xfrm>
          <a:prstGeom prst="rect">
            <a:avLst/>
          </a:prstGeom>
          <a:solidFill>
            <a:srgbClr val="14966F"/>
          </a:solidFill>
          <a:ln w="10160">
            <a:solidFill>
              <a:srgbClr val="1496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: Recommendation"/>
          <p:cNvSpPr txBox="1"/>
          <p:nvPr/>
        </p:nvSpPr>
        <p:spPr>
          <a:xfrm>
            <a:off x="704088" y="1453895"/>
            <a:ext cx="5065776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72127"/>
                </a:solidFill>
                <a:latin typeface="Aptos Display"/>
              </a:rPr>
              <a:t>Recommendation</a:t>
            </a:r>
          </a:p>
        </p:txBody>
      </p:sp>
      <p:sp>
        <p:nvSpPr>
          <p:cNvPr id="11" name="Text: Approve a small, human-supervised live pilot. Do n"/>
          <p:cNvSpPr txBox="1"/>
          <p:nvPr/>
        </p:nvSpPr>
        <p:spPr>
          <a:xfrm>
            <a:off x="704088" y="1828800"/>
            <a:ext cx="5065776" cy="43891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647078"/>
                </a:solidFill>
                <a:latin typeface="Aptos"/>
              </a:rPr>
              <a:t>Approve a small, human-supervised live pilot. Do not authorize unattended or full-scale deployment yet.</a:t>
            </a:r>
          </a:p>
        </p:txBody>
      </p:sp>
      <p:sp>
        <p:nvSpPr>
          <p:cNvPr id="12" name="Text: Why it earns a pilot"/>
          <p:cNvSpPr txBox="1"/>
          <p:nvPr/>
        </p:nvSpPr>
        <p:spPr>
          <a:xfrm>
            <a:off x="530352" y="2660904"/>
            <a:ext cx="5029200" cy="2926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172127"/>
                </a:solidFill>
                <a:latin typeface="Aptos Display"/>
              </a:rPr>
              <a:t>Why it earns a pilot</a:t>
            </a:r>
          </a:p>
        </p:txBody>
      </p:sp>
      <p:sp>
        <p:nvSpPr>
          <p:cNvPr id="13" name="Bullet list"/>
          <p:cNvSpPr txBox="1"/>
          <p:nvPr/>
        </p:nvSpPr>
        <p:spPr>
          <a:xfrm>
            <a:off x="530352" y="3054096"/>
            <a:ext cx="5285232" cy="2395728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  <a:defRPr sz="1450">
                <a:solidFill>
                  <a:srgbClr val="172127"/>
                </a:solidFill>
                <a:latin typeface="Aptos"/>
              </a:defRPr>
            </a:pPr>
            <a:r>
              <a:t>• Repeatable screening across six equity regions</a:t>
            </a:r>
          </a:p>
          <a:p>
            <a:pPr>
              <a:lnSpc>
                <a:spcPct val="105000"/>
              </a:lnSpc>
              <a:spcAft>
                <a:spcPts val="1000"/>
              </a:spcAft>
              <a:defRPr sz="1450">
                <a:solidFill>
                  <a:srgbClr val="172127"/>
                </a:solidFill>
                <a:latin typeface="Aptos"/>
              </a:defRPr>
            </a:pPr>
            <a:r>
              <a:t>• Adaptive VaR passes overall and chronological holdout tests</a:t>
            </a:r>
          </a:p>
          <a:p>
            <a:pPr>
              <a:lnSpc>
                <a:spcPct val="105000"/>
              </a:lnSpc>
              <a:spcAft>
                <a:spcPts val="1000"/>
              </a:spcAft>
              <a:defRPr sz="1450">
                <a:solidFill>
                  <a:srgbClr val="172127"/>
                </a:solidFill>
                <a:latin typeface="Aptos"/>
              </a:defRPr>
            </a:pPr>
            <a:r>
              <a:t>• Turnover and modeled cost drag now meet both 1.5 targets</a:t>
            </a:r>
          </a:p>
          <a:p>
            <a:pPr>
              <a:lnSpc>
                <a:spcPct val="105000"/>
              </a:lnSpc>
              <a:spcAft>
                <a:spcPts val="1000"/>
              </a:spcAft>
              <a:defRPr sz="1450">
                <a:solidFill>
                  <a:srgbClr val="172127"/>
                </a:solidFill>
                <a:latin typeface="Aptos"/>
              </a:defRPr>
            </a:pPr>
            <a:r>
              <a:t>• Zero hard breaches with auditable forecasts and trades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36208" y="1307592"/>
            <a:ext cx="5440680" cy="1078992"/>
          </a:xfrm>
          <a:prstGeom prst="rect">
            <a:avLst/>
          </a:prstGeom>
          <a:solidFill>
            <a:srgbClr val="F8EAEA"/>
          </a:solidFill>
          <a:ln w="10160">
            <a:solidFill>
              <a:srgbClr val="F8EA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36208" y="1307592"/>
            <a:ext cx="54864" cy="1078992"/>
          </a:xfrm>
          <a:prstGeom prst="rect">
            <a:avLst/>
          </a:prstGeom>
          <a:solidFill>
            <a:srgbClr val="BB4A4A"/>
          </a:solidFill>
          <a:ln w="10160">
            <a:solidFill>
              <a:srgbClr val="BB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: What still blocks full deployment"/>
          <p:cNvSpPr txBox="1"/>
          <p:nvPr/>
        </p:nvSpPr>
        <p:spPr>
          <a:xfrm>
            <a:off x="6437376" y="1453895"/>
            <a:ext cx="5111496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72127"/>
                </a:solidFill>
                <a:latin typeface="Aptos Display"/>
              </a:rPr>
              <a:t>What still blocks full deployment</a:t>
            </a:r>
          </a:p>
        </p:txBody>
      </p:sp>
      <p:sp>
        <p:nvSpPr>
          <p:cNvPr id="17" name="Text: Observed PIT evidence is incomplete, and Wolf lagg"/>
          <p:cNvSpPr txBox="1"/>
          <p:nvPr/>
        </p:nvSpPr>
        <p:spPr>
          <a:xfrm>
            <a:off x="6437376" y="1828800"/>
            <a:ext cx="5111496" cy="43891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647078"/>
                </a:solidFill>
                <a:latin typeface="Aptos"/>
              </a:rPr>
              <a:t>Observed PIT evidence is incomplete, and Wolf lagged equal weight by 1.06% per year in this 60-month sample (p=0.734).</a:t>
            </a:r>
          </a:p>
        </p:txBody>
      </p:sp>
      <p:graphicFrame>
        <p:nvGraphicFramePr>
          <p:cNvPr id="18" name="Evidence table"/>
          <p:cNvGraphicFramePr>
            <a:graphicFrameLocks noGrp="1"/>
          </p:cNvGraphicFramePr>
          <p:nvPr/>
        </p:nvGraphicFramePr>
        <p:xfrm>
          <a:off x="6236208" y="2660904"/>
          <a:ext cx="5440679" cy="2697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6573"/>
                <a:gridCol w="1612053"/>
                <a:gridCol w="1612053"/>
              </a:tblGrid>
              <a:tr h="385354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Decision area</a:t>
                      </a:r>
                    </a:p>
                  </a:txBody>
                  <a:tcPr marL="54864" marR="36576" marT="27432" marB="27432">
                    <a:solidFill>
                      <a:srgbClr val="17212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Evidence</a:t>
                      </a:r>
                    </a:p>
                  </a:txBody>
                  <a:tcPr marL="54864" marR="36576" marT="27432" marB="27432">
                    <a:solidFill>
                      <a:srgbClr val="17212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Action</a:t>
                      </a:r>
                    </a:p>
                  </a:txBody>
                  <a:tcPr marL="54864" marR="36576" marT="27432" marB="27432">
                    <a:solidFill>
                      <a:srgbClr val="172127"/>
                    </a:solidFill>
                  </a:tcPr>
                </a:tc>
              </a:tr>
              <a:tr h="385354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Process</a:t>
                      </a:r>
                    </a:p>
                  </a:txBody>
                  <a:tcPr marL="54864" marR="36576" marT="22860" marB="22860">
                    <a:solidFill>
                      <a:srgbClr val="E8F4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Strong</a:t>
                      </a:r>
                    </a:p>
                  </a:txBody>
                  <a:tcPr marL="54864" marR="36576" marT="22860" marB="22860">
                    <a:solidFill>
                      <a:srgbClr val="E8F4E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Use</a:t>
                      </a:r>
                    </a:p>
                  </a:txBody>
                  <a:tcPr marL="54864" marR="36576" marT="22860" marB="22860">
                    <a:solidFill>
                      <a:srgbClr val="E8F4EF"/>
                    </a:solidFill>
                  </a:tcPr>
                </a:tc>
              </a:tr>
              <a:tr h="385354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Risk backtest</a:t>
                      </a:r>
                    </a:p>
                  </a:txBody>
                  <a:tcPr marL="54864" marR="36576" marT="22860" marB="22860">
                    <a:solidFill>
                      <a:srgbClr val="E8F4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15 / 15</a:t>
                      </a:r>
                    </a:p>
                  </a:txBody>
                  <a:tcPr marL="54864" marR="36576" marT="22860" marB="22860">
                    <a:solidFill>
                      <a:srgbClr val="E8F4E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Pass</a:t>
                      </a:r>
                    </a:p>
                  </a:txBody>
                  <a:tcPr marL="54864" marR="36576" marT="22860" marB="22860">
                    <a:solidFill>
                      <a:srgbClr val="E8F4EF"/>
                    </a:solidFill>
                  </a:tcPr>
                </a:tc>
              </a:tr>
              <a:tr h="385354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Cost controls</a:t>
                      </a:r>
                    </a:p>
                  </a:txBody>
                  <a:tcPr marL="54864" marR="36576" marT="22860" marB="22860">
                    <a:solidFill>
                      <a:srgbClr val="E8F4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Both targets met</a:t>
                      </a:r>
                    </a:p>
                  </a:txBody>
                  <a:tcPr marL="54864" marR="36576" marT="22860" marB="22860">
                    <a:solidFill>
                      <a:srgbClr val="E8F4E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Pass</a:t>
                      </a:r>
                    </a:p>
                  </a:txBody>
                  <a:tcPr marL="54864" marR="36576" marT="22860" marB="22860">
                    <a:solidFill>
                      <a:srgbClr val="E8F4EF"/>
                    </a:solidFill>
                  </a:tcPr>
                </a:tc>
              </a:tr>
              <a:tr h="385354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Hard constraints</a:t>
                      </a:r>
                    </a:p>
                  </a:txBody>
                  <a:tcPr marL="54864" marR="36576" marT="22860" marB="22860">
                    <a:solidFill>
                      <a:srgbClr val="E8F4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0 breaches</a:t>
                      </a:r>
                    </a:p>
                  </a:txBody>
                  <a:tcPr marL="54864" marR="36576" marT="22860" marB="22860">
                    <a:solidFill>
                      <a:srgbClr val="E8F4E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Pass</a:t>
                      </a:r>
                    </a:p>
                  </a:txBody>
                  <a:tcPr marL="54864" marR="36576" marT="22860" marB="22860">
                    <a:solidFill>
                      <a:srgbClr val="E8F4EF"/>
                    </a:solidFill>
                  </a:tcPr>
                </a:tc>
              </a:tr>
              <a:tr h="385354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PIT evidence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7.5 / 15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Improve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  <a:tr h="385356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Deployable alpha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Not established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Do not claim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9" name="Rectangle 18"/>
          <p:cNvSpPr/>
          <p:nvPr/>
        </p:nvSpPr>
        <p:spPr>
          <a:xfrm>
            <a:off x="530352" y="5650992"/>
            <a:ext cx="11146536" cy="594360"/>
          </a:xfrm>
          <a:prstGeom prst="rect">
            <a:avLst/>
          </a:prstGeom>
          <a:solidFill>
            <a:srgbClr val="E9F1F6"/>
          </a:solidFill>
          <a:ln w="10160">
            <a:solidFill>
              <a:srgbClr val="E9F1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30352" y="5650992"/>
            <a:ext cx="54864" cy="594360"/>
          </a:xfrm>
          <a:prstGeom prst="rect">
            <a:avLst/>
          </a:prstGeom>
          <a:solidFill>
            <a:srgbClr val="3478A5"/>
          </a:solidFill>
          <a:ln w="10160">
            <a:solidFill>
              <a:srgbClr val="3478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: Approval means: Pilot capital, pre-trade review, m"/>
          <p:cNvSpPr txBox="1"/>
          <p:nvPr/>
        </p:nvSpPr>
        <p:spPr>
          <a:xfrm>
            <a:off x="731519" y="5742431"/>
            <a:ext cx="10817352" cy="42976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19" b="1">
                <a:solidFill>
                  <a:srgbClr val="172127"/>
                </a:solidFill>
                <a:latin typeface="Aptos"/>
              </a:rPr>
              <a:t>Approval means: Pilot capital, pre-trade review, monthly risk reporting and explicit stop conditions. It does not mean automatic execution.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: What the model actually does"/>
          <p:cNvSpPr txBox="1"/>
          <p:nvPr/>
        </p:nvSpPr>
        <p:spPr>
          <a:xfrm>
            <a:off x="475488" y="292608"/>
            <a:ext cx="9966960" cy="40233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72127"/>
                </a:solidFill>
                <a:latin typeface="Aptos Display"/>
              </a:rPr>
              <a:t>What the model actually does</a:t>
            </a:r>
          </a:p>
        </p:txBody>
      </p:sp>
      <p:sp>
        <p:nvSpPr>
          <p:cNvPr id="3" name="Text: A monthly decision pipeline with risk controls at "/>
          <p:cNvSpPr txBox="1"/>
          <p:nvPr/>
        </p:nvSpPr>
        <p:spPr>
          <a:xfrm>
            <a:off x="493776" y="740664"/>
            <a:ext cx="10424160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47078"/>
                </a:solidFill>
                <a:latin typeface="Aptos"/>
              </a:rPr>
              <a:t>A monthly decision pipeline with risk controls at the end.</a:t>
            </a:r>
          </a:p>
        </p:txBody>
      </p:sp>
      <p:sp>
        <p:nvSpPr>
          <p:cNvPr id="4" name="Text: 03"/>
          <p:cNvSpPr txBox="1"/>
          <p:nvPr/>
        </p:nvSpPr>
        <p:spPr>
          <a:xfrm>
            <a:off x="11219688" y="320040"/>
            <a:ext cx="475488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647078"/>
                </a:solidFill>
                <a:latin typeface="Aptos"/>
              </a:rPr>
              <a:t>03</a:t>
            </a:r>
          </a:p>
        </p:txBody>
      </p:sp>
      <p:sp>
        <p:nvSpPr>
          <p:cNvPr id="5" name="Header divider"/>
          <p:cNvSpPr/>
          <p:nvPr/>
        </p:nvSpPr>
        <p:spPr>
          <a:xfrm>
            <a:off x="493776" y="1060704"/>
            <a:ext cx="11201400" cy="10972"/>
          </a:xfrm>
          <a:prstGeom prst="rect">
            <a:avLst/>
          </a:prstGeom>
          <a:solidFill>
            <a:srgbClr val="D8E0DD"/>
          </a:solidFill>
          <a:ln w="10160"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: Wolf Quant Model | Research use"/>
          <p:cNvSpPr txBox="1"/>
          <p:nvPr/>
        </p:nvSpPr>
        <p:spPr>
          <a:xfrm>
            <a:off x="493776" y="6565392"/>
            <a:ext cx="3474720" cy="14630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647078"/>
                </a:solidFill>
                <a:latin typeface="Aptos"/>
              </a:rPr>
              <a:t>Wolf Quant Model | Research use</a:t>
            </a:r>
          </a:p>
        </p:txBody>
      </p:sp>
      <p:sp>
        <p:nvSpPr>
          <p:cNvPr id="7" name="Text: Repository pipeline stages and current resolved ou"/>
          <p:cNvSpPr txBox="1"/>
          <p:nvPr/>
        </p:nvSpPr>
        <p:spPr>
          <a:xfrm>
            <a:off x="3749039" y="6565392"/>
            <a:ext cx="7936992" cy="14630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0"/>
              </a:spcAft>
            </a:pPr>
            <a:r>
              <a:rPr sz="750" b="0">
                <a:solidFill>
                  <a:srgbClr val="647078"/>
                </a:solidFill>
                <a:latin typeface="Aptos"/>
              </a:rPr>
              <a:t>Repository pipeline stages and current resolved outputs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865376"/>
            <a:ext cx="1581912" cy="1874519"/>
          </a:xfrm>
          <a:prstGeom prst="rect">
            <a:avLst/>
          </a:prstGeom>
          <a:solidFill>
            <a:srgbClr val="FFFFFF"/>
          </a:solidFill>
          <a:ln w="10160"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865376"/>
            <a:ext cx="1581912" cy="109728"/>
          </a:xfrm>
          <a:prstGeom prst="rect">
            <a:avLst/>
          </a:prstGeom>
          <a:solidFill>
            <a:srgbClr val="14966F"/>
          </a:solidFill>
          <a:ln w="10160">
            <a:solidFill>
              <a:srgbClr val="1496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: 1  OBSERVE"/>
          <p:cNvSpPr txBox="1"/>
          <p:nvPr/>
        </p:nvSpPr>
        <p:spPr>
          <a:xfrm>
            <a:off x="630936" y="2185416"/>
            <a:ext cx="1325880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72127"/>
                </a:solidFill>
                <a:latin typeface="Aptos Display"/>
              </a:rPr>
              <a:t>1  OBSERVE</a:t>
            </a:r>
          </a:p>
        </p:txBody>
      </p:sp>
      <p:sp>
        <p:nvSpPr>
          <p:cNvPr id="11" name="Text: Prices, filings, macro and portfolio"/>
          <p:cNvSpPr txBox="1"/>
          <p:nvPr/>
        </p:nvSpPr>
        <p:spPr>
          <a:xfrm>
            <a:off x="630936" y="2679192"/>
            <a:ext cx="1325880" cy="7498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47078"/>
                </a:solidFill>
                <a:latin typeface="Aptos"/>
              </a:rPr>
              <a:t>Prices, filings, macro and portfolio</a:t>
            </a:r>
          </a:p>
        </p:txBody>
      </p:sp>
      <p:sp>
        <p:nvSpPr>
          <p:cNvPr id="12" name="Chevron 11"/>
          <p:cNvSpPr/>
          <p:nvPr/>
        </p:nvSpPr>
        <p:spPr>
          <a:xfrm>
            <a:off x="2130552" y="2551176"/>
            <a:ext cx="219456" cy="530352"/>
          </a:xfrm>
          <a:prstGeom prst="chevron">
            <a:avLst/>
          </a:prstGeom>
          <a:solidFill>
            <a:srgbClr val="D8E0DD"/>
          </a:solidFill>
          <a:ln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377439" y="1865376"/>
            <a:ext cx="1581912" cy="1874519"/>
          </a:xfrm>
          <a:prstGeom prst="rect">
            <a:avLst/>
          </a:prstGeom>
          <a:solidFill>
            <a:srgbClr val="FFFFFF"/>
          </a:solidFill>
          <a:ln w="10160"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377439" y="1865376"/>
            <a:ext cx="1581912" cy="109728"/>
          </a:xfrm>
          <a:prstGeom prst="rect">
            <a:avLst/>
          </a:prstGeom>
          <a:solidFill>
            <a:srgbClr val="3478A5"/>
          </a:solidFill>
          <a:ln w="10160">
            <a:solidFill>
              <a:srgbClr val="3478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: 2  FEATURE"/>
          <p:cNvSpPr txBox="1"/>
          <p:nvPr/>
        </p:nvSpPr>
        <p:spPr>
          <a:xfrm>
            <a:off x="2505456" y="2185416"/>
            <a:ext cx="1325880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72127"/>
                </a:solidFill>
                <a:latin typeface="Aptos Display"/>
              </a:rPr>
              <a:t>2  FEATURE</a:t>
            </a:r>
          </a:p>
        </p:txBody>
      </p:sp>
      <p:sp>
        <p:nvSpPr>
          <p:cNvPr id="16" name="Text: Point-in-time quality, value and risk signals"/>
          <p:cNvSpPr txBox="1"/>
          <p:nvPr/>
        </p:nvSpPr>
        <p:spPr>
          <a:xfrm>
            <a:off x="2505456" y="2679192"/>
            <a:ext cx="1325880" cy="7498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47078"/>
                </a:solidFill>
                <a:latin typeface="Aptos"/>
              </a:rPr>
              <a:t>Point-in-time quality, value and risk signals</a:t>
            </a:r>
          </a:p>
        </p:txBody>
      </p:sp>
      <p:sp>
        <p:nvSpPr>
          <p:cNvPr id="17" name="Chevron 16"/>
          <p:cNvSpPr/>
          <p:nvPr/>
        </p:nvSpPr>
        <p:spPr>
          <a:xfrm>
            <a:off x="4005072" y="2551176"/>
            <a:ext cx="219456" cy="530352"/>
          </a:xfrm>
          <a:prstGeom prst="chevron">
            <a:avLst/>
          </a:prstGeom>
          <a:solidFill>
            <a:srgbClr val="D8E0DD"/>
          </a:solidFill>
          <a:ln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251959" y="1865376"/>
            <a:ext cx="1581912" cy="1874519"/>
          </a:xfrm>
          <a:prstGeom prst="rect">
            <a:avLst/>
          </a:prstGeom>
          <a:solidFill>
            <a:srgbClr val="FFFFFF"/>
          </a:solidFill>
          <a:ln w="10160"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251959" y="1865376"/>
            <a:ext cx="1581912" cy="109728"/>
          </a:xfrm>
          <a:prstGeom prst="rect">
            <a:avLst/>
          </a:prstGeom>
          <a:solidFill>
            <a:srgbClr val="3478A5"/>
          </a:solidFill>
          <a:ln w="10160">
            <a:solidFill>
              <a:srgbClr val="3478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: 3  FORECAST"/>
          <p:cNvSpPr txBox="1"/>
          <p:nvPr/>
        </p:nvSpPr>
        <p:spPr>
          <a:xfrm>
            <a:off x="4379975" y="2185416"/>
            <a:ext cx="1325880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72127"/>
                </a:solidFill>
                <a:latin typeface="Aptos Display"/>
              </a:rPr>
              <a:t>3  FORECAST</a:t>
            </a:r>
          </a:p>
        </p:txBody>
      </p:sp>
      <p:sp>
        <p:nvSpPr>
          <p:cNvPr id="21" name="Text: 3, 6, 9 and 12 month distributions"/>
          <p:cNvSpPr txBox="1"/>
          <p:nvPr/>
        </p:nvSpPr>
        <p:spPr>
          <a:xfrm>
            <a:off x="4379975" y="2679192"/>
            <a:ext cx="1325880" cy="7498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47078"/>
                </a:solidFill>
                <a:latin typeface="Aptos"/>
              </a:rPr>
              <a:t>3, 6, 9 and 12 month distributions</a:t>
            </a:r>
          </a:p>
        </p:txBody>
      </p:sp>
      <p:sp>
        <p:nvSpPr>
          <p:cNvPr id="22" name="Chevron 21"/>
          <p:cNvSpPr/>
          <p:nvPr/>
        </p:nvSpPr>
        <p:spPr>
          <a:xfrm>
            <a:off x="5879592" y="2551176"/>
            <a:ext cx="219456" cy="530352"/>
          </a:xfrm>
          <a:prstGeom prst="chevron">
            <a:avLst/>
          </a:prstGeom>
          <a:solidFill>
            <a:srgbClr val="D8E0DD"/>
          </a:solidFill>
          <a:ln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26479" y="1865376"/>
            <a:ext cx="1581912" cy="1874519"/>
          </a:xfrm>
          <a:prstGeom prst="rect">
            <a:avLst/>
          </a:prstGeom>
          <a:solidFill>
            <a:srgbClr val="FFFFFF"/>
          </a:solidFill>
          <a:ln w="10160"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126479" y="1865376"/>
            <a:ext cx="1581912" cy="109728"/>
          </a:xfrm>
          <a:prstGeom prst="rect">
            <a:avLst/>
          </a:prstGeom>
          <a:solidFill>
            <a:srgbClr val="3478A5"/>
          </a:solidFill>
          <a:ln w="10160">
            <a:solidFill>
              <a:srgbClr val="3478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: 4  COMPARE"/>
          <p:cNvSpPr txBox="1"/>
          <p:nvPr/>
        </p:nvSpPr>
        <p:spPr>
          <a:xfrm>
            <a:off x="6254495" y="2185416"/>
            <a:ext cx="1325880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72127"/>
                </a:solidFill>
                <a:latin typeface="Aptos Display"/>
              </a:rPr>
              <a:t>4  COMPARE</a:t>
            </a:r>
          </a:p>
        </p:txBody>
      </p:sp>
      <p:sp>
        <p:nvSpPr>
          <p:cNvPr id="26" name="Text: Portfolio-aware, clean-sheet and LLM branches"/>
          <p:cNvSpPr txBox="1"/>
          <p:nvPr/>
        </p:nvSpPr>
        <p:spPr>
          <a:xfrm>
            <a:off x="6254495" y="2679192"/>
            <a:ext cx="1325880" cy="7498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47078"/>
                </a:solidFill>
                <a:latin typeface="Aptos"/>
              </a:rPr>
              <a:t>Portfolio-aware, clean-sheet and LLM branches</a:t>
            </a:r>
          </a:p>
        </p:txBody>
      </p:sp>
      <p:sp>
        <p:nvSpPr>
          <p:cNvPr id="27" name="Chevron 26"/>
          <p:cNvSpPr/>
          <p:nvPr/>
        </p:nvSpPr>
        <p:spPr>
          <a:xfrm>
            <a:off x="7754111" y="2551176"/>
            <a:ext cx="219456" cy="530352"/>
          </a:xfrm>
          <a:prstGeom prst="chevron">
            <a:avLst/>
          </a:prstGeom>
          <a:solidFill>
            <a:srgbClr val="D8E0DD"/>
          </a:solidFill>
          <a:ln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001000" y="1865376"/>
            <a:ext cx="1581912" cy="1874519"/>
          </a:xfrm>
          <a:prstGeom prst="rect">
            <a:avLst/>
          </a:prstGeom>
          <a:solidFill>
            <a:srgbClr val="FFFFFF"/>
          </a:solidFill>
          <a:ln w="10160"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001000" y="1865376"/>
            <a:ext cx="1581912" cy="109728"/>
          </a:xfrm>
          <a:prstGeom prst="rect">
            <a:avLst/>
          </a:prstGeom>
          <a:solidFill>
            <a:srgbClr val="14966F"/>
          </a:solidFill>
          <a:ln w="10160">
            <a:solidFill>
              <a:srgbClr val="1496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: 5  CONSTRAIN"/>
          <p:cNvSpPr txBox="1"/>
          <p:nvPr/>
        </p:nvSpPr>
        <p:spPr>
          <a:xfrm>
            <a:off x="8129016" y="2185416"/>
            <a:ext cx="1325880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72127"/>
                </a:solidFill>
                <a:latin typeface="Aptos Display"/>
              </a:rPr>
              <a:t>5  CONSTRAIN</a:t>
            </a:r>
          </a:p>
        </p:txBody>
      </p:sp>
      <p:sp>
        <p:nvSpPr>
          <p:cNvPr id="31" name="Text: CVaR, liquidity and concentration limits"/>
          <p:cNvSpPr txBox="1"/>
          <p:nvPr/>
        </p:nvSpPr>
        <p:spPr>
          <a:xfrm>
            <a:off x="8129016" y="2679192"/>
            <a:ext cx="1325880" cy="7498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47078"/>
                </a:solidFill>
                <a:latin typeface="Aptos"/>
              </a:rPr>
              <a:t>CVaR, liquidity and concentration limits</a:t>
            </a:r>
          </a:p>
        </p:txBody>
      </p:sp>
      <p:sp>
        <p:nvSpPr>
          <p:cNvPr id="32" name="Chevron 31"/>
          <p:cNvSpPr/>
          <p:nvPr/>
        </p:nvSpPr>
        <p:spPr>
          <a:xfrm>
            <a:off x="9628632" y="2551176"/>
            <a:ext cx="219456" cy="530352"/>
          </a:xfrm>
          <a:prstGeom prst="chevron">
            <a:avLst/>
          </a:prstGeom>
          <a:solidFill>
            <a:srgbClr val="D8E0DD"/>
          </a:solidFill>
          <a:ln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9875520" y="1865376"/>
            <a:ext cx="1581912" cy="1874519"/>
          </a:xfrm>
          <a:prstGeom prst="rect">
            <a:avLst/>
          </a:prstGeom>
          <a:solidFill>
            <a:srgbClr val="FFFFFF"/>
          </a:solidFill>
          <a:ln w="10160"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875520" y="1865376"/>
            <a:ext cx="1581912" cy="109728"/>
          </a:xfrm>
          <a:prstGeom prst="rect">
            <a:avLst/>
          </a:prstGeom>
          <a:solidFill>
            <a:srgbClr val="14966F"/>
          </a:solidFill>
          <a:ln w="10160">
            <a:solidFill>
              <a:srgbClr val="1496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: 6  GOVERN"/>
          <p:cNvSpPr txBox="1"/>
          <p:nvPr/>
        </p:nvSpPr>
        <p:spPr>
          <a:xfrm>
            <a:off x="10003536" y="2185416"/>
            <a:ext cx="1325880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72127"/>
                </a:solidFill>
                <a:latin typeface="Aptos Display"/>
              </a:rPr>
              <a:t>6  GOVERN</a:t>
            </a:r>
          </a:p>
        </p:txBody>
      </p:sp>
      <p:sp>
        <p:nvSpPr>
          <p:cNvPr id="36" name="Text: Stress, validation and committee reporting"/>
          <p:cNvSpPr txBox="1"/>
          <p:nvPr/>
        </p:nvSpPr>
        <p:spPr>
          <a:xfrm>
            <a:off x="10003536" y="2679192"/>
            <a:ext cx="1325880" cy="7498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47078"/>
                </a:solidFill>
                <a:latin typeface="Aptos"/>
              </a:rPr>
              <a:t>Stress, validation and committee reporting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02920" y="4242816"/>
            <a:ext cx="5486400" cy="1042415"/>
          </a:xfrm>
          <a:prstGeom prst="rect">
            <a:avLst/>
          </a:prstGeom>
          <a:solidFill>
            <a:srgbClr val="E8F4EF"/>
          </a:solidFill>
          <a:ln w="10160">
            <a:solidFill>
              <a:srgbClr val="E8F4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02920" y="4242816"/>
            <a:ext cx="54864" cy="1042415"/>
          </a:xfrm>
          <a:prstGeom prst="rect">
            <a:avLst/>
          </a:prstGeom>
          <a:solidFill>
            <a:srgbClr val="14966F"/>
          </a:solidFill>
          <a:ln w="10160">
            <a:solidFill>
              <a:srgbClr val="1496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: The output is a decision package"/>
          <p:cNvSpPr txBox="1"/>
          <p:nvPr/>
        </p:nvSpPr>
        <p:spPr>
          <a:xfrm>
            <a:off x="704088" y="4389120"/>
            <a:ext cx="5157216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72127"/>
                </a:solidFill>
                <a:latin typeface="Aptos Display"/>
              </a:rPr>
              <a:t>The output is a decision package</a:t>
            </a:r>
          </a:p>
        </p:txBody>
      </p:sp>
      <p:sp>
        <p:nvSpPr>
          <p:cNvPr id="40" name="Text: Ranked equities, target weights, trade direction, "/>
          <p:cNvSpPr txBox="1"/>
          <p:nvPr/>
        </p:nvSpPr>
        <p:spPr>
          <a:xfrm>
            <a:off x="704088" y="4764024"/>
            <a:ext cx="5157216" cy="402335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647078"/>
                </a:solidFill>
                <a:latin typeface="Aptos"/>
              </a:rPr>
              <a:t>Ranked equities, target weights, trade direction, exposure limits, risk tests, stress results and an approval status.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236208" y="4242816"/>
            <a:ext cx="5440680" cy="1042415"/>
          </a:xfrm>
          <a:prstGeom prst="rect">
            <a:avLst/>
          </a:prstGeom>
          <a:solidFill>
            <a:srgbClr val="FBF3DF"/>
          </a:solidFill>
          <a:ln w="10160">
            <a:solidFill>
              <a:srgbClr val="FBF3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236208" y="4242816"/>
            <a:ext cx="54864" cy="1042415"/>
          </a:xfrm>
          <a:prstGeom prst="rect">
            <a:avLst/>
          </a:prstGeom>
          <a:solidFill>
            <a:srgbClr val="C99328"/>
          </a:solidFill>
          <a:ln w="10160">
            <a:solidFill>
              <a:srgbClr val="C99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: DRL is a challenger, not the final authority"/>
          <p:cNvSpPr txBox="1"/>
          <p:nvPr/>
        </p:nvSpPr>
        <p:spPr>
          <a:xfrm>
            <a:off x="6437376" y="4389120"/>
            <a:ext cx="5111496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72127"/>
                </a:solidFill>
                <a:latin typeface="Aptos Display"/>
              </a:rPr>
              <a:t>DRL is a challenger, not the final authority</a:t>
            </a:r>
          </a:p>
        </p:txBody>
      </p:sp>
      <p:sp>
        <p:nvSpPr>
          <p:cNvPr id="44" name="Text: The current DRL proposal was rejected because turn"/>
          <p:cNvSpPr txBox="1"/>
          <p:nvPr/>
        </p:nvSpPr>
        <p:spPr>
          <a:xfrm>
            <a:off x="6437376" y="4764024"/>
            <a:ext cx="5111496" cy="402335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647078"/>
                </a:solidFill>
                <a:latin typeface="Aptos"/>
              </a:rPr>
              <a:t>The current DRL proposal was rejected because turnover exceeded its hard limit. The CVaR baseline remained selected.</a:t>
            </a:r>
          </a:p>
        </p:txBody>
      </p:sp>
      <p:sp>
        <p:nvSpPr>
          <p:cNvPr id="45" name="Text: Human review stays between model recommendation an"/>
          <p:cNvSpPr txBox="1"/>
          <p:nvPr/>
        </p:nvSpPr>
        <p:spPr>
          <a:xfrm>
            <a:off x="530352" y="5650992"/>
            <a:ext cx="10972800" cy="32918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0B6F56"/>
                </a:solidFill>
                <a:latin typeface="Aptos Display"/>
              </a:rPr>
              <a:t>Human review stays between model recommendation and execution.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: Evidence breadth and point-in-time progress"/>
          <p:cNvSpPr txBox="1"/>
          <p:nvPr/>
        </p:nvSpPr>
        <p:spPr>
          <a:xfrm>
            <a:off x="475488" y="292608"/>
            <a:ext cx="9966960" cy="40233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72127"/>
                </a:solidFill>
                <a:latin typeface="Aptos Display"/>
              </a:rPr>
              <a:t>Evidence breadth and point-in-time progress</a:t>
            </a:r>
          </a:p>
        </p:txBody>
      </p:sp>
      <p:sp>
        <p:nvSpPr>
          <p:cNvPr id="3" name="Text: Delistings improved; observed historical availabil"/>
          <p:cNvSpPr txBox="1"/>
          <p:nvPr/>
        </p:nvSpPr>
        <p:spPr>
          <a:xfrm>
            <a:off x="493776" y="740664"/>
            <a:ext cx="10424160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47078"/>
                </a:solidFill>
                <a:latin typeface="Aptos"/>
              </a:rPr>
              <a:t>Delistings improved; observed historical availability remains the main gap.</a:t>
            </a:r>
          </a:p>
        </p:txBody>
      </p:sp>
      <p:sp>
        <p:nvSpPr>
          <p:cNvPr id="4" name="Text: 04"/>
          <p:cNvSpPr txBox="1"/>
          <p:nvPr/>
        </p:nvSpPr>
        <p:spPr>
          <a:xfrm>
            <a:off x="11219688" y="320040"/>
            <a:ext cx="475488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647078"/>
                </a:solidFill>
                <a:latin typeface="Aptos"/>
              </a:rPr>
              <a:t>04</a:t>
            </a:r>
          </a:p>
        </p:txBody>
      </p:sp>
      <p:sp>
        <p:nvSpPr>
          <p:cNvPr id="5" name="Header divider"/>
          <p:cNvSpPr/>
          <p:nvPr/>
        </p:nvSpPr>
        <p:spPr>
          <a:xfrm>
            <a:off x="493776" y="1060704"/>
            <a:ext cx="11201400" cy="10972"/>
          </a:xfrm>
          <a:prstGeom prst="rect">
            <a:avLst/>
          </a:prstGeom>
          <a:solidFill>
            <a:srgbClr val="D8E0DD"/>
          </a:solidFill>
          <a:ln w="10160"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: Wolf Quant Model | Research use"/>
          <p:cNvSpPr txBox="1"/>
          <p:nvPr/>
        </p:nvSpPr>
        <p:spPr>
          <a:xfrm>
            <a:off x="493776" y="6565392"/>
            <a:ext cx="3474720" cy="14630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647078"/>
                </a:solidFill>
                <a:latin typeface="Aptos"/>
              </a:rPr>
              <a:t>Wolf Quant Model | Research use</a:t>
            </a:r>
          </a:p>
        </p:txBody>
      </p:sp>
      <p:sp>
        <p:nvSpPr>
          <p:cNvPr id="7" name="Text: Universe, walk-forward manifest and PIT evidence c"/>
          <p:cNvSpPr txBox="1"/>
          <p:nvPr/>
        </p:nvSpPr>
        <p:spPr>
          <a:xfrm>
            <a:off x="3749039" y="6565392"/>
            <a:ext cx="7936992" cy="14630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0"/>
              </a:spcAft>
            </a:pPr>
            <a:r>
              <a:rPr sz="750" b="0">
                <a:solidFill>
                  <a:srgbClr val="647078"/>
                </a:solidFill>
                <a:latin typeface="Aptos"/>
              </a:rPr>
              <a:t>Universe, walk-forward manifest and PIT evidence coverage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335024"/>
            <a:ext cx="2542032" cy="932688"/>
          </a:xfrm>
          <a:prstGeom prst="rect">
            <a:avLst/>
          </a:prstGeom>
          <a:solidFill>
            <a:srgbClr val="FFFFFF"/>
          </a:solidFill>
          <a:ln w="10160"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335024"/>
            <a:ext cx="50292" cy="932688"/>
          </a:xfrm>
          <a:prstGeom prst="rect">
            <a:avLst/>
          </a:prstGeom>
          <a:solidFill>
            <a:srgbClr val="14966F"/>
          </a:solidFill>
          <a:ln w="10160">
            <a:solidFill>
              <a:srgbClr val="1496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: 55,504"/>
          <p:cNvSpPr txBox="1"/>
          <p:nvPr/>
        </p:nvSpPr>
        <p:spPr>
          <a:xfrm>
            <a:off x="667512" y="1463040"/>
            <a:ext cx="2286000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100" b="1">
                <a:solidFill>
                  <a:srgbClr val="172127"/>
                </a:solidFill>
                <a:latin typeface="Aptos Display"/>
              </a:rPr>
              <a:t>55,504</a:t>
            </a:r>
          </a:p>
        </p:txBody>
      </p:sp>
      <p:sp>
        <p:nvSpPr>
          <p:cNvPr id="11" name="Text: active equities"/>
          <p:cNvSpPr txBox="1"/>
          <p:nvPr/>
        </p:nvSpPr>
        <p:spPr>
          <a:xfrm>
            <a:off x="667512" y="1865376"/>
            <a:ext cx="2286000" cy="20116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647078"/>
                </a:solidFill>
                <a:latin typeface="Aptos"/>
              </a:rPr>
              <a:t>active equities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19272" y="1335024"/>
            <a:ext cx="2542032" cy="932688"/>
          </a:xfrm>
          <a:prstGeom prst="rect">
            <a:avLst/>
          </a:prstGeom>
          <a:solidFill>
            <a:srgbClr val="FFFFFF"/>
          </a:solidFill>
          <a:ln w="10160"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319272" y="1335024"/>
            <a:ext cx="50292" cy="932688"/>
          </a:xfrm>
          <a:prstGeom prst="rect">
            <a:avLst/>
          </a:prstGeom>
          <a:solidFill>
            <a:srgbClr val="3478A5"/>
          </a:solidFill>
          <a:ln w="10160">
            <a:solidFill>
              <a:srgbClr val="3478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: 1,409"/>
          <p:cNvSpPr txBox="1"/>
          <p:nvPr/>
        </p:nvSpPr>
        <p:spPr>
          <a:xfrm>
            <a:off x="3483864" y="1463040"/>
            <a:ext cx="2286000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100" b="1">
                <a:solidFill>
                  <a:srgbClr val="172127"/>
                </a:solidFill>
                <a:latin typeface="Aptos Display"/>
              </a:rPr>
              <a:t>1,409</a:t>
            </a:r>
          </a:p>
        </p:txBody>
      </p:sp>
      <p:sp>
        <p:nvSpPr>
          <p:cNvPr id="15" name="Text: walk-forward eligible"/>
          <p:cNvSpPr txBox="1"/>
          <p:nvPr/>
        </p:nvSpPr>
        <p:spPr>
          <a:xfrm>
            <a:off x="3483864" y="1865376"/>
            <a:ext cx="2286000" cy="20116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647078"/>
                </a:solidFill>
                <a:latin typeface="Aptos"/>
              </a:rPr>
              <a:t>walk-forward eligible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35624" y="1335024"/>
            <a:ext cx="2542032" cy="932688"/>
          </a:xfrm>
          <a:prstGeom prst="rect">
            <a:avLst/>
          </a:prstGeom>
          <a:solidFill>
            <a:srgbClr val="FFFFFF"/>
          </a:solidFill>
          <a:ln w="10160"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35624" y="1335024"/>
            <a:ext cx="50292" cy="932688"/>
          </a:xfrm>
          <a:prstGeom prst="rect">
            <a:avLst/>
          </a:prstGeom>
          <a:solidFill>
            <a:srgbClr val="3478A5"/>
          </a:solidFill>
          <a:ln w="10160">
            <a:solidFill>
              <a:srgbClr val="3478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: 156,960"/>
          <p:cNvSpPr txBox="1"/>
          <p:nvPr/>
        </p:nvSpPr>
        <p:spPr>
          <a:xfrm>
            <a:off x="6300216" y="1463040"/>
            <a:ext cx="2286000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100" b="1">
                <a:solidFill>
                  <a:srgbClr val="172127"/>
                </a:solidFill>
                <a:latin typeface="Aptos Display"/>
              </a:rPr>
              <a:t>156,960</a:t>
            </a:r>
          </a:p>
        </p:txBody>
      </p:sp>
      <p:sp>
        <p:nvSpPr>
          <p:cNvPr id="19" name="Text: historical forecasts"/>
          <p:cNvSpPr txBox="1"/>
          <p:nvPr/>
        </p:nvSpPr>
        <p:spPr>
          <a:xfrm>
            <a:off x="6300216" y="1865376"/>
            <a:ext cx="2286000" cy="20116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647078"/>
                </a:solidFill>
                <a:latin typeface="Aptos"/>
              </a:rPr>
              <a:t>historical forecasts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951976" y="1335024"/>
            <a:ext cx="2542032" cy="932688"/>
          </a:xfrm>
          <a:prstGeom prst="rect">
            <a:avLst/>
          </a:prstGeom>
          <a:solidFill>
            <a:srgbClr val="FFFFFF"/>
          </a:solidFill>
          <a:ln w="10160"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951976" y="1335024"/>
            <a:ext cx="50292" cy="932688"/>
          </a:xfrm>
          <a:prstGeom prst="rect">
            <a:avLst/>
          </a:prstGeom>
          <a:solidFill>
            <a:srgbClr val="14966F"/>
          </a:solidFill>
          <a:ln w="10160">
            <a:solidFill>
              <a:srgbClr val="1496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: 59,183"/>
          <p:cNvSpPr txBox="1"/>
          <p:nvPr/>
        </p:nvSpPr>
        <p:spPr>
          <a:xfrm>
            <a:off x="9116568" y="1463040"/>
            <a:ext cx="2286000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100" b="1">
                <a:solidFill>
                  <a:srgbClr val="172127"/>
                </a:solidFill>
                <a:latin typeface="Aptos Display"/>
              </a:rPr>
              <a:t>59,183</a:t>
            </a:r>
          </a:p>
        </p:txBody>
      </p:sp>
      <p:sp>
        <p:nvSpPr>
          <p:cNvPr id="23" name="Text: delistings archived"/>
          <p:cNvSpPr txBox="1"/>
          <p:nvPr/>
        </p:nvSpPr>
        <p:spPr>
          <a:xfrm>
            <a:off x="9116568" y="1865376"/>
            <a:ext cx="2286000" cy="20116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647078"/>
                </a:solidFill>
                <a:latin typeface="Aptos"/>
              </a:rPr>
              <a:t>delistings archived</a:t>
            </a:r>
          </a:p>
        </p:txBody>
      </p:sp>
      <p:graphicFrame>
        <p:nvGraphicFramePr>
          <p:cNvPr id="24" name="Evidence table"/>
          <p:cNvGraphicFramePr>
            <a:graphicFrameLocks noGrp="1"/>
          </p:cNvGraphicFramePr>
          <p:nvPr/>
        </p:nvGraphicFramePr>
        <p:xfrm>
          <a:off x="502920" y="2587752"/>
          <a:ext cx="5577837" cy="28529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89432"/>
                <a:gridCol w="1042586"/>
                <a:gridCol w="1042586"/>
                <a:gridCol w="1303233"/>
              </a:tblGrid>
              <a:tr h="407561"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Region</a:t>
                      </a:r>
                    </a:p>
                  </a:txBody>
                  <a:tcPr marL="54864" marR="36576" marT="27432" marB="27432">
                    <a:solidFill>
                      <a:srgbClr val="17212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Active</a:t>
                      </a:r>
                    </a:p>
                  </a:txBody>
                  <a:tcPr marL="54864" marR="36576" marT="27432" marB="27432">
                    <a:solidFill>
                      <a:srgbClr val="17212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Master</a:t>
                      </a:r>
                    </a:p>
                  </a:txBody>
                  <a:tcPr marL="54864" marR="36576" marT="27432" marB="27432">
                    <a:solidFill>
                      <a:srgbClr val="17212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Active share</a:t>
                      </a:r>
                    </a:p>
                  </a:txBody>
                  <a:tcPr marL="54864" marR="36576" marT="27432" marB="27432">
                    <a:solidFill>
                      <a:srgbClr val="172127"/>
                    </a:solidFill>
                  </a:tcPr>
                </a:tc>
              </a:tr>
              <a:tr h="407561"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DACH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21,603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38,792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55.7%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  <a:tr h="407561"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EU ex-DACH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2,436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5,088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47.9%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  <a:tr h="407561"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Hong Kong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3,504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4,130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84.8%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  <a:tr h="407561"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Mainland China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5,103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5,373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95.0%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  <a:tr h="407561"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UK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3,932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6,664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59.0%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  <a:tr h="407562"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US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18,926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52,523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36.0%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5" name="Evidence table"/>
          <p:cNvGraphicFramePr>
            <a:graphicFrameLocks noGrp="1"/>
          </p:cNvGraphicFramePr>
          <p:nvPr/>
        </p:nvGraphicFramePr>
        <p:xfrm>
          <a:off x="6336792" y="2587752"/>
          <a:ext cx="5340094" cy="28529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18700"/>
                <a:gridCol w="1232329"/>
                <a:gridCol w="1489065"/>
              </a:tblGrid>
              <a:tr h="407561"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PIT evidence</a:t>
                      </a:r>
                    </a:p>
                  </a:txBody>
                  <a:tcPr marL="54864" marR="36576" marT="27432" marB="27432">
                    <a:solidFill>
                      <a:srgbClr val="17212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Coverage</a:t>
                      </a:r>
                    </a:p>
                  </a:txBody>
                  <a:tcPr marL="54864" marR="36576" marT="27432" marB="27432">
                    <a:solidFill>
                      <a:srgbClr val="17212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Status</a:t>
                      </a:r>
                    </a:p>
                  </a:txBody>
                  <a:tcPr marL="54864" marR="36576" marT="27432" marB="27432">
                    <a:solidFill>
                      <a:srgbClr val="172127"/>
                    </a:solidFill>
                  </a:tcPr>
                </a:tc>
              </a:tr>
              <a:tr h="407561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Delisting events</a:t>
                      </a:r>
                    </a:p>
                  </a:txBody>
                  <a:tcPr marL="54864" marR="36576" marT="22860" marB="22860">
                    <a:solidFill>
                      <a:srgbClr val="E8F4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59,183</a:t>
                      </a:r>
                    </a:p>
                  </a:txBody>
                  <a:tcPr marL="54864" marR="36576" marT="22860" marB="22860">
                    <a:solidFill>
                      <a:srgbClr val="E8F4E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Archived</a:t>
                      </a:r>
                    </a:p>
                  </a:txBody>
                  <a:tcPr marL="54864" marR="36576" marT="22860" marB="22860">
                    <a:solidFill>
                      <a:srgbClr val="E8F4EF"/>
                    </a:solidFill>
                  </a:tcPr>
                </a:tc>
              </a:tr>
              <a:tr h="407561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Fundamentals with filing date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7,081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Mostly reconstructed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  <a:tr h="407561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Observed acceptance times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0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Missing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  <a:tr h="407561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Dated membership events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0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Missing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  <a:tr h="407561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Inactive names with prices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0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Missing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  <a:tr h="407562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Names with historical volume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0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Missing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6" name="Rectangle 25"/>
          <p:cNvSpPr/>
          <p:nvPr/>
        </p:nvSpPr>
        <p:spPr>
          <a:xfrm>
            <a:off x="502920" y="5650992"/>
            <a:ext cx="11173968" cy="594360"/>
          </a:xfrm>
          <a:prstGeom prst="rect">
            <a:avLst/>
          </a:prstGeom>
          <a:solidFill>
            <a:srgbClr val="FBF3DF"/>
          </a:solidFill>
          <a:ln w="10160">
            <a:solidFill>
              <a:srgbClr val="FBF3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02920" y="5650992"/>
            <a:ext cx="54864" cy="594360"/>
          </a:xfrm>
          <a:prstGeom prst="rect">
            <a:avLst/>
          </a:prstGeom>
          <a:solidFill>
            <a:srgbClr val="C99328"/>
          </a:solidFill>
          <a:ln w="10160">
            <a:solidFill>
              <a:srgbClr val="C99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: Provider outcome: EODHD added 59,183 delistings; N"/>
          <p:cNvSpPr txBox="1"/>
          <p:nvPr/>
        </p:nvSpPr>
        <p:spPr>
          <a:xfrm>
            <a:off x="704088" y="5742431"/>
            <a:ext cx="10844784" cy="42976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19" b="1">
                <a:solidFill>
                  <a:srgbClr val="172127"/>
                </a:solidFill>
                <a:latin typeface="Aptos"/>
              </a:rPr>
              <a:t>Provider outcome: EODHD added 59,183 delistings; Nasdaq entitlement yielded five usable rows; Beam was unavailable; SEC blocked this runner. Unavailable history is never treated as observed.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: Equities to establish in the target portfolio"/>
          <p:cNvSpPr txBox="1"/>
          <p:nvPr/>
        </p:nvSpPr>
        <p:spPr>
          <a:xfrm>
            <a:off x="475488" y="292608"/>
            <a:ext cx="9966960" cy="40233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72127"/>
                </a:solidFill>
                <a:latin typeface="Aptos Display"/>
              </a:rPr>
              <a:t>Equities to establish in the target portfolio</a:t>
            </a:r>
          </a:p>
        </p:txBody>
      </p:sp>
      <p:sp>
        <p:nvSpPr>
          <p:cNvPr id="3" name="Text: Model trade direction versus current holdings; wei"/>
          <p:cNvSpPr txBox="1"/>
          <p:nvPr/>
        </p:nvSpPr>
        <p:spPr>
          <a:xfrm>
            <a:off x="493776" y="740664"/>
            <a:ext cx="10424160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47078"/>
                </a:solidFill>
                <a:latin typeface="Aptos"/>
              </a:rPr>
              <a:t>Model trade direction versus current holdings; weights are targets.</a:t>
            </a:r>
          </a:p>
        </p:txBody>
      </p:sp>
      <p:sp>
        <p:nvSpPr>
          <p:cNvPr id="4" name="Text: 05"/>
          <p:cNvSpPr txBox="1"/>
          <p:nvPr/>
        </p:nvSpPr>
        <p:spPr>
          <a:xfrm>
            <a:off x="11219688" y="320040"/>
            <a:ext cx="475488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647078"/>
                </a:solidFill>
                <a:latin typeface="Aptos"/>
              </a:rPr>
              <a:t>05</a:t>
            </a:r>
          </a:p>
        </p:txBody>
      </p:sp>
      <p:sp>
        <p:nvSpPr>
          <p:cNvPr id="5" name="Header divider"/>
          <p:cNvSpPr/>
          <p:nvPr/>
        </p:nvSpPr>
        <p:spPr>
          <a:xfrm>
            <a:off x="493776" y="1060704"/>
            <a:ext cx="11201400" cy="10972"/>
          </a:xfrm>
          <a:prstGeom prst="rect">
            <a:avLst/>
          </a:prstGeom>
          <a:solidFill>
            <a:srgbClr val="D8E0DD"/>
          </a:solidFill>
          <a:ln w="10160"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: Wolf Quant Model | Research use"/>
          <p:cNvSpPr txBox="1"/>
          <p:nvPr/>
        </p:nvSpPr>
        <p:spPr>
          <a:xfrm>
            <a:off x="493776" y="6565392"/>
            <a:ext cx="3474720" cy="14630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647078"/>
                </a:solidFill>
                <a:latin typeface="Aptos"/>
              </a:rPr>
              <a:t>Wolf Quant Model | Research use</a:t>
            </a:r>
          </a:p>
        </p:txBody>
      </p:sp>
      <p:sp>
        <p:nvSpPr>
          <p:cNvPr id="7" name="Text: Final portfolio weights and portfolio trade list"/>
          <p:cNvSpPr txBox="1"/>
          <p:nvPr/>
        </p:nvSpPr>
        <p:spPr>
          <a:xfrm>
            <a:off x="3749039" y="6565392"/>
            <a:ext cx="7936992" cy="14630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0"/>
              </a:spcAft>
            </a:pPr>
            <a:r>
              <a:rPr sz="750" b="0">
                <a:solidFill>
                  <a:srgbClr val="647078"/>
                </a:solidFill>
                <a:latin typeface="Aptos"/>
              </a:rPr>
              <a:t>Final portfolio weights and portfolio trade list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271016"/>
            <a:ext cx="2103120" cy="932688"/>
          </a:xfrm>
          <a:prstGeom prst="rect">
            <a:avLst/>
          </a:prstGeom>
          <a:solidFill>
            <a:srgbClr val="E8F4EF"/>
          </a:solidFill>
          <a:ln w="10160"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271016"/>
            <a:ext cx="50292" cy="932688"/>
          </a:xfrm>
          <a:prstGeom prst="rect">
            <a:avLst/>
          </a:prstGeom>
          <a:solidFill>
            <a:srgbClr val="14966F"/>
          </a:solidFill>
          <a:ln w="10160">
            <a:solidFill>
              <a:srgbClr val="1496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: 19"/>
          <p:cNvSpPr txBox="1"/>
          <p:nvPr/>
        </p:nvSpPr>
        <p:spPr>
          <a:xfrm>
            <a:off x="667512" y="1399031"/>
            <a:ext cx="1847087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100" b="1">
                <a:solidFill>
                  <a:srgbClr val="172127"/>
                </a:solidFill>
                <a:latin typeface="Aptos Display"/>
              </a:rPr>
              <a:t>19</a:t>
            </a:r>
          </a:p>
        </p:txBody>
      </p:sp>
      <p:sp>
        <p:nvSpPr>
          <p:cNvPr id="11" name="Text: buy actions"/>
          <p:cNvSpPr txBox="1"/>
          <p:nvPr/>
        </p:nvSpPr>
        <p:spPr>
          <a:xfrm>
            <a:off x="667512" y="1801367"/>
            <a:ext cx="1847087" cy="20116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647078"/>
                </a:solidFill>
                <a:latin typeface="Aptos"/>
              </a:rPr>
              <a:t>buy actions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61488" y="1271016"/>
            <a:ext cx="2103120" cy="932688"/>
          </a:xfrm>
          <a:prstGeom prst="rect">
            <a:avLst/>
          </a:prstGeom>
          <a:solidFill>
            <a:srgbClr val="FBF3DF"/>
          </a:solidFill>
          <a:ln w="10160"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761488" y="1271016"/>
            <a:ext cx="50292" cy="932688"/>
          </a:xfrm>
          <a:prstGeom prst="rect">
            <a:avLst/>
          </a:prstGeom>
          <a:solidFill>
            <a:srgbClr val="C99328"/>
          </a:solidFill>
          <a:ln w="10160">
            <a:solidFill>
              <a:srgbClr val="C99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: 1"/>
          <p:cNvSpPr txBox="1"/>
          <p:nvPr/>
        </p:nvSpPr>
        <p:spPr>
          <a:xfrm>
            <a:off x="2926080" y="1399031"/>
            <a:ext cx="1847087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100" b="1">
                <a:solidFill>
                  <a:srgbClr val="172127"/>
                </a:solidFill>
                <a:latin typeface="Aptos Display"/>
              </a:rPr>
              <a:t>1</a:t>
            </a:r>
          </a:p>
        </p:txBody>
      </p:sp>
      <p:sp>
        <p:nvSpPr>
          <p:cNvPr id="15" name="Text: reduce actions"/>
          <p:cNvSpPr txBox="1"/>
          <p:nvPr/>
        </p:nvSpPr>
        <p:spPr>
          <a:xfrm>
            <a:off x="2926080" y="1801367"/>
            <a:ext cx="1847087" cy="20116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647078"/>
                </a:solidFill>
                <a:latin typeface="Aptos"/>
              </a:rPr>
              <a:t>reduce actions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0056" y="1271016"/>
            <a:ext cx="2103120" cy="932688"/>
          </a:xfrm>
          <a:prstGeom prst="rect">
            <a:avLst/>
          </a:prstGeom>
          <a:solidFill>
            <a:srgbClr val="FFFFFF"/>
          </a:solidFill>
          <a:ln w="10160"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020056" y="1271016"/>
            <a:ext cx="50292" cy="932688"/>
          </a:xfrm>
          <a:prstGeom prst="rect">
            <a:avLst/>
          </a:prstGeom>
          <a:solidFill>
            <a:srgbClr val="3478A5"/>
          </a:solidFill>
          <a:ln w="10160">
            <a:solidFill>
              <a:srgbClr val="3478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: 5.0%"/>
          <p:cNvSpPr txBox="1"/>
          <p:nvPr/>
        </p:nvSpPr>
        <p:spPr>
          <a:xfrm>
            <a:off x="5184648" y="1399031"/>
            <a:ext cx="1847087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100" b="1">
                <a:solidFill>
                  <a:srgbClr val="172127"/>
                </a:solidFill>
                <a:latin typeface="Aptos Display"/>
              </a:rPr>
              <a:t>5.0%</a:t>
            </a:r>
          </a:p>
        </p:txBody>
      </p:sp>
      <p:sp>
        <p:nvSpPr>
          <p:cNvPr id="19" name="Text: target per name"/>
          <p:cNvSpPr txBox="1"/>
          <p:nvPr/>
        </p:nvSpPr>
        <p:spPr>
          <a:xfrm>
            <a:off x="5184648" y="1801367"/>
            <a:ext cx="1847087" cy="20116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647078"/>
                </a:solidFill>
                <a:latin typeface="Aptos"/>
              </a:rPr>
              <a:t>target per name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278624" y="1271016"/>
            <a:ext cx="2103120" cy="932688"/>
          </a:xfrm>
          <a:prstGeom prst="rect">
            <a:avLst/>
          </a:prstGeom>
          <a:solidFill>
            <a:srgbClr val="FFFFFF"/>
          </a:solidFill>
          <a:ln w="10160"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278624" y="1271016"/>
            <a:ext cx="50292" cy="932688"/>
          </a:xfrm>
          <a:prstGeom prst="rect">
            <a:avLst/>
          </a:prstGeom>
          <a:solidFill>
            <a:srgbClr val="2B7280"/>
          </a:solidFill>
          <a:ln w="10160">
            <a:solidFill>
              <a:srgbClr val="2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: 20"/>
          <p:cNvSpPr txBox="1"/>
          <p:nvPr/>
        </p:nvSpPr>
        <p:spPr>
          <a:xfrm>
            <a:off x="7443216" y="1399031"/>
            <a:ext cx="1847087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100" b="1">
                <a:solidFill>
                  <a:srgbClr val="172127"/>
                </a:solidFill>
                <a:latin typeface="Aptos Display"/>
              </a:rPr>
              <a:t>20</a:t>
            </a:r>
          </a:p>
        </p:txBody>
      </p:sp>
      <p:sp>
        <p:nvSpPr>
          <p:cNvPr id="23" name="Text: target holdings"/>
          <p:cNvSpPr txBox="1"/>
          <p:nvPr/>
        </p:nvSpPr>
        <p:spPr>
          <a:xfrm>
            <a:off x="7443216" y="1801367"/>
            <a:ext cx="1847087" cy="20116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647078"/>
                </a:solidFill>
                <a:latin typeface="Aptos"/>
              </a:rPr>
              <a:t>target holdings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537192" y="1271016"/>
            <a:ext cx="2139696" cy="932688"/>
          </a:xfrm>
          <a:prstGeom prst="rect">
            <a:avLst/>
          </a:prstGeom>
          <a:solidFill>
            <a:srgbClr val="FFFFFF"/>
          </a:solidFill>
          <a:ln w="10160"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537192" y="1271016"/>
            <a:ext cx="50292" cy="932688"/>
          </a:xfrm>
          <a:prstGeom prst="rect">
            <a:avLst/>
          </a:prstGeom>
          <a:solidFill>
            <a:srgbClr val="14966F"/>
          </a:solidFill>
          <a:ln w="10160">
            <a:solidFill>
              <a:srgbClr val="1496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: 6"/>
          <p:cNvSpPr txBox="1"/>
          <p:nvPr/>
        </p:nvSpPr>
        <p:spPr>
          <a:xfrm>
            <a:off x="9701784" y="1399031"/>
            <a:ext cx="1883663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100" b="1">
                <a:solidFill>
                  <a:srgbClr val="172127"/>
                </a:solidFill>
                <a:latin typeface="Aptos Display"/>
              </a:rPr>
              <a:t>6</a:t>
            </a:r>
          </a:p>
        </p:txBody>
      </p:sp>
      <p:sp>
        <p:nvSpPr>
          <p:cNvPr id="27" name="Text: equity regions"/>
          <p:cNvSpPr txBox="1"/>
          <p:nvPr/>
        </p:nvSpPr>
        <p:spPr>
          <a:xfrm>
            <a:off x="9701784" y="1801367"/>
            <a:ext cx="1883663" cy="20116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647078"/>
                </a:solidFill>
                <a:latin typeface="Aptos"/>
              </a:rPr>
              <a:t>equity regions</a:t>
            </a:r>
          </a:p>
        </p:txBody>
      </p:sp>
      <p:graphicFrame>
        <p:nvGraphicFramePr>
          <p:cNvPr id="28" name="Evidence table"/>
          <p:cNvGraphicFramePr>
            <a:graphicFrameLocks noGrp="1"/>
          </p:cNvGraphicFramePr>
          <p:nvPr/>
        </p:nvGraphicFramePr>
        <p:xfrm>
          <a:off x="502920" y="2496312"/>
          <a:ext cx="5385814" cy="3401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50392"/>
                <a:gridCol w="2065237"/>
                <a:gridCol w="1093361"/>
                <a:gridCol w="728907"/>
                <a:gridCol w="647917"/>
              </a:tblGrid>
              <a:tr h="309233">
                <a:tc>
                  <a:txBody>
                    <a:bodyPr/>
                    <a:lstStyle/>
                    <a:p>
                      <a:pPr algn="l">
                        <a:defRPr sz="86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Ticker</a:t>
                      </a:r>
                    </a:p>
                  </a:txBody>
                  <a:tcPr marL="54864" marR="36576" marT="27432" marB="27432">
                    <a:solidFill>
                      <a:srgbClr val="17212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6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Company</a:t>
                      </a:r>
                    </a:p>
                  </a:txBody>
                  <a:tcPr marL="54864" marR="36576" marT="27432" marB="27432">
                    <a:solidFill>
                      <a:srgbClr val="17212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6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Region</a:t>
                      </a:r>
                    </a:p>
                  </a:txBody>
                  <a:tcPr marL="54864" marR="36576" marT="27432" marB="27432">
                    <a:solidFill>
                      <a:srgbClr val="17212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6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Action</a:t>
                      </a:r>
                    </a:p>
                  </a:txBody>
                  <a:tcPr marL="54864" marR="36576" marT="27432" marB="27432">
                    <a:solidFill>
                      <a:srgbClr val="17212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6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Target</a:t>
                      </a:r>
                    </a:p>
                  </a:txBody>
                  <a:tcPr marL="54864" marR="36576" marT="27432" marB="27432">
                    <a:solidFill>
                      <a:srgbClr val="172127"/>
                    </a:solidFill>
                  </a:tcPr>
                </a:tc>
              </a:tr>
              <a:tr h="309233">
                <a:tc>
                  <a:txBody>
                    <a:bodyPr/>
                    <a:lstStyle/>
                    <a:p>
                      <a:pPr algn="l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000333.SHE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Midea Group Co Ltd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Mainland China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Buy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5.0%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  <a:tr h="309233">
                <a:tc>
                  <a:txBody>
                    <a:bodyPr/>
                    <a:lstStyle/>
                    <a:p>
                      <a:pPr algn="l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000538.SHE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Yunnan Baiyao Group Co Ltd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Mainland China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Buy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5.0%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  <a:tr h="309233">
                <a:tc>
                  <a:txBody>
                    <a:bodyPr/>
                    <a:lstStyle/>
                    <a:p>
                      <a:pPr algn="l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0823.HK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Link Real Estate Investment T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Hong Kong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Buy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5.0%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  <a:tr h="309233">
                <a:tc>
                  <a:txBody>
                    <a:bodyPr/>
                    <a:lstStyle/>
                    <a:p>
                      <a:pPr algn="l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3988.HK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Bank of China Ltd H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Hong Kong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Buy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5.0%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  <a:tr h="309233">
                <a:tc>
                  <a:txBody>
                    <a:bodyPr/>
                    <a:lstStyle/>
                    <a:p>
                      <a:pPr algn="l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600018.SHG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Shanghai International Port G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Mainland China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Buy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5.0%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  <a:tr h="309233">
                <a:tc>
                  <a:txBody>
                    <a:bodyPr/>
                    <a:lstStyle/>
                    <a:p>
                      <a:pPr algn="l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600036.SHG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China Merchants Bank Co Ltd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Mainland China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Buy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5.0%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  <a:tr h="309233">
                <a:tc>
                  <a:txBody>
                    <a:bodyPr/>
                    <a:lstStyle/>
                    <a:p>
                      <a:pPr algn="l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601816.SHG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Beijing-Shanghai High Speed R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Mainland China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Buy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5.0%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  <a:tr h="309233">
                <a:tc>
                  <a:txBody>
                    <a:bodyPr/>
                    <a:lstStyle/>
                    <a:p>
                      <a:pPr algn="l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601818.SHG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China Everbright Bank Co Ltd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Mainland China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Buy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5.0%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  <a:tr h="309233">
                <a:tc>
                  <a:txBody>
                    <a:bodyPr/>
                    <a:lstStyle/>
                    <a:p>
                      <a:pPr algn="l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AD.AS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Koninklijke Ahold Delhaize NV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EU ex-DACH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Buy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5.0%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  <a:tr h="309238">
                <a:tc>
                  <a:txBody>
                    <a:bodyPr/>
                    <a:lstStyle/>
                    <a:p>
                      <a:pPr algn="l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ALV.XETRA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Allianz SE VNA O.N.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DACH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Buy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5.0%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9" name="Evidence table"/>
          <p:cNvGraphicFramePr>
            <a:graphicFrameLocks noGrp="1"/>
          </p:cNvGraphicFramePr>
          <p:nvPr/>
        </p:nvGraphicFramePr>
        <p:xfrm>
          <a:off x="6135624" y="2496312"/>
          <a:ext cx="5385814" cy="3401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50392"/>
                <a:gridCol w="2065237"/>
                <a:gridCol w="1093361"/>
                <a:gridCol w="728907"/>
                <a:gridCol w="647917"/>
              </a:tblGrid>
              <a:tr h="309233">
                <a:tc>
                  <a:txBody>
                    <a:bodyPr/>
                    <a:lstStyle/>
                    <a:p>
                      <a:pPr algn="l">
                        <a:defRPr sz="86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Ticker</a:t>
                      </a:r>
                    </a:p>
                  </a:txBody>
                  <a:tcPr marL="54864" marR="36576" marT="27432" marB="27432">
                    <a:solidFill>
                      <a:srgbClr val="17212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6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Company</a:t>
                      </a:r>
                    </a:p>
                  </a:txBody>
                  <a:tcPr marL="54864" marR="36576" marT="27432" marB="27432">
                    <a:solidFill>
                      <a:srgbClr val="17212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6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Region</a:t>
                      </a:r>
                    </a:p>
                  </a:txBody>
                  <a:tcPr marL="54864" marR="36576" marT="27432" marB="27432">
                    <a:solidFill>
                      <a:srgbClr val="17212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6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Action</a:t>
                      </a:r>
                    </a:p>
                  </a:txBody>
                  <a:tcPr marL="54864" marR="36576" marT="27432" marB="27432">
                    <a:solidFill>
                      <a:srgbClr val="17212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6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Target</a:t>
                      </a:r>
                    </a:p>
                  </a:txBody>
                  <a:tcPr marL="54864" marR="36576" marT="27432" marB="27432">
                    <a:solidFill>
                      <a:srgbClr val="172127"/>
                    </a:solidFill>
                  </a:tcPr>
                </a:tc>
              </a:tr>
              <a:tr h="309233">
                <a:tc>
                  <a:txBody>
                    <a:bodyPr/>
                    <a:lstStyle/>
                    <a:p>
                      <a:pPr algn="l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CS.PA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AXA SA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EU ex-DACH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Buy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5.0%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  <a:tr h="309233">
                <a:tc>
                  <a:txBody>
                    <a:bodyPr/>
                    <a:lstStyle/>
                    <a:p>
                      <a:pPr algn="l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ESSITY-B.ST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Essity AB (publ)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EU ex-DACH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Buy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5.0%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  <a:tr h="309233">
                <a:tc>
                  <a:txBody>
                    <a:bodyPr/>
                    <a:lstStyle/>
                    <a:p>
                      <a:pPr algn="l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HEN3.XETRA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Henkel AG &amp; Co. KGaA vz. (Pre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DACH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Buy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5.0%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  <a:tr h="309233">
                <a:tc>
                  <a:txBody>
                    <a:bodyPr/>
                    <a:lstStyle/>
                    <a:p>
                      <a:pPr algn="l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LI.PA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Klepierre SA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EU ex-DACH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Buy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5.0%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  <a:tr h="309233">
                <a:tc>
                  <a:txBody>
                    <a:bodyPr/>
                    <a:lstStyle/>
                    <a:p>
                      <a:pPr algn="l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MCD.US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McDonalds Corporation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US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Buy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5.0%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  <a:tr h="309233">
                <a:tc>
                  <a:txBody>
                    <a:bodyPr/>
                    <a:lstStyle/>
                    <a:p>
                      <a:pPr algn="l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ORA.PA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Orange S.A.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EU ex-DACH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Buy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5.0%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  <a:tr h="309233">
                <a:tc>
                  <a:txBody>
                    <a:bodyPr/>
                    <a:lstStyle/>
                    <a:p>
                      <a:pPr algn="l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PG.US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Procter &amp; Gamble Company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US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Buy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5.0%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  <a:tr h="309233">
                <a:tc>
                  <a:txBody>
                    <a:bodyPr/>
                    <a:lstStyle/>
                    <a:p>
                      <a:pPr algn="l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SBRY.LSE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J Sainsbury PLC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UK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Buy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5.0%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  <a:tr h="309233">
                <a:tc>
                  <a:txBody>
                    <a:bodyPr/>
                    <a:lstStyle/>
                    <a:p>
                      <a:pPr algn="l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SHEL.US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Shell PLC ADR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US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Buy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5.0%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  <a:tr h="309238">
                <a:tc>
                  <a:txBody>
                    <a:bodyPr/>
                    <a:lstStyle/>
                    <a:p>
                      <a:pPr algn="l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NOVN.SW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Novartis AG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DACH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Reduce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5.0%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0" name="Text: Execution note: recalculate orders using live NAV,"/>
          <p:cNvSpPr txBox="1"/>
          <p:nvPr/>
        </p:nvSpPr>
        <p:spPr>
          <a:xfrm>
            <a:off x="530352" y="6108192"/>
            <a:ext cx="11109960" cy="21945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1">
                <a:solidFill>
                  <a:srgbClr val="BB4A4A"/>
                </a:solidFill>
                <a:latin typeface="Aptos"/>
              </a:rPr>
              <a:t>Execution note: recalculate orders using live NAV, FX, liquidity and prices. Manual review remains mandatory.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: A deliberately diversified target"/>
          <p:cNvSpPr txBox="1"/>
          <p:nvPr/>
        </p:nvSpPr>
        <p:spPr>
          <a:xfrm>
            <a:off x="475488" y="292608"/>
            <a:ext cx="9966960" cy="40233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72127"/>
                </a:solidFill>
                <a:latin typeface="Aptos Display"/>
              </a:rPr>
              <a:t>A deliberately diversified target</a:t>
            </a:r>
          </a:p>
        </p:txBody>
      </p:sp>
      <p:sp>
        <p:nvSpPr>
          <p:cNvPr id="3" name="Text: The portfolio uses equal name weights and explicit"/>
          <p:cNvSpPr txBox="1"/>
          <p:nvPr/>
        </p:nvSpPr>
        <p:spPr>
          <a:xfrm>
            <a:off x="493776" y="740664"/>
            <a:ext cx="10424160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47078"/>
                </a:solidFill>
                <a:latin typeface="Aptos"/>
              </a:rPr>
              <a:t>The portfolio uses equal name weights and explicit exposure caps.</a:t>
            </a:r>
          </a:p>
        </p:txBody>
      </p:sp>
      <p:sp>
        <p:nvSpPr>
          <p:cNvPr id="4" name="Text: 06"/>
          <p:cNvSpPr txBox="1"/>
          <p:nvPr/>
        </p:nvSpPr>
        <p:spPr>
          <a:xfrm>
            <a:off x="11219688" y="320040"/>
            <a:ext cx="475488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647078"/>
                </a:solidFill>
                <a:latin typeface="Aptos"/>
              </a:rPr>
              <a:t>06</a:t>
            </a:r>
          </a:p>
        </p:txBody>
      </p:sp>
      <p:sp>
        <p:nvSpPr>
          <p:cNvPr id="5" name="Header divider"/>
          <p:cNvSpPr/>
          <p:nvPr/>
        </p:nvSpPr>
        <p:spPr>
          <a:xfrm>
            <a:off x="493776" y="1060704"/>
            <a:ext cx="11201400" cy="10972"/>
          </a:xfrm>
          <a:prstGeom prst="rect">
            <a:avLst/>
          </a:prstGeom>
          <a:solidFill>
            <a:srgbClr val="D8E0DD"/>
          </a:solidFill>
          <a:ln w="10160"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: Wolf Quant Model | Research use"/>
          <p:cNvSpPr txBox="1"/>
          <p:nvPr/>
        </p:nvSpPr>
        <p:spPr>
          <a:xfrm>
            <a:off x="493776" y="6565392"/>
            <a:ext cx="3474720" cy="14630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647078"/>
                </a:solidFill>
                <a:latin typeface="Aptos"/>
              </a:rPr>
              <a:t>Wolf Quant Model | Research use</a:t>
            </a:r>
          </a:p>
        </p:txBody>
      </p:sp>
      <p:sp>
        <p:nvSpPr>
          <p:cNvPr id="7" name="Text: Final portfolio weights and constraint report"/>
          <p:cNvSpPr txBox="1"/>
          <p:nvPr/>
        </p:nvSpPr>
        <p:spPr>
          <a:xfrm>
            <a:off x="3749039" y="6565392"/>
            <a:ext cx="7936992" cy="14630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0"/>
              </a:spcAft>
            </a:pPr>
            <a:r>
              <a:rPr sz="750" b="0">
                <a:solidFill>
                  <a:srgbClr val="647078"/>
                </a:solidFill>
                <a:latin typeface="Aptos"/>
              </a:rPr>
              <a:t>Final portfolio weights and constraint report</a:t>
            </a:r>
          </a:p>
        </p:txBody>
      </p:sp>
      <p:pic>
        <p:nvPicPr>
          <p:cNvPr id="8" name="Chart: final_portfolio_exposures.png" descr="final_portfolio_exposu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768" y="1951188"/>
            <a:ext cx="7498079" cy="3513407"/>
          </a:xfrm>
          <a:prstGeom prst="rect">
            <a:avLst/>
          </a:prstGeom>
        </p:spPr>
      </p:pic>
      <p:sp>
        <p:nvSpPr>
          <p:cNvPr id="9" name="Text: Construction rules"/>
          <p:cNvSpPr txBox="1"/>
          <p:nvPr/>
        </p:nvSpPr>
        <p:spPr>
          <a:xfrm>
            <a:off x="8174736" y="1408176"/>
            <a:ext cx="3337560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172127"/>
                </a:solidFill>
                <a:latin typeface="Aptos Display"/>
              </a:rPr>
              <a:t>Construction rules</a:t>
            </a:r>
          </a:p>
        </p:txBody>
      </p:sp>
      <p:sp>
        <p:nvSpPr>
          <p:cNvPr id="10" name="Bullet list"/>
          <p:cNvSpPr txBox="1"/>
          <p:nvPr/>
        </p:nvSpPr>
        <p:spPr>
          <a:xfrm>
            <a:off x="8174736" y="1856231"/>
            <a:ext cx="3337560" cy="2414016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  <a:defRPr sz="1400">
                <a:solidFill>
                  <a:srgbClr val="172127"/>
                </a:solidFill>
                <a:latin typeface="Aptos"/>
              </a:defRPr>
            </a:pPr>
            <a:r>
              <a:t>• 20 holdings at 5% each</a:t>
            </a:r>
          </a:p>
          <a:p>
            <a:pPr>
              <a:lnSpc>
                <a:spcPct val="105000"/>
              </a:lnSpc>
              <a:spcAft>
                <a:spcPts val="1000"/>
              </a:spcAft>
              <a:defRPr sz="1400">
                <a:solidFill>
                  <a:srgbClr val="172127"/>
                </a:solidFill>
                <a:latin typeface="Aptos"/>
              </a:defRPr>
            </a:pPr>
            <a:r>
              <a:t>• No sector above 25%</a:t>
            </a:r>
          </a:p>
          <a:p>
            <a:pPr>
              <a:lnSpc>
                <a:spcPct val="105000"/>
              </a:lnSpc>
              <a:spcAft>
                <a:spcPts val="1000"/>
              </a:spcAft>
              <a:defRPr sz="1400">
                <a:solidFill>
                  <a:srgbClr val="172127"/>
                </a:solidFill>
                <a:latin typeface="Aptos"/>
              </a:defRPr>
            </a:pPr>
            <a:r>
              <a:t>• No country above 30%</a:t>
            </a:r>
          </a:p>
          <a:p>
            <a:pPr>
              <a:lnSpc>
                <a:spcPct val="105000"/>
              </a:lnSpc>
              <a:spcAft>
                <a:spcPts val="1000"/>
              </a:spcAft>
              <a:defRPr sz="1400">
                <a:solidFill>
                  <a:srgbClr val="172127"/>
                </a:solidFill>
                <a:latin typeface="Aptos"/>
              </a:defRPr>
            </a:pPr>
            <a:r>
              <a:t>• No region or currency above 40%</a:t>
            </a:r>
          </a:p>
          <a:p>
            <a:pPr>
              <a:lnSpc>
                <a:spcPct val="105000"/>
              </a:lnSpc>
              <a:spcAft>
                <a:spcPts val="1000"/>
              </a:spcAft>
              <a:defRPr sz="1400">
                <a:solidFill>
                  <a:srgbClr val="172127"/>
                </a:solidFill>
                <a:latin typeface="Aptos"/>
              </a:defRPr>
            </a:pPr>
            <a:r>
              <a:t>• One listing per issuer</a:t>
            </a:r>
          </a:p>
          <a:p>
            <a:pPr>
              <a:lnSpc>
                <a:spcPct val="105000"/>
              </a:lnSpc>
              <a:spcAft>
                <a:spcPts val="1000"/>
              </a:spcAft>
              <a:defRPr sz="1400">
                <a:solidFill>
                  <a:srgbClr val="172127"/>
                </a:solidFill>
                <a:latin typeface="Aptos"/>
              </a:defRPr>
            </a:pPr>
            <a:r>
              <a:t>• No quarantined price history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174736" y="4590288"/>
            <a:ext cx="3401568" cy="1078992"/>
          </a:xfrm>
          <a:prstGeom prst="rect">
            <a:avLst/>
          </a:prstGeom>
          <a:solidFill>
            <a:srgbClr val="E9F1F6"/>
          </a:solidFill>
          <a:ln w="10160">
            <a:solidFill>
              <a:srgbClr val="E9F1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174736" y="4590288"/>
            <a:ext cx="54864" cy="1078992"/>
          </a:xfrm>
          <a:prstGeom prst="rect">
            <a:avLst/>
          </a:prstGeom>
          <a:solidFill>
            <a:srgbClr val="3478A5"/>
          </a:solidFill>
          <a:ln w="10160">
            <a:solidFill>
              <a:srgbClr val="3478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: Largest allocations"/>
          <p:cNvSpPr txBox="1"/>
          <p:nvPr/>
        </p:nvSpPr>
        <p:spPr>
          <a:xfrm>
            <a:off x="8375904" y="4736592"/>
            <a:ext cx="3072384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72127"/>
                </a:solidFill>
                <a:latin typeface="Aptos Display"/>
              </a:rPr>
              <a:t>Largest allocations</a:t>
            </a:r>
          </a:p>
        </p:txBody>
      </p:sp>
      <p:sp>
        <p:nvSpPr>
          <p:cNvPr id="14" name="Text: Mainland China 30%; EU ex-DACH 25%; Financials and"/>
          <p:cNvSpPr txBox="1"/>
          <p:nvPr/>
        </p:nvSpPr>
        <p:spPr>
          <a:xfrm>
            <a:off x="8375904" y="5111496"/>
            <a:ext cx="3072384" cy="43891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647078"/>
                </a:solidFill>
                <a:latin typeface="Aptos"/>
              </a:rPr>
              <a:t>Mainland China 30%; EU ex-DACH 25%; Financials and Consumer Staples 25% each.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: Why the CVaR portfolio is the baseline"/>
          <p:cNvSpPr txBox="1"/>
          <p:nvPr/>
        </p:nvSpPr>
        <p:spPr>
          <a:xfrm>
            <a:off x="475488" y="292608"/>
            <a:ext cx="9966960" cy="40233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72127"/>
                </a:solidFill>
                <a:latin typeface="Aptos Display"/>
              </a:rPr>
              <a:t>Why the CVaR portfolio is the baseline</a:t>
            </a:r>
          </a:p>
        </p:txBody>
      </p:sp>
      <p:sp>
        <p:nvSpPr>
          <p:cNvPr id="3" name="Text: It balances expected return, downside loss and div"/>
          <p:cNvSpPr txBox="1"/>
          <p:nvPr/>
        </p:nvSpPr>
        <p:spPr>
          <a:xfrm>
            <a:off x="493776" y="740664"/>
            <a:ext cx="10424160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47078"/>
                </a:solidFill>
                <a:latin typeface="Aptos"/>
              </a:rPr>
              <a:t>It balances expected return, downside loss and diversification.</a:t>
            </a:r>
          </a:p>
        </p:txBody>
      </p:sp>
      <p:sp>
        <p:nvSpPr>
          <p:cNvPr id="4" name="Text: 07"/>
          <p:cNvSpPr txBox="1"/>
          <p:nvPr/>
        </p:nvSpPr>
        <p:spPr>
          <a:xfrm>
            <a:off x="11219688" y="320040"/>
            <a:ext cx="475488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647078"/>
                </a:solidFill>
                <a:latin typeface="Aptos"/>
              </a:rPr>
              <a:t>07</a:t>
            </a:r>
          </a:p>
        </p:txBody>
      </p:sp>
      <p:sp>
        <p:nvSpPr>
          <p:cNvPr id="5" name="Header divider"/>
          <p:cNvSpPr/>
          <p:nvPr/>
        </p:nvSpPr>
        <p:spPr>
          <a:xfrm>
            <a:off x="493776" y="1060704"/>
            <a:ext cx="11201400" cy="10972"/>
          </a:xfrm>
          <a:prstGeom prst="rect">
            <a:avLst/>
          </a:prstGeom>
          <a:solidFill>
            <a:srgbClr val="D8E0DD"/>
          </a:solidFill>
          <a:ln w="10160"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: Wolf Quant Model | Research use"/>
          <p:cNvSpPr txBox="1"/>
          <p:nvPr/>
        </p:nvSpPr>
        <p:spPr>
          <a:xfrm>
            <a:off x="493776" y="6565392"/>
            <a:ext cx="3474720" cy="14630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647078"/>
                </a:solidFill>
                <a:latin typeface="Aptos"/>
              </a:rPr>
              <a:t>Wolf Quant Model | Research use</a:t>
            </a:r>
          </a:p>
        </p:txBody>
      </p:sp>
      <p:sp>
        <p:nvSpPr>
          <p:cNvPr id="7" name="Text: Portfolio optimisation summary"/>
          <p:cNvSpPr txBox="1"/>
          <p:nvPr/>
        </p:nvSpPr>
        <p:spPr>
          <a:xfrm>
            <a:off x="3749039" y="6565392"/>
            <a:ext cx="7936992" cy="14630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0"/>
              </a:spcAft>
            </a:pPr>
            <a:r>
              <a:rPr sz="750" b="0">
                <a:solidFill>
                  <a:srgbClr val="647078"/>
                </a:solidFill>
                <a:latin typeface="Aptos"/>
              </a:rPr>
              <a:t>Portfolio optimisation summary</a:t>
            </a:r>
          </a:p>
        </p:txBody>
      </p:sp>
      <p:graphicFrame>
        <p:nvGraphicFramePr>
          <p:cNvPr id="8" name="Evidence table"/>
          <p:cNvGraphicFramePr>
            <a:graphicFrameLocks noGrp="1"/>
          </p:cNvGraphicFramePr>
          <p:nvPr/>
        </p:nvGraphicFramePr>
        <p:xfrm>
          <a:off x="502920" y="1389888"/>
          <a:ext cx="6720836" cy="4069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20865"/>
                <a:gridCol w="1160432"/>
                <a:gridCol w="1160432"/>
                <a:gridCol w="918675"/>
                <a:gridCol w="1160432"/>
              </a:tblGrid>
              <a:tr h="508635"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Portfolio</a:t>
                      </a:r>
                    </a:p>
                  </a:txBody>
                  <a:tcPr marL="54864" marR="36576" marT="27432" marB="27432">
                    <a:solidFill>
                      <a:srgbClr val="17212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Volatility</a:t>
                      </a:r>
                    </a:p>
                  </a:txBody>
                  <a:tcPr marL="54864" marR="36576" marT="27432" marB="27432">
                    <a:solidFill>
                      <a:srgbClr val="17212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CVaR 5%</a:t>
                      </a:r>
                    </a:p>
                  </a:txBody>
                  <a:tcPr marL="54864" marR="36576" marT="27432" marB="27432">
                    <a:solidFill>
                      <a:srgbClr val="17212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Yield</a:t>
                      </a:r>
                    </a:p>
                  </a:txBody>
                  <a:tcPr marL="54864" marR="36576" marT="27432" marB="27432">
                    <a:solidFill>
                      <a:srgbClr val="17212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Hard breaches</a:t>
                      </a:r>
                    </a:p>
                  </a:txBody>
                  <a:tcPr marL="54864" marR="36576" marT="27432" marB="27432">
                    <a:solidFill>
                      <a:srgbClr val="172127"/>
                    </a:solidFill>
                  </a:tcPr>
                </a:tc>
              </a:tr>
              <a:tr h="508635"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Equal weight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14.7%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-27.4%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3.2%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0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  <a:tr h="508635"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Score weighted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12.5%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-9.5%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4.4%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0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  <a:tr h="508635"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Risk parity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10.9%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-9.8%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3.5%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0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  <a:tr h="508635"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Mean variance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11.3%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-5.6%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4.2%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0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  <a:tr h="508635"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CVaR constrained</a:t>
                      </a:r>
                    </a:p>
                  </a:txBody>
                  <a:tcPr marL="54864" marR="36576" marT="22860" marB="22860">
                    <a:solidFill>
                      <a:srgbClr val="E8F4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11.1%</a:t>
                      </a:r>
                    </a:p>
                  </a:txBody>
                  <a:tcPr marL="54864" marR="36576" marT="22860" marB="22860">
                    <a:solidFill>
                      <a:srgbClr val="E8F4E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-5.1%</a:t>
                      </a:r>
                    </a:p>
                  </a:txBody>
                  <a:tcPr marL="54864" marR="36576" marT="22860" marB="22860">
                    <a:solidFill>
                      <a:srgbClr val="E8F4E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4.3%</a:t>
                      </a:r>
                    </a:p>
                  </a:txBody>
                  <a:tcPr marL="54864" marR="36576" marT="22860" marB="22860">
                    <a:solidFill>
                      <a:srgbClr val="E8F4E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0</a:t>
                      </a:r>
                    </a:p>
                  </a:txBody>
                  <a:tcPr marL="54864" marR="36576" marT="22860" marB="22860">
                    <a:solidFill>
                      <a:srgbClr val="E8F4EF"/>
                    </a:solidFill>
                  </a:tcPr>
                </a:tc>
              </a:tr>
              <a:tr h="508635"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Dividend income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13.6%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-13.5%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5.0%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0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  <a:tr h="508635"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Regime aware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13.0%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-11.3%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4.7%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0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7516368" y="1389888"/>
            <a:ext cx="4160520" cy="1170432"/>
          </a:xfrm>
          <a:prstGeom prst="rect">
            <a:avLst/>
          </a:prstGeom>
          <a:solidFill>
            <a:srgbClr val="E8F4EF"/>
          </a:solidFill>
          <a:ln w="10160">
            <a:solidFill>
              <a:srgbClr val="E8F4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516368" y="1389888"/>
            <a:ext cx="54864" cy="1170432"/>
          </a:xfrm>
          <a:prstGeom prst="rect">
            <a:avLst/>
          </a:prstGeom>
          <a:solidFill>
            <a:srgbClr val="14966F"/>
          </a:solidFill>
          <a:ln w="10160">
            <a:solidFill>
              <a:srgbClr val="1496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: Selected: CVaR constrained"/>
          <p:cNvSpPr txBox="1"/>
          <p:nvPr/>
        </p:nvSpPr>
        <p:spPr>
          <a:xfrm>
            <a:off x="7717536" y="1536192"/>
            <a:ext cx="3831335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72127"/>
                </a:solidFill>
                <a:latin typeface="Aptos Display"/>
              </a:rPr>
              <a:t>Selected: CVaR constrained</a:t>
            </a:r>
          </a:p>
        </p:txBody>
      </p:sp>
      <p:sp>
        <p:nvSpPr>
          <p:cNvPr id="12" name="Text: The baseline keeps the forecast return target whil"/>
          <p:cNvSpPr txBox="1"/>
          <p:nvPr/>
        </p:nvSpPr>
        <p:spPr>
          <a:xfrm>
            <a:off x="7717536" y="1911095"/>
            <a:ext cx="3831335" cy="53035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647078"/>
                </a:solidFill>
                <a:latin typeface="Aptos"/>
              </a:rPr>
              <a:t>The baseline keeps the forecast return target while reducing the average loss in the worst 5% of modeled outcomes to 5.10%.</a:t>
            </a:r>
          </a:p>
        </p:txBody>
      </p:sp>
      <p:sp>
        <p:nvSpPr>
          <p:cNvPr id="13" name="Text: Why this matters"/>
          <p:cNvSpPr txBox="1"/>
          <p:nvPr/>
        </p:nvSpPr>
        <p:spPr>
          <a:xfrm>
            <a:off x="7543800" y="2898648"/>
            <a:ext cx="3840480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172127"/>
                </a:solidFill>
                <a:latin typeface="Aptos Display"/>
              </a:rPr>
              <a:t>Why this matters</a:t>
            </a:r>
          </a:p>
        </p:txBody>
      </p:sp>
      <p:sp>
        <p:nvSpPr>
          <p:cNvPr id="14" name="Bullet list"/>
          <p:cNvSpPr txBox="1"/>
          <p:nvPr/>
        </p:nvSpPr>
        <p:spPr>
          <a:xfrm>
            <a:off x="7543800" y="3346704"/>
            <a:ext cx="3968496" cy="1874519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  <a:defRPr sz="1400">
                <a:solidFill>
                  <a:srgbClr val="172127"/>
                </a:solidFill>
                <a:latin typeface="Aptos"/>
              </a:defRPr>
            </a:pPr>
            <a:r>
              <a:t>• Focuses on severe downside, not only average volatility</a:t>
            </a:r>
          </a:p>
          <a:p>
            <a:pPr>
              <a:lnSpc>
                <a:spcPct val="105000"/>
              </a:lnSpc>
              <a:spcAft>
                <a:spcPts val="1000"/>
              </a:spcAft>
              <a:defRPr sz="1400">
                <a:solidFill>
                  <a:srgbClr val="172127"/>
                </a:solidFill>
                <a:latin typeface="Aptos"/>
              </a:defRPr>
            </a:pPr>
            <a:r>
              <a:t>• Maintains 20 effective holdings</a:t>
            </a:r>
          </a:p>
          <a:p>
            <a:pPr>
              <a:lnSpc>
                <a:spcPct val="105000"/>
              </a:lnSpc>
              <a:spcAft>
                <a:spcPts val="1000"/>
              </a:spcAft>
              <a:defRPr sz="1400">
                <a:solidFill>
                  <a:srgbClr val="172127"/>
                </a:solidFill>
                <a:latin typeface="Aptos"/>
              </a:defRPr>
            </a:pPr>
            <a:r>
              <a:t>• Passes every hard portfolio constraint</a:t>
            </a:r>
          </a:p>
          <a:p>
            <a:pPr>
              <a:lnSpc>
                <a:spcPct val="105000"/>
              </a:lnSpc>
              <a:spcAft>
                <a:spcPts val="1000"/>
              </a:spcAft>
              <a:defRPr sz="1400">
                <a:solidFill>
                  <a:srgbClr val="172127"/>
                </a:solidFill>
                <a:latin typeface="Aptos"/>
              </a:defRPr>
            </a:pPr>
            <a:r>
              <a:t>• Produces the final 20-name equal-weight target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516368" y="5367528"/>
            <a:ext cx="4160520" cy="685800"/>
          </a:xfrm>
          <a:prstGeom prst="rect">
            <a:avLst/>
          </a:prstGeom>
          <a:solidFill>
            <a:srgbClr val="FBF3DF"/>
          </a:solidFill>
          <a:ln w="10160">
            <a:solidFill>
              <a:srgbClr val="FBF3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516368" y="5367528"/>
            <a:ext cx="54864" cy="685800"/>
          </a:xfrm>
          <a:prstGeom prst="rect">
            <a:avLst/>
          </a:prstGeom>
          <a:solidFill>
            <a:srgbClr val="C99328"/>
          </a:solidFill>
          <a:ln w="10160">
            <a:solidFill>
              <a:srgbClr val="C99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: Interpret carefully: Expected-return inputs are mo"/>
          <p:cNvSpPr txBox="1"/>
          <p:nvPr/>
        </p:nvSpPr>
        <p:spPr>
          <a:xfrm>
            <a:off x="7717536" y="5458968"/>
            <a:ext cx="3831335" cy="52120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19" b="1">
                <a:solidFill>
                  <a:srgbClr val="172127"/>
                </a:solidFill>
                <a:latin typeface="Aptos"/>
              </a:rPr>
              <a:t>Interpret carefully: Expected-return inputs are model forecasts, not guaranteed market returns. Live sizing still depends on trading capacity.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: Five-year point-in-time proxy"/>
          <p:cNvSpPr txBox="1"/>
          <p:nvPr/>
        </p:nvSpPr>
        <p:spPr>
          <a:xfrm>
            <a:off x="475488" y="292608"/>
            <a:ext cx="9966960" cy="40233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72127"/>
                </a:solidFill>
                <a:latin typeface="Aptos Display"/>
              </a:rPr>
              <a:t>Five-year point-in-time proxy</a:t>
            </a:r>
          </a:p>
        </p:txBody>
      </p:sp>
      <p:sp>
        <p:nvSpPr>
          <p:cNvPr id="3" name="Text: The relevant model evidence uses dated monthly dec"/>
          <p:cNvSpPr txBox="1"/>
          <p:nvPr/>
        </p:nvSpPr>
        <p:spPr>
          <a:xfrm>
            <a:off x="493776" y="740664"/>
            <a:ext cx="10424160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47078"/>
                </a:solidFill>
                <a:latin typeface="Aptos"/>
              </a:rPr>
              <a:t>The relevant model evidence uses dated monthly decisions.</a:t>
            </a:r>
          </a:p>
        </p:txBody>
      </p:sp>
      <p:sp>
        <p:nvSpPr>
          <p:cNvPr id="4" name="Text: 08"/>
          <p:cNvSpPr txBox="1"/>
          <p:nvPr/>
        </p:nvSpPr>
        <p:spPr>
          <a:xfrm>
            <a:off x="11219688" y="320040"/>
            <a:ext cx="475488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647078"/>
                </a:solidFill>
                <a:latin typeface="Aptos"/>
              </a:rPr>
              <a:t>08</a:t>
            </a:r>
          </a:p>
        </p:txBody>
      </p:sp>
      <p:sp>
        <p:nvSpPr>
          <p:cNvPr id="5" name="Header divider"/>
          <p:cNvSpPr/>
          <p:nvPr/>
        </p:nvSpPr>
        <p:spPr>
          <a:xfrm>
            <a:off x="493776" y="1060704"/>
            <a:ext cx="11201400" cy="10972"/>
          </a:xfrm>
          <a:prstGeom prst="rect">
            <a:avLst/>
          </a:prstGeom>
          <a:solidFill>
            <a:srgbClr val="D8E0DD"/>
          </a:solidFill>
          <a:ln w="10160"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: Wolf Quant Model | Research use"/>
          <p:cNvSpPr txBox="1"/>
          <p:nvPr/>
        </p:nvSpPr>
        <p:spPr>
          <a:xfrm>
            <a:off x="493776" y="6565392"/>
            <a:ext cx="3474720" cy="14630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647078"/>
                </a:solidFill>
                <a:latin typeface="Aptos"/>
              </a:rPr>
              <a:t>Wolf Quant Model | Research use</a:t>
            </a:r>
          </a:p>
        </p:txBody>
      </p:sp>
      <p:sp>
        <p:nvSpPr>
          <p:cNvPr id="7" name="Text: 60-month reconstructed point-in-time portfolio ret"/>
          <p:cNvSpPr txBox="1"/>
          <p:nvPr/>
        </p:nvSpPr>
        <p:spPr>
          <a:xfrm>
            <a:off x="3749039" y="6565392"/>
            <a:ext cx="7936992" cy="14630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0"/>
              </a:spcAft>
            </a:pPr>
            <a:r>
              <a:rPr sz="750" b="0">
                <a:solidFill>
                  <a:srgbClr val="647078"/>
                </a:solidFill>
                <a:latin typeface="Aptos"/>
              </a:rPr>
              <a:t>60-month reconstructed point-in-time portfolio returns</a:t>
            </a:r>
          </a:p>
        </p:txBody>
      </p:sp>
      <p:pic>
        <p:nvPicPr>
          <p:cNvPr id="8" name="Chart: pit_capital_projection.png" descr="pit_capital_proj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768" y="1900662"/>
            <a:ext cx="7726679" cy="3705899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8339327" y="1380744"/>
            <a:ext cx="3337560" cy="1069848"/>
          </a:xfrm>
          <a:prstGeom prst="rect">
            <a:avLst/>
          </a:prstGeom>
          <a:solidFill>
            <a:srgbClr val="E8F4EF"/>
          </a:solidFill>
          <a:ln w="10160">
            <a:solidFill>
              <a:srgbClr val="E8F4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339327" y="1380744"/>
            <a:ext cx="54864" cy="1069848"/>
          </a:xfrm>
          <a:prstGeom prst="rect">
            <a:avLst/>
          </a:prstGeom>
          <a:solidFill>
            <a:srgbClr val="14966F"/>
          </a:solidFill>
          <a:ln w="10160">
            <a:solidFill>
              <a:srgbClr val="1496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: Illustrative current-AUM result"/>
          <p:cNvSpPr txBox="1"/>
          <p:nvPr/>
        </p:nvSpPr>
        <p:spPr>
          <a:xfrm>
            <a:off x="8540496" y="1527048"/>
            <a:ext cx="3008376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72127"/>
                </a:solidFill>
                <a:latin typeface="Aptos Display"/>
              </a:rPr>
              <a:t>Illustrative current-AUM result</a:t>
            </a:r>
          </a:p>
        </p:txBody>
      </p:sp>
      <p:sp>
        <p:nvSpPr>
          <p:cNvPr id="12" name="Text: $186.1m grows to $355.3m; net PnL is $169.3m after"/>
          <p:cNvSpPr txBox="1"/>
          <p:nvPr/>
        </p:nvSpPr>
        <p:spPr>
          <a:xfrm>
            <a:off x="8540496" y="1901952"/>
            <a:ext cx="3008376" cy="42976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647078"/>
                </a:solidFill>
                <a:latin typeface="Aptos"/>
              </a:rPr>
              <a:t>$186.1m grows to $355.3m; net PnL is $169.3m after trading costs and before the bank fee.</a:t>
            </a:r>
          </a:p>
        </p:txBody>
      </p:sp>
      <p:sp>
        <p:nvSpPr>
          <p:cNvPr id="13" name="Bullet list"/>
          <p:cNvSpPr txBox="1"/>
          <p:nvPr/>
        </p:nvSpPr>
        <p:spPr>
          <a:xfrm>
            <a:off x="8357616" y="2770632"/>
            <a:ext cx="3182112" cy="178308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  <a:defRPr sz="1400">
                <a:solidFill>
                  <a:srgbClr val="172127"/>
                </a:solidFill>
                <a:latin typeface="Aptos"/>
              </a:defRPr>
            </a:pPr>
            <a:r>
              <a:t>• Net annualised return: 13.8%</a:t>
            </a:r>
          </a:p>
          <a:p>
            <a:pPr>
              <a:lnSpc>
                <a:spcPct val="105000"/>
              </a:lnSpc>
              <a:spcAft>
                <a:spcPts val="1000"/>
              </a:spcAft>
              <a:defRPr sz="1400">
                <a:solidFill>
                  <a:srgbClr val="172127"/>
                </a:solidFill>
                <a:latin typeface="Aptos"/>
              </a:defRPr>
            </a:pPr>
            <a:r>
              <a:t>• Sharpe ratio: 1.26</a:t>
            </a:r>
          </a:p>
          <a:p>
            <a:pPr>
              <a:lnSpc>
                <a:spcPct val="105000"/>
              </a:lnSpc>
              <a:spcAft>
                <a:spcPts val="1000"/>
              </a:spcAft>
              <a:defRPr sz="1400">
                <a:solidFill>
                  <a:srgbClr val="172127"/>
                </a:solidFill>
                <a:latin typeface="Aptos"/>
              </a:defRPr>
            </a:pPr>
            <a:r>
              <a:t>• Maximum drawdown: -13.0%</a:t>
            </a:r>
          </a:p>
          <a:p>
            <a:pPr>
              <a:lnSpc>
                <a:spcPct val="105000"/>
              </a:lnSpc>
              <a:spcAft>
                <a:spcPts val="1000"/>
              </a:spcAft>
              <a:defRPr sz="1400">
                <a:solidFill>
                  <a:srgbClr val="172127"/>
                </a:solidFill>
                <a:latin typeface="Aptos"/>
              </a:defRPr>
            </a:pPr>
            <a:r>
              <a:t>• Positive months: 65.0%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339327" y="4956048"/>
            <a:ext cx="3337560" cy="960120"/>
          </a:xfrm>
          <a:prstGeom prst="rect">
            <a:avLst/>
          </a:prstGeom>
          <a:solidFill>
            <a:srgbClr val="FBF3DF"/>
          </a:solidFill>
          <a:ln w="10160">
            <a:solidFill>
              <a:srgbClr val="FBF3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339327" y="4956048"/>
            <a:ext cx="54864" cy="960120"/>
          </a:xfrm>
          <a:prstGeom prst="rect">
            <a:avLst/>
          </a:prstGeom>
          <a:solidFill>
            <a:srgbClr val="C99328"/>
          </a:solidFill>
          <a:ln w="10160">
            <a:solidFill>
              <a:srgbClr val="C99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: Not a forecast"/>
          <p:cNvSpPr txBox="1"/>
          <p:nvPr/>
        </p:nvSpPr>
        <p:spPr>
          <a:xfrm>
            <a:off x="8540496" y="5102352"/>
            <a:ext cx="3008376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72127"/>
                </a:solidFill>
                <a:latin typeface="Aptos Display"/>
              </a:rPr>
              <a:t>Not a forecast</a:t>
            </a:r>
          </a:p>
        </p:txBody>
      </p:sp>
      <p:sp>
        <p:nvSpPr>
          <p:cNvPr id="17" name="Text: This scales the realised proxy path to current AUM"/>
          <p:cNvSpPr txBox="1"/>
          <p:nvPr/>
        </p:nvSpPr>
        <p:spPr>
          <a:xfrm>
            <a:off x="8540496" y="5477256"/>
            <a:ext cx="3008376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647078"/>
                </a:solidFill>
                <a:latin typeface="Aptos"/>
              </a:rPr>
              <a:t>This scales the realised proxy path to current AUM. The 25 bp annual bank fee is modeled separately in the long replay.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: What beat what over 60 months"/>
          <p:cNvSpPr txBox="1"/>
          <p:nvPr/>
        </p:nvSpPr>
        <p:spPr>
          <a:xfrm>
            <a:off x="475488" y="292608"/>
            <a:ext cx="9966960" cy="40233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72127"/>
                </a:solidFill>
                <a:latin typeface="Aptos Display"/>
              </a:rPr>
              <a:t>What beat what over 60 months</a:t>
            </a:r>
          </a:p>
        </p:txBody>
      </p:sp>
      <p:sp>
        <p:nvSpPr>
          <p:cNvPr id="3" name="Text: Wolf delivered the best risk-adjusted result, not "/>
          <p:cNvSpPr txBox="1"/>
          <p:nvPr/>
        </p:nvSpPr>
        <p:spPr>
          <a:xfrm>
            <a:off x="493776" y="740664"/>
            <a:ext cx="10424160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47078"/>
                </a:solidFill>
                <a:latin typeface="Aptos"/>
              </a:rPr>
              <a:t>Wolf delivered the best risk-adjusted result, not the best return.</a:t>
            </a:r>
          </a:p>
        </p:txBody>
      </p:sp>
      <p:sp>
        <p:nvSpPr>
          <p:cNvPr id="4" name="Text: 09"/>
          <p:cNvSpPr txBox="1"/>
          <p:nvPr/>
        </p:nvSpPr>
        <p:spPr>
          <a:xfrm>
            <a:off x="11219688" y="320040"/>
            <a:ext cx="475488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647078"/>
                </a:solidFill>
                <a:latin typeface="Aptos"/>
              </a:rPr>
              <a:t>09</a:t>
            </a:r>
          </a:p>
        </p:txBody>
      </p:sp>
      <p:sp>
        <p:nvSpPr>
          <p:cNvPr id="5" name="Header divider"/>
          <p:cNvSpPr/>
          <p:nvPr/>
        </p:nvSpPr>
        <p:spPr>
          <a:xfrm>
            <a:off x="493776" y="1060704"/>
            <a:ext cx="11201400" cy="10972"/>
          </a:xfrm>
          <a:prstGeom prst="rect">
            <a:avLst/>
          </a:prstGeom>
          <a:solidFill>
            <a:srgbClr val="D8E0DD"/>
          </a:solidFill>
          <a:ln w="10160"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: Wolf Quant Model | Research use"/>
          <p:cNvSpPr txBox="1"/>
          <p:nvPr/>
        </p:nvSpPr>
        <p:spPr>
          <a:xfrm>
            <a:off x="493776" y="6565392"/>
            <a:ext cx="3474720" cy="14630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647078"/>
                </a:solidFill>
                <a:latin typeface="Aptos"/>
              </a:rPr>
              <a:t>Wolf Quant Model | Research use</a:t>
            </a:r>
          </a:p>
        </p:txBody>
      </p:sp>
      <p:sp>
        <p:nvSpPr>
          <p:cNvPr id="7" name="Text: Point-in-time strategy comparison, net of modeled "/>
          <p:cNvSpPr txBox="1"/>
          <p:nvPr/>
        </p:nvSpPr>
        <p:spPr>
          <a:xfrm>
            <a:off x="3749039" y="6565392"/>
            <a:ext cx="7936992" cy="14630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0"/>
              </a:spcAft>
            </a:pPr>
            <a:r>
              <a:rPr sz="750" b="0">
                <a:solidFill>
                  <a:srgbClr val="647078"/>
                </a:solidFill>
                <a:latin typeface="Aptos"/>
              </a:rPr>
              <a:t>Point-in-time strategy comparison, net of modeled costs</a:t>
            </a:r>
          </a:p>
        </p:txBody>
      </p:sp>
      <p:pic>
        <p:nvPicPr>
          <p:cNvPr id="8" name="Chart: pit_metric_comparison.png" descr="pit_metric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141130"/>
            <a:ext cx="7589520" cy="2767763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8302752" y="1426464"/>
            <a:ext cx="3374136" cy="1143000"/>
          </a:xfrm>
          <a:prstGeom prst="rect">
            <a:avLst/>
          </a:prstGeom>
          <a:solidFill>
            <a:srgbClr val="E8F4EF"/>
          </a:solidFill>
          <a:ln w="10160">
            <a:solidFill>
              <a:srgbClr val="E8F4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302752" y="1426464"/>
            <a:ext cx="54864" cy="1143000"/>
          </a:xfrm>
          <a:prstGeom prst="rect">
            <a:avLst/>
          </a:prstGeom>
          <a:solidFill>
            <a:srgbClr val="14966F"/>
          </a:solidFill>
          <a:ln w="10160">
            <a:solidFill>
              <a:srgbClr val="1496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: The useful result"/>
          <p:cNvSpPr txBox="1"/>
          <p:nvPr/>
        </p:nvSpPr>
        <p:spPr>
          <a:xfrm>
            <a:off x="8503920" y="1572768"/>
            <a:ext cx="3044952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72127"/>
                </a:solidFill>
                <a:latin typeface="Aptos Display"/>
              </a:rPr>
              <a:t>The useful result</a:t>
            </a:r>
          </a:p>
        </p:txBody>
      </p:sp>
      <p:sp>
        <p:nvSpPr>
          <p:cNvPr id="12" name="Text: Wolf Sharpe was 1.26 and drawdown was 13.0%, bette"/>
          <p:cNvSpPr txBox="1"/>
          <p:nvPr/>
        </p:nvSpPr>
        <p:spPr>
          <a:xfrm>
            <a:off x="8503920" y="1947672"/>
            <a:ext cx="3044952" cy="5029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647078"/>
                </a:solidFill>
                <a:latin typeface="Aptos"/>
              </a:rPr>
              <a:t>Wolf Sharpe was 1.26 and drawdown was 13.0%, better than both simple controls on these risk measures.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302752" y="2889504"/>
            <a:ext cx="3374136" cy="1143000"/>
          </a:xfrm>
          <a:prstGeom prst="rect">
            <a:avLst/>
          </a:prstGeom>
          <a:solidFill>
            <a:srgbClr val="FBF3DF"/>
          </a:solidFill>
          <a:ln w="10160">
            <a:solidFill>
              <a:srgbClr val="FBF3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302752" y="2889504"/>
            <a:ext cx="54864" cy="1143000"/>
          </a:xfrm>
          <a:prstGeom prst="rect">
            <a:avLst/>
          </a:prstGeom>
          <a:solidFill>
            <a:srgbClr val="C99328"/>
          </a:solidFill>
          <a:ln w="10160">
            <a:solidFill>
              <a:srgbClr val="C99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: The honest result"/>
          <p:cNvSpPr txBox="1"/>
          <p:nvPr/>
        </p:nvSpPr>
        <p:spPr>
          <a:xfrm>
            <a:off x="8503920" y="3035808"/>
            <a:ext cx="3044952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72127"/>
                </a:solidFill>
                <a:latin typeface="Aptos Display"/>
              </a:rPr>
              <a:t>The honest result</a:t>
            </a:r>
          </a:p>
        </p:txBody>
      </p:sp>
      <p:sp>
        <p:nvSpPr>
          <p:cNvPr id="16" name="Text: Equal weight returned 14.88% versus Wolf at 13.81%"/>
          <p:cNvSpPr txBox="1"/>
          <p:nvPr/>
        </p:nvSpPr>
        <p:spPr>
          <a:xfrm>
            <a:off x="8503920" y="3410712"/>
            <a:ext cx="3044952" cy="5029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647078"/>
                </a:solidFill>
                <a:latin typeface="Aptos"/>
              </a:rPr>
              <a:t>Equal weight returned 14.88% versus Wolf at 13.81%. The model did not beat the simplest control on net return.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302752" y="4352544"/>
            <a:ext cx="3374136" cy="1143000"/>
          </a:xfrm>
          <a:prstGeom prst="rect">
            <a:avLst/>
          </a:prstGeom>
          <a:solidFill>
            <a:srgbClr val="E9F1F6"/>
          </a:solidFill>
          <a:ln w="10160">
            <a:solidFill>
              <a:srgbClr val="E9F1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302752" y="4352544"/>
            <a:ext cx="54864" cy="1143000"/>
          </a:xfrm>
          <a:prstGeom prst="rect">
            <a:avLst/>
          </a:prstGeom>
          <a:solidFill>
            <a:srgbClr val="3478A5"/>
          </a:solidFill>
          <a:ln w="10160">
            <a:solidFill>
              <a:srgbClr val="3478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: Investment interpretation"/>
          <p:cNvSpPr txBox="1"/>
          <p:nvPr/>
        </p:nvSpPr>
        <p:spPr>
          <a:xfrm>
            <a:off x="8503920" y="4498848"/>
            <a:ext cx="3044952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72127"/>
                </a:solidFill>
                <a:latin typeface="Aptos Display"/>
              </a:rPr>
              <a:t>Investment interpretation</a:t>
            </a:r>
          </a:p>
        </p:txBody>
      </p:sp>
      <p:sp>
        <p:nvSpPr>
          <p:cNvPr id="20" name="Text: The current case is risk control and decision disc"/>
          <p:cNvSpPr txBox="1"/>
          <p:nvPr/>
        </p:nvSpPr>
        <p:spPr>
          <a:xfrm>
            <a:off x="8503920" y="4873752"/>
            <a:ext cx="3044952" cy="5029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647078"/>
                </a:solidFill>
                <a:latin typeface="Aptos"/>
              </a:rPr>
              <a:t>The current case is risk control and decision discipline. Incremental stock-selection alpha remains unproven.</a:t>
            </a:r>
          </a:p>
        </p:txBody>
      </p:sp>
      <p:sp>
        <p:nvSpPr>
          <p:cNvPr id="21" name="Text: Highest return: Equal weight  |  Highest Sharpe: W"/>
          <p:cNvSpPr txBox="1"/>
          <p:nvPr/>
        </p:nvSpPr>
        <p:spPr>
          <a:xfrm>
            <a:off x="530352" y="5934456"/>
            <a:ext cx="11064240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1">
                <a:solidFill>
                  <a:srgbClr val="0B6F56"/>
                </a:solidFill>
                <a:latin typeface="Aptos"/>
              </a:rPr>
              <a:t>Highest return: Equal weight  |  Highest Sharpe: Wolf  |  Smallest drawdown: Wolf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: Alpha and overfitting: the hard truth"/>
          <p:cNvSpPr txBox="1"/>
          <p:nvPr/>
        </p:nvSpPr>
        <p:spPr>
          <a:xfrm>
            <a:off x="475488" y="292608"/>
            <a:ext cx="9966960" cy="40233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72127"/>
                </a:solidFill>
                <a:latin typeface="Aptos Display"/>
              </a:rPr>
              <a:t>Alpha and overfitting: the hard truth</a:t>
            </a:r>
          </a:p>
        </p:txBody>
      </p:sp>
      <p:sp>
        <p:nvSpPr>
          <p:cNvPr id="3" name="Text: The retrospective strategies are interesting; depl"/>
          <p:cNvSpPr txBox="1"/>
          <p:nvPr/>
        </p:nvSpPr>
        <p:spPr>
          <a:xfrm>
            <a:off x="493776" y="740664"/>
            <a:ext cx="10424160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47078"/>
                </a:solidFill>
                <a:latin typeface="Aptos"/>
              </a:rPr>
              <a:t>The retrospective strategies are interesting; deployable alpha is not established.</a:t>
            </a:r>
          </a:p>
        </p:txBody>
      </p:sp>
      <p:sp>
        <p:nvSpPr>
          <p:cNvPr id="4" name="Text: 10"/>
          <p:cNvSpPr txBox="1"/>
          <p:nvPr/>
        </p:nvSpPr>
        <p:spPr>
          <a:xfrm>
            <a:off x="11219688" y="320040"/>
            <a:ext cx="475488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647078"/>
                </a:solidFill>
                <a:latin typeface="Aptos"/>
              </a:rPr>
              <a:t>10</a:t>
            </a:r>
          </a:p>
        </p:txBody>
      </p:sp>
      <p:sp>
        <p:nvSpPr>
          <p:cNvPr id="5" name="Header divider"/>
          <p:cNvSpPr/>
          <p:nvPr/>
        </p:nvSpPr>
        <p:spPr>
          <a:xfrm>
            <a:off x="493776" y="1060704"/>
            <a:ext cx="11201400" cy="10972"/>
          </a:xfrm>
          <a:prstGeom prst="rect">
            <a:avLst/>
          </a:prstGeom>
          <a:solidFill>
            <a:srgbClr val="D8E0DD"/>
          </a:solidFill>
          <a:ln w="10160"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: Wolf Quant Model | Research use"/>
          <p:cNvSpPr txBox="1"/>
          <p:nvPr/>
        </p:nvSpPr>
        <p:spPr>
          <a:xfrm>
            <a:off x="493776" y="6565392"/>
            <a:ext cx="3474720" cy="14630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647078"/>
                </a:solidFill>
                <a:latin typeface="Aptos"/>
              </a:rPr>
              <a:t>Wolf Quant Model | Research use</a:t>
            </a:r>
          </a:p>
        </p:txBody>
      </p:sp>
      <p:sp>
        <p:nvSpPr>
          <p:cNvPr id="7" name="Text: Point-in-time alpha tests and CSCV overfitting dia"/>
          <p:cNvSpPr txBox="1"/>
          <p:nvPr/>
        </p:nvSpPr>
        <p:spPr>
          <a:xfrm>
            <a:off x="3749039" y="6565392"/>
            <a:ext cx="7936992" cy="14630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0"/>
              </a:spcAft>
            </a:pPr>
            <a:r>
              <a:rPr sz="750" b="0">
                <a:solidFill>
                  <a:srgbClr val="647078"/>
                </a:solidFill>
                <a:latin typeface="Aptos"/>
              </a:rPr>
              <a:t>Point-in-time alpha tests and CSCV overfitting diagnostics</a:t>
            </a:r>
          </a:p>
        </p:txBody>
      </p:sp>
      <p:graphicFrame>
        <p:nvGraphicFramePr>
          <p:cNvPr id="8" name="Evidence table"/>
          <p:cNvGraphicFramePr>
            <a:graphicFrameLocks noGrp="1"/>
          </p:cNvGraphicFramePr>
          <p:nvPr/>
        </p:nvGraphicFramePr>
        <p:xfrm>
          <a:off x="502920" y="1389888"/>
          <a:ext cx="5614413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64673"/>
                <a:gridCol w="1058455"/>
                <a:gridCol w="966415"/>
                <a:gridCol w="782336"/>
                <a:gridCol w="1242534"/>
              </a:tblGrid>
              <a:tr h="487680">
                <a:tc>
                  <a:txBody>
                    <a:bodyPr/>
                    <a:lstStyle/>
                    <a:p>
                      <a:pPr algn="l">
                        <a:defRPr sz="103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Benchmark</a:t>
                      </a:r>
                    </a:p>
                  </a:txBody>
                  <a:tcPr marL="54864" marR="36576" marT="27432" marB="27432">
                    <a:solidFill>
                      <a:srgbClr val="17212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3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Active return</a:t>
                      </a:r>
                    </a:p>
                  </a:txBody>
                  <a:tcPr marL="54864" marR="36576" marT="27432" marB="27432">
                    <a:solidFill>
                      <a:srgbClr val="17212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3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Reg. alpha</a:t>
                      </a:r>
                    </a:p>
                  </a:txBody>
                  <a:tcPr marL="54864" marR="36576" marT="27432" marB="27432">
                    <a:solidFill>
                      <a:srgbClr val="17212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3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p-value</a:t>
                      </a:r>
                    </a:p>
                  </a:txBody>
                  <a:tcPr marL="54864" marR="36576" marT="27432" marB="27432">
                    <a:solidFill>
                      <a:srgbClr val="17212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3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Verdict</a:t>
                      </a:r>
                    </a:p>
                  </a:txBody>
                  <a:tcPr marL="54864" marR="36576" marT="27432" marB="27432">
                    <a:solidFill>
                      <a:srgbClr val="172127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l">
                        <a:defRPr sz="103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Cap weight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3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3.43%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3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4.40%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3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0.108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3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NOT SIGNIFICANT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l">
                        <a:defRPr sz="103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Equal weight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3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-1.24%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3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3.29%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3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0.312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3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NOT SIGNIFICANT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9" name="Chart: overfitting_haircut.png" descr="overfitting_hairc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45936" y="1348312"/>
            <a:ext cx="5330952" cy="3054951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02920" y="3246120"/>
            <a:ext cx="5614416" cy="1234440"/>
          </a:xfrm>
          <a:prstGeom prst="rect">
            <a:avLst/>
          </a:prstGeom>
          <a:solidFill>
            <a:srgbClr val="FBF3DF"/>
          </a:solidFill>
          <a:ln w="10160">
            <a:solidFill>
              <a:srgbClr val="FBF3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3246120"/>
            <a:ext cx="54864" cy="1234440"/>
          </a:xfrm>
          <a:prstGeom prst="rect">
            <a:avLst/>
          </a:prstGeom>
          <a:solidFill>
            <a:srgbClr val="C99328"/>
          </a:solidFill>
          <a:ln w="10160">
            <a:solidFill>
              <a:srgbClr val="C99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: What the 50.3% fall means"/>
          <p:cNvSpPr txBox="1"/>
          <p:nvPr/>
        </p:nvSpPr>
        <p:spPr>
          <a:xfrm>
            <a:off x="704088" y="3392424"/>
            <a:ext cx="5285231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72127"/>
                </a:solidFill>
                <a:latin typeface="Aptos Display"/>
              </a:rPr>
              <a:t>What the 50.3% fall means</a:t>
            </a:r>
          </a:p>
        </p:txBody>
      </p:sp>
      <p:sp>
        <p:nvSpPr>
          <p:cNvPr id="13" name="Text: When history selects the apparent winner, its info"/>
          <p:cNvSpPr txBox="1"/>
          <p:nvPr/>
        </p:nvSpPr>
        <p:spPr>
          <a:xfrm>
            <a:off x="704088" y="3767328"/>
            <a:ext cx="5285231" cy="5943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647078"/>
                </a:solidFill>
                <a:latin typeface="Aptos"/>
              </a:rPr>
              <a:t>When history selects the apparent winner, its information ratio typically drops from 1.32 in-sample to 0.66 out-of-sample. About half the apparent edge does not survive selection.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4791456"/>
            <a:ext cx="11173968" cy="1097280"/>
          </a:xfrm>
          <a:prstGeom prst="rect">
            <a:avLst/>
          </a:prstGeom>
          <a:solidFill>
            <a:srgbClr val="F8EAEA"/>
          </a:solidFill>
          <a:ln w="10160">
            <a:solidFill>
              <a:srgbClr val="F8EA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" y="4791456"/>
            <a:ext cx="54864" cy="1097280"/>
          </a:xfrm>
          <a:prstGeom prst="rect">
            <a:avLst/>
          </a:prstGeom>
          <a:solidFill>
            <a:srgbClr val="BB4A4A"/>
          </a:solidFill>
          <a:ln w="10160">
            <a:solidFill>
              <a:srgbClr val="BB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: Decision"/>
          <p:cNvSpPr txBox="1"/>
          <p:nvPr/>
        </p:nvSpPr>
        <p:spPr>
          <a:xfrm>
            <a:off x="704088" y="4937760"/>
            <a:ext cx="10844784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72127"/>
                </a:solidFill>
                <a:latin typeface="Aptos Display"/>
              </a:rPr>
              <a:t>Decision</a:t>
            </a:r>
          </a:p>
        </p:txBody>
      </p:sp>
      <p:sp>
        <p:nvSpPr>
          <p:cNvPr id="17" name="Text: Use Wolf for disciplined ranking and risk control."/>
          <p:cNvSpPr txBox="1"/>
          <p:nvPr/>
        </p:nvSpPr>
        <p:spPr>
          <a:xfrm>
            <a:off x="704088" y="5312664"/>
            <a:ext cx="10844784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647078"/>
                </a:solidFill>
                <a:latin typeface="Aptos"/>
              </a:rPr>
              <a:t>Use Wolf for disciplined ranking and risk control. Do not market it as a proven alpha engine until native live evidence clears the benchmark and cost hurdles.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: The 1997 replay is a stress map"/>
          <p:cNvSpPr txBox="1"/>
          <p:nvPr/>
        </p:nvSpPr>
        <p:spPr>
          <a:xfrm>
            <a:off x="475488" y="292608"/>
            <a:ext cx="9966960" cy="40233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72127"/>
                </a:solidFill>
                <a:latin typeface="Aptos Display"/>
              </a:rPr>
              <a:t>The 1997 replay is a stress map</a:t>
            </a:r>
          </a:p>
        </p:txBody>
      </p:sp>
      <p:sp>
        <p:nvSpPr>
          <p:cNvPr id="3" name="Text: It shows how today's holdings behaved through hist"/>
          <p:cNvSpPr txBox="1"/>
          <p:nvPr/>
        </p:nvSpPr>
        <p:spPr>
          <a:xfrm>
            <a:off x="493776" y="740664"/>
            <a:ext cx="10424160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47078"/>
                </a:solidFill>
                <a:latin typeface="Aptos"/>
              </a:rPr>
              <a:t>It shows how today's holdings behaved through history, not what the model knew then.</a:t>
            </a:r>
          </a:p>
        </p:txBody>
      </p:sp>
      <p:sp>
        <p:nvSpPr>
          <p:cNvPr id="4" name="Text: 11"/>
          <p:cNvSpPr txBox="1"/>
          <p:nvPr/>
        </p:nvSpPr>
        <p:spPr>
          <a:xfrm>
            <a:off x="11219688" y="320040"/>
            <a:ext cx="475488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647078"/>
                </a:solidFill>
                <a:latin typeface="Aptos"/>
              </a:rPr>
              <a:t>11</a:t>
            </a:r>
          </a:p>
        </p:txBody>
      </p:sp>
      <p:sp>
        <p:nvSpPr>
          <p:cNvPr id="5" name="Header divider"/>
          <p:cNvSpPr/>
          <p:nvPr/>
        </p:nvSpPr>
        <p:spPr>
          <a:xfrm>
            <a:off x="493776" y="1060704"/>
            <a:ext cx="11201400" cy="10972"/>
          </a:xfrm>
          <a:prstGeom prst="rect">
            <a:avLst/>
          </a:prstGeom>
          <a:solidFill>
            <a:srgbClr val="D8E0DD"/>
          </a:solidFill>
          <a:ln w="10160"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: Wolf Quant Model | Research use"/>
          <p:cNvSpPr txBox="1"/>
          <p:nvPr/>
        </p:nvSpPr>
        <p:spPr>
          <a:xfrm>
            <a:off x="493776" y="6565392"/>
            <a:ext cx="3474720" cy="14630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647078"/>
                </a:solidFill>
                <a:latin typeface="Aptos"/>
              </a:rPr>
              <a:t>Wolf Quant Model | Research use</a:t>
            </a:r>
          </a:p>
        </p:txBody>
      </p:sp>
      <p:sp>
        <p:nvSpPr>
          <p:cNvPr id="7" name="Text: 1997-present retrospective holdings replay"/>
          <p:cNvSpPr txBox="1"/>
          <p:nvPr/>
        </p:nvSpPr>
        <p:spPr>
          <a:xfrm>
            <a:off x="3749039" y="6565392"/>
            <a:ext cx="7936992" cy="14630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0"/>
              </a:spcAft>
            </a:pPr>
            <a:r>
              <a:rPr sz="750" b="0">
                <a:solidFill>
                  <a:srgbClr val="647078"/>
                </a:solidFill>
                <a:latin typeface="Aptos"/>
              </a:rPr>
              <a:t>1997-present retrospective holdings replay</a:t>
            </a:r>
          </a:p>
        </p:txBody>
      </p:sp>
      <p:graphicFrame>
        <p:nvGraphicFramePr>
          <p:cNvPr id="8" name="Evidence table"/>
          <p:cNvGraphicFramePr>
            <a:graphicFrameLocks noGrp="1"/>
          </p:cNvGraphicFramePr>
          <p:nvPr/>
        </p:nvGraphicFramePr>
        <p:xfrm>
          <a:off x="502920" y="1399032"/>
          <a:ext cx="6583680" cy="30540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1051560"/>
                <a:gridCol w="731520"/>
                <a:gridCol w="685800"/>
                <a:gridCol w="822960"/>
                <a:gridCol w="1143000"/>
              </a:tblGrid>
              <a:tr h="509016">
                <a:tc>
                  <a:txBody>
                    <a:bodyPr/>
                    <a:lstStyle/>
                    <a:p>
                      <a:pPr algn="l">
                        <a:defRPr sz="969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Portfolio</a:t>
                      </a:r>
                    </a:p>
                  </a:txBody>
                  <a:tcPr marL="54864" marR="36576" marT="27432" marB="27432">
                    <a:solidFill>
                      <a:srgbClr val="17212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69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Start</a:t>
                      </a:r>
                    </a:p>
                  </a:txBody>
                  <a:tcPr marL="54864" marR="36576" marT="27432" marB="27432">
                    <a:solidFill>
                      <a:srgbClr val="17212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69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CAGR</a:t>
                      </a:r>
                    </a:p>
                  </a:txBody>
                  <a:tcPr marL="54864" marR="36576" marT="27432" marB="27432">
                    <a:solidFill>
                      <a:srgbClr val="17212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69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Sharpe</a:t>
                      </a:r>
                    </a:p>
                  </a:txBody>
                  <a:tcPr marL="54864" marR="36576" marT="27432" marB="27432">
                    <a:solidFill>
                      <a:srgbClr val="17212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69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Max DD</a:t>
                      </a:r>
                    </a:p>
                  </a:txBody>
                  <a:tcPr marL="54864" marR="36576" marT="27432" marB="27432">
                    <a:solidFill>
                      <a:srgbClr val="17212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69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End</a:t>
                      </a:r>
                    </a:p>
                  </a:txBody>
                  <a:tcPr marL="54864" marR="36576" marT="27432" marB="27432">
                    <a:solidFill>
                      <a:srgbClr val="172127"/>
                    </a:solidFill>
                  </a:tcPr>
                </a:tc>
              </a:tr>
              <a:tr h="509016">
                <a:tc>
                  <a:txBody>
                    <a:bodyPr/>
                    <a:lstStyle/>
                    <a:p>
                      <a:pPr algn="l">
                        <a:defRPr sz="96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Current Portfolio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6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$186.1m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6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14.1%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6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0.75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6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-42.6%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6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$9.0bn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  <a:tr h="509016">
                <a:tc>
                  <a:txBody>
                    <a:bodyPr/>
                    <a:lstStyle/>
                    <a:p>
                      <a:pPr algn="l">
                        <a:defRPr sz="96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Portfolio-Aware Overlay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6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$186.1m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6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13.0%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6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0.77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6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-41.2%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6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$6.8bn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  <a:tr h="509016">
                <a:tc>
                  <a:txBody>
                    <a:bodyPr/>
                    <a:lstStyle/>
                    <a:p>
                      <a:pPr algn="l">
                        <a:defRPr sz="96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Risk-Parity Optimiser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6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$100.0k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6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10.9%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6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0.77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6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-30.6%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6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$2.1m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  <a:tr h="509016">
                <a:tc>
                  <a:txBody>
                    <a:bodyPr/>
                    <a:lstStyle/>
                    <a:p>
                      <a:pPr algn="l">
                        <a:defRPr sz="96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LLM Analyst Benchmark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6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$100.0k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6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9.5%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6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0.81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6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-20.9%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6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$1.5m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  <a:tr h="509016">
                <a:tc>
                  <a:txBody>
                    <a:bodyPr/>
                    <a:lstStyle/>
                    <a:p>
                      <a:pPr algn="l">
                        <a:defRPr sz="96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Final Resolved Portfolio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6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$186.1m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6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9.1%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6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0.65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6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-28.4%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6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$2.4bn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9" name="Chart: risk_return.png" descr="risk_retur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96912" y="1860777"/>
            <a:ext cx="4379976" cy="2231188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02920" y="4791456"/>
            <a:ext cx="5486400" cy="1143000"/>
          </a:xfrm>
          <a:prstGeom prst="rect">
            <a:avLst/>
          </a:prstGeom>
          <a:solidFill>
            <a:srgbClr val="E8F4EF"/>
          </a:solidFill>
          <a:ln w="10160">
            <a:solidFill>
              <a:srgbClr val="E8F4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4791456"/>
            <a:ext cx="54864" cy="1143000"/>
          </a:xfrm>
          <a:prstGeom prst="rect">
            <a:avLst/>
          </a:prstGeom>
          <a:solidFill>
            <a:srgbClr val="14966F"/>
          </a:solidFill>
          <a:ln w="10160">
            <a:solidFill>
              <a:srgbClr val="1496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: What looks strongest"/>
          <p:cNvSpPr txBox="1"/>
          <p:nvPr/>
        </p:nvSpPr>
        <p:spPr>
          <a:xfrm>
            <a:off x="704088" y="4937760"/>
            <a:ext cx="5157216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72127"/>
                </a:solidFill>
                <a:latin typeface="Aptos Display"/>
              </a:rPr>
              <a:t>What looks strongest</a:t>
            </a:r>
          </a:p>
        </p:txBody>
      </p:sp>
      <p:sp>
        <p:nvSpPr>
          <p:cNvPr id="13" name="Text: Current Portfolio PnL: $8.8bn. Final Resolved PnL:"/>
          <p:cNvSpPr txBox="1"/>
          <p:nvPr/>
        </p:nvSpPr>
        <p:spPr>
          <a:xfrm>
            <a:off x="704088" y="5312664"/>
            <a:ext cx="5157216" cy="5029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647078"/>
                </a:solidFill>
                <a:latin typeface="Aptos"/>
              </a:rPr>
              <a:t>Current Portfolio PnL: $8.8bn. Final Resolved PnL: $2.2bn. Risk Parity led the independent optimisers.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36208" y="4791456"/>
            <a:ext cx="5440680" cy="1143000"/>
          </a:xfrm>
          <a:prstGeom prst="rect">
            <a:avLst/>
          </a:prstGeom>
          <a:solidFill>
            <a:srgbClr val="FBF3DF"/>
          </a:solidFill>
          <a:ln w="10160">
            <a:solidFill>
              <a:srgbClr val="FBF3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36208" y="4791456"/>
            <a:ext cx="54864" cy="1143000"/>
          </a:xfrm>
          <a:prstGeom prst="rect">
            <a:avLst/>
          </a:prstGeom>
          <a:solidFill>
            <a:srgbClr val="C99328"/>
          </a:solidFill>
          <a:ln w="10160">
            <a:solidFill>
              <a:srgbClr val="C99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: Why it cannot prove selection skill"/>
          <p:cNvSpPr txBox="1"/>
          <p:nvPr/>
        </p:nvSpPr>
        <p:spPr>
          <a:xfrm>
            <a:off x="6437376" y="4937760"/>
            <a:ext cx="5111496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72127"/>
                </a:solidFill>
                <a:latin typeface="Aptos Display"/>
              </a:rPr>
              <a:t>Why it cannot prove selection skill</a:t>
            </a:r>
          </a:p>
        </p:txBody>
      </p:sp>
      <p:sp>
        <p:nvSpPr>
          <p:cNvPr id="17" name="Text: The securities were chosen with current informatio"/>
          <p:cNvSpPr txBox="1"/>
          <p:nvPr/>
        </p:nvSpPr>
        <p:spPr>
          <a:xfrm>
            <a:off x="6437376" y="5312664"/>
            <a:ext cx="5111496" cy="5029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647078"/>
                </a:solidFill>
                <a:latin typeface="Aptos"/>
              </a:rPr>
              <a:t>The securities were chosen with current information and then replayed backward. Survivorship and selection look-ahead make the long PnL unsuitable as a live promise.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: Performance through major market shocks"/>
          <p:cNvSpPr txBox="1"/>
          <p:nvPr/>
        </p:nvSpPr>
        <p:spPr>
          <a:xfrm>
            <a:off x="475488" y="292608"/>
            <a:ext cx="9966960" cy="40233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72127"/>
                </a:solidFill>
                <a:latin typeface="Aptos Display"/>
              </a:rPr>
              <a:t>Performance through major market shocks</a:t>
            </a:r>
          </a:p>
        </p:txBody>
      </p:sp>
      <p:sp>
        <p:nvSpPr>
          <p:cNvPr id="3" name="Text: Event windows are descriptive overlaps, not causal"/>
          <p:cNvSpPr txBox="1"/>
          <p:nvPr/>
        </p:nvSpPr>
        <p:spPr>
          <a:xfrm>
            <a:off x="493776" y="740664"/>
            <a:ext cx="10424160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47078"/>
                </a:solidFill>
                <a:latin typeface="Aptos"/>
              </a:rPr>
              <a:t>Event windows are descriptive overlaps, not causal estimates.</a:t>
            </a:r>
          </a:p>
        </p:txBody>
      </p:sp>
      <p:sp>
        <p:nvSpPr>
          <p:cNvPr id="4" name="Text: 12"/>
          <p:cNvSpPr txBox="1"/>
          <p:nvPr/>
        </p:nvSpPr>
        <p:spPr>
          <a:xfrm>
            <a:off x="11219688" y="320040"/>
            <a:ext cx="475488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647078"/>
                </a:solidFill>
                <a:latin typeface="Aptos"/>
              </a:rPr>
              <a:t>12</a:t>
            </a:r>
          </a:p>
        </p:txBody>
      </p:sp>
      <p:sp>
        <p:nvSpPr>
          <p:cNvPr id="5" name="Header divider"/>
          <p:cNvSpPr/>
          <p:nvPr/>
        </p:nvSpPr>
        <p:spPr>
          <a:xfrm>
            <a:off x="493776" y="1060704"/>
            <a:ext cx="11201400" cy="10972"/>
          </a:xfrm>
          <a:prstGeom prst="rect">
            <a:avLst/>
          </a:prstGeom>
          <a:solidFill>
            <a:srgbClr val="D8E0DD"/>
          </a:solidFill>
          <a:ln w="10160"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: Wolf Quant Model | Research use"/>
          <p:cNvSpPr txBox="1"/>
          <p:nvPr/>
        </p:nvSpPr>
        <p:spPr>
          <a:xfrm>
            <a:off x="493776" y="6565392"/>
            <a:ext cx="3474720" cy="14630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647078"/>
                </a:solidFill>
                <a:latin typeface="Aptos"/>
              </a:rPr>
              <a:t>Wolf Quant Model | Research use</a:t>
            </a:r>
          </a:p>
        </p:txBody>
      </p:sp>
      <p:sp>
        <p:nvSpPr>
          <p:cNvPr id="7" name="Text: Macro-event timeline and event performance table"/>
          <p:cNvSpPr txBox="1"/>
          <p:nvPr/>
        </p:nvSpPr>
        <p:spPr>
          <a:xfrm>
            <a:off x="3749039" y="6565392"/>
            <a:ext cx="7936992" cy="14630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0"/>
              </a:spcAft>
            </a:pPr>
            <a:r>
              <a:rPr sz="750" b="0">
                <a:solidFill>
                  <a:srgbClr val="647078"/>
                </a:solidFill>
                <a:latin typeface="Aptos"/>
              </a:rPr>
              <a:t>Macro-event timeline and event performance table</a:t>
            </a:r>
          </a:p>
        </p:txBody>
      </p:sp>
      <p:pic>
        <p:nvPicPr>
          <p:cNvPr id="8" name="Chart: macro_event_timeline.png" descr="macro_event_tim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5811" y="1179576"/>
            <a:ext cx="8068185" cy="4407408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02920" y="5641848"/>
            <a:ext cx="3511296" cy="557784"/>
          </a:xfrm>
          <a:prstGeom prst="rect">
            <a:avLst/>
          </a:prstGeom>
          <a:solidFill>
            <a:srgbClr val="FFFFFF"/>
          </a:solidFill>
          <a:ln w="1016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5641848"/>
            <a:ext cx="54864" cy="557784"/>
          </a:xfrm>
          <a:prstGeom prst="rect">
            <a:avLst/>
          </a:prstGeom>
          <a:solidFill>
            <a:srgbClr val="BB4A4A"/>
          </a:solidFill>
          <a:ln w="10160">
            <a:solidFill>
              <a:srgbClr val="BB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: COVID-19: -12.58% return; -15.19% event drawdown"/>
          <p:cNvSpPr txBox="1"/>
          <p:nvPr/>
        </p:nvSpPr>
        <p:spPr>
          <a:xfrm>
            <a:off x="704088" y="5733288"/>
            <a:ext cx="3182112" cy="39319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19" b="1">
                <a:solidFill>
                  <a:srgbClr val="172127"/>
                </a:solidFill>
                <a:latin typeface="Aptos"/>
              </a:rPr>
              <a:t>COVID-19: -12.58% return; -15.19% event drawdown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70248" y="5641848"/>
            <a:ext cx="3511296" cy="557784"/>
          </a:xfrm>
          <a:prstGeom prst="rect">
            <a:avLst/>
          </a:prstGeom>
          <a:solidFill>
            <a:srgbClr val="FFFFFF"/>
          </a:solidFill>
          <a:ln w="1016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70248" y="5641848"/>
            <a:ext cx="54864" cy="557784"/>
          </a:xfrm>
          <a:prstGeom prst="rect">
            <a:avLst/>
          </a:prstGeom>
          <a:solidFill>
            <a:srgbClr val="C99328"/>
          </a:solidFill>
          <a:ln w="10160">
            <a:solidFill>
              <a:srgbClr val="C99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: 2008 crisis: -27.12% event drawdown"/>
          <p:cNvSpPr txBox="1"/>
          <p:nvPr/>
        </p:nvSpPr>
        <p:spPr>
          <a:xfrm>
            <a:off x="4471416" y="5733288"/>
            <a:ext cx="3182112" cy="39319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19" b="1">
                <a:solidFill>
                  <a:srgbClr val="172127"/>
                </a:solidFill>
                <a:latin typeface="Aptos"/>
              </a:rPr>
              <a:t>2008 crisis: -27.12% event drawdown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37576" y="5641848"/>
            <a:ext cx="3511296" cy="557784"/>
          </a:xfrm>
          <a:prstGeom prst="rect">
            <a:avLst/>
          </a:prstGeom>
          <a:solidFill>
            <a:srgbClr val="FFFFFF"/>
          </a:solidFill>
          <a:ln w="1016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37576" y="5641848"/>
            <a:ext cx="54864" cy="557784"/>
          </a:xfrm>
          <a:prstGeom prst="rect">
            <a:avLst/>
          </a:prstGeom>
          <a:solidFill>
            <a:srgbClr val="3478A5"/>
          </a:solidFill>
          <a:ln w="10160">
            <a:solidFill>
              <a:srgbClr val="3478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: 2026 Iran war: +3.57% return; -5.27% drawdown"/>
          <p:cNvSpPr txBox="1"/>
          <p:nvPr/>
        </p:nvSpPr>
        <p:spPr>
          <a:xfrm>
            <a:off x="8238744" y="5733288"/>
            <a:ext cx="3182112" cy="39319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19" b="1">
                <a:solidFill>
                  <a:srgbClr val="172127"/>
                </a:solidFill>
                <a:latin typeface="Aptos"/>
              </a:rPr>
              <a:t>2026 Iran war: +3.57% return; -5.27% drawdown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: Interest-rate and market-regime context"/>
          <p:cNvSpPr txBox="1"/>
          <p:nvPr/>
        </p:nvSpPr>
        <p:spPr>
          <a:xfrm>
            <a:off x="475488" y="292608"/>
            <a:ext cx="9966960" cy="40233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72127"/>
                </a:solidFill>
                <a:latin typeface="Aptos Display"/>
              </a:rPr>
              <a:t>Interest-rate and market-regime context</a:t>
            </a:r>
          </a:p>
        </p:txBody>
      </p:sp>
      <p:sp>
        <p:nvSpPr>
          <p:cNvPr id="3" name="Text: Conditional groupings show where the final portfol"/>
          <p:cNvSpPr txBox="1"/>
          <p:nvPr/>
        </p:nvSpPr>
        <p:spPr>
          <a:xfrm>
            <a:off x="493776" y="740664"/>
            <a:ext cx="10424160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47078"/>
                </a:solidFill>
                <a:latin typeface="Aptos"/>
              </a:rPr>
              <a:t>Conditional groupings show where the final portfolio was most comfortable.</a:t>
            </a:r>
          </a:p>
        </p:txBody>
      </p:sp>
      <p:sp>
        <p:nvSpPr>
          <p:cNvPr id="4" name="Text: 13"/>
          <p:cNvSpPr txBox="1"/>
          <p:nvPr/>
        </p:nvSpPr>
        <p:spPr>
          <a:xfrm>
            <a:off x="11219688" y="320040"/>
            <a:ext cx="475488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647078"/>
                </a:solidFill>
                <a:latin typeface="Aptos"/>
              </a:rPr>
              <a:t>13</a:t>
            </a:r>
          </a:p>
        </p:txBody>
      </p:sp>
      <p:sp>
        <p:nvSpPr>
          <p:cNvPr id="5" name="Header divider"/>
          <p:cNvSpPr/>
          <p:nvPr/>
        </p:nvSpPr>
        <p:spPr>
          <a:xfrm>
            <a:off x="493776" y="1060704"/>
            <a:ext cx="11201400" cy="10972"/>
          </a:xfrm>
          <a:prstGeom prst="rect">
            <a:avLst/>
          </a:prstGeom>
          <a:solidFill>
            <a:srgbClr val="D8E0DD"/>
          </a:solidFill>
          <a:ln w="10160"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: Wolf Quant Model | Research use"/>
          <p:cNvSpPr txBox="1"/>
          <p:nvPr/>
        </p:nvSpPr>
        <p:spPr>
          <a:xfrm>
            <a:off x="493776" y="6565392"/>
            <a:ext cx="3474720" cy="14630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647078"/>
                </a:solidFill>
                <a:latin typeface="Aptos"/>
              </a:rPr>
              <a:t>Wolf Quant Model | Research use</a:t>
            </a:r>
          </a:p>
        </p:txBody>
      </p:sp>
      <p:sp>
        <p:nvSpPr>
          <p:cNvPr id="7" name="Text: Lagged rate and market-regime performance"/>
          <p:cNvSpPr txBox="1"/>
          <p:nvPr/>
        </p:nvSpPr>
        <p:spPr>
          <a:xfrm>
            <a:off x="3749039" y="6565392"/>
            <a:ext cx="7936992" cy="14630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0"/>
              </a:spcAft>
            </a:pPr>
            <a:r>
              <a:rPr sz="750" b="0">
                <a:solidFill>
                  <a:srgbClr val="647078"/>
                </a:solidFill>
                <a:latin typeface="Aptos"/>
              </a:rPr>
              <a:t>Lagged rate and market-regime performance</a:t>
            </a:r>
          </a:p>
        </p:txBody>
      </p:sp>
      <p:pic>
        <p:nvPicPr>
          <p:cNvPr id="8" name="Chart: interest_rate_performance.png" descr="interest_rate_perform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3192" y="2081564"/>
            <a:ext cx="5687568" cy="2502847"/>
          </a:xfrm>
          <a:prstGeom prst="rect">
            <a:avLst/>
          </a:prstGeom>
        </p:spPr>
      </p:pic>
      <p:pic>
        <p:nvPicPr>
          <p:cNvPr id="9" name="Chart: market_regime_performance.png" descr="market_regime_performa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2095648"/>
            <a:ext cx="5623560" cy="2474679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02920" y="5522976"/>
            <a:ext cx="5440680" cy="676656"/>
          </a:xfrm>
          <a:prstGeom prst="rect">
            <a:avLst/>
          </a:prstGeom>
          <a:solidFill>
            <a:srgbClr val="E9F1F6"/>
          </a:solidFill>
          <a:ln w="10160">
            <a:solidFill>
              <a:srgbClr val="E9F1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5522976"/>
            <a:ext cx="54864" cy="676656"/>
          </a:xfrm>
          <a:prstGeom prst="rect">
            <a:avLst/>
          </a:prstGeom>
          <a:solidFill>
            <a:srgbClr val="3478A5"/>
          </a:solidFill>
          <a:ln w="10160">
            <a:solidFill>
              <a:srgbClr val="3478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: Rate reading: Final Portfolio was strongest in hig"/>
          <p:cNvSpPr txBox="1"/>
          <p:nvPr/>
        </p:nvSpPr>
        <p:spPr>
          <a:xfrm>
            <a:off x="704088" y="5614416"/>
            <a:ext cx="5111496" cy="51206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19" b="1">
                <a:solidFill>
                  <a:srgbClr val="172127"/>
                </a:solidFill>
                <a:latin typeface="Aptos"/>
              </a:rPr>
              <a:t>Rate reading: Final Portfolio was strongest in high-rate months (15.77%) and when rates were rising (13.03%).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36208" y="5522976"/>
            <a:ext cx="5440680" cy="676656"/>
          </a:xfrm>
          <a:prstGeom prst="rect">
            <a:avLst/>
          </a:prstGeom>
          <a:solidFill>
            <a:srgbClr val="E8F4EF"/>
          </a:solidFill>
          <a:ln w="10160">
            <a:solidFill>
              <a:srgbClr val="E8F4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36208" y="5522976"/>
            <a:ext cx="54864" cy="676656"/>
          </a:xfrm>
          <a:prstGeom prst="rect">
            <a:avLst/>
          </a:prstGeom>
          <a:solidFill>
            <a:srgbClr val="14966F"/>
          </a:solidFill>
          <a:ln w="10160">
            <a:solidFill>
              <a:srgbClr val="1496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: Regime reading: Its strongest market group was Bul"/>
          <p:cNvSpPr txBox="1"/>
          <p:nvPr/>
        </p:nvSpPr>
        <p:spPr>
          <a:xfrm>
            <a:off x="6437376" y="5614416"/>
            <a:ext cx="5111496" cy="51206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19" b="1">
                <a:solidFill>
                  <a:srgbClr val="172127"/>
                </a:solidFill>
                <a:latin typeface="Aptos"/>
              </a:rPr>
              <a:t>Regime reading: Its strongest market group was Bull / Volatile (14.09%). Expansion months returned 9.91% annualised.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: Risk calibration now passes; approval stays condit"/>
          <p:cNvSpPr txBox="1"/>
          <p:nvPr/>
        </p:nvSpPr>
        <p:spPr>
          <a:xfrm>
            <a:off x="475488" y="292608"/>
            <a:ext cx="9966960" cy="40233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72127"/>
                </a:solidFill>
                <a:latin typeface="Aptos Display"/>
              </a:rPr>
              <a:t>Risk calibration now passes; approval stays conditional</a:t>
            </a:r>
          </a:p>
        </p:txBody>
      </p:sp>
      <p:sp>
        <p:nvSpPr>
          <p:cNvPr id="3" name="Text: Adaptive VaR fixed exception clustering without hi"/>
          <p:cNvSpPr txBox="1"/>
          <p:nvPr/>
        </p:nvSpPr>
        <p:spPr>
          <a:xfrm>
            <a:off x="493776" y="740664"/>
            <a:ext cx="10424160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47078"/>
                </a:solidFill>
                <a:latin typeface="Aptos"/>
              </a:rPr>
              <a:t>Adaptive VaR fixed exception clustering without hiding PIT and alpha limits.</a:t>
            </a:r>
          </a:p>
        </p:txBody>
      </p:sp>
      <p:sp>
        <p:nvSpPr>
          <p:cNvPr id="4" name="Text: 14"/>
          <p:cNvSpPr txBox="1"/>
          <p:nvPr/>
        </p:nvSpPr>
        <p:spPr>
          <a:xfrm>
            <a:off x="11219688" y="320040"/>
            <a:ext cx="475488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647078"/>
                </a:solidFill>
                <a:latin typeface="Aptos"/>
              </a:rPr>
              <a:t>14</a:t>
            </a:r>
          </a:p>
        </p:txBody>
      </p:sp>
      <p:sp>
        <p:nvSpPr>
          <p:cNvPr id="5" name="Header divider"/>
          <p:cNvSpPr/>
          <p:nvPr/>
        </p:nvSpPr>
        <p:spPr>
          <a:xfrm>
            <a:off x="493776" y="1060704"/>
            <a:ext cx="11201400" cy="10972"/>
          </a:xfrm>
          <a:prstGeom prst="rect">
            <a:avLst/>
          </a:prstGeom>
          <a:solidFill>
            <a:srgbClr val="D8E0DD"/>
          </a:solidFill>
          <a:ln w="10160"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: Wolf Quant Model | Research use"/>
          <p:cNvSpPr txBox="1"/>
          <p:nvPr/>
        </p:nvSpPr>
        <p:spPr>
          <a:xfrm>
            <a:off x="493776" y="6565392"/>
            <a:ext cx="3474720" cy="14630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647078"/>
                </a:solidFill>
                <a:latin typeface="Aptos"/>
              </a:rPr>
              <a:t>Wolf Quant Model | Research use</a:t>
            </a:r>
          </a:p>
        </p:txBody>
      </p:sp>
      <p:sp>
        <p:nvSpPr>
          <p:cNvPr id="7" name="Text: Validation scorecard and overall/holdout VaR tests"/>
          <p:cNvSpPr txBox="1"/>
          <p:nvPr/>
        </p:nvSpPr>
        <p:spPr>
          <a:xfrm>
            <a:off x="3749039" y="6565392"/>
            <a:ext cx="7936992" cy="14630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0"/>
              </a:spcAft>
            </a:pPr>
            <a:r>
              <a:rPr sz="750" b="0">
                <a:solidFill>
                  <a:srgbClr val="647078"/>
                </a:solidFill>
                <a:latin typeface="Aptos"/>
              </a:rPr>
              <a:t>Validation scorecard and overall/holdout VaR tests</a:t>
            </a:r>
          </a:p>
        </p:txBody>
      </p:sp>
      <p:pic>
        <p:nvPicPr>
          <p:cNvPr id="8" name="Chart: validation_scorecard.png" descr="validation_scorec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3192" y="1871263"/>
            <a:ext cx="5715000" cy="3298353"/>
          </a:xfrm>
          <a:prstGeom prst="rect">
            <a:avLst/>
          </a:prstGeom>
        </p:spPr>
      </p:pic>
      <p:sp>
        <p:nvSpPr>
          <p:cNvPr id="9" name="Text: VaR coverage and independence"/>
          <p:cNvSpPr txBox="1"/>
          <p:nvPr/>
        </p:nvSpPr>
        <p:spPr>
          <a:xfrm>
            <a:off x="6345936" y="1353312"/>
            <a:ext cx="5029200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172127"/>
                </a:solidFill>
                <a:latin typeface="Aptos Display"/>
              </a:rPr>
              <a:t>VaR coverage and independence</a:t>
            </a:r>
          </a:p>
        </p:txBody>
      </p:sp>
      <p:graphicFrame>
        <p:nvGraphicFramePr>
          <p:cNvPr id="10" name="Evidence table"/>
          <p:cNvGraphicFramePr>
            <a:graphicFrameLocks noGrp="1"/>
          </p:cNvGraphicFramePr>
          <p:nvPr/>
        </p:nvGraphicFramePr>
        <p:xfrm>
          <a:off x="6336792" y="1773936"/>
          <a:ext cx="5340092" cy="21762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0668"/>
                <a:gridCol w="780917"/>
                <a:gridCol w="1171375"/>
                <a:gridCol w="1033566"/>
                <a:gridCol w="1033566"/>
              </a:tblGrid>
              <a:tr h="435254">
                <a:tc>
                  <a:txBody>
                    <a:bodyPr/>
                    <a:lstStyle/>
                    <a:p>
                      <a:pPr algn="l">
                        <a:defRPr sz="919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Sample</a:t>
                      </a:r>
                    </a:p>
                  </a:txBody>
                  <a:tcPr marL="54864" marR="36576" marT="27432" marB="27432">
                    <a:solidFill>
                      <a:srgbClr val="17212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19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VaR</a:t>
                      </a:r>
                    </a:p>
                  </a:txBody>
                  <a:tcPr marL="54864" marR="36576" marT="27432" marB="27432">
                    <a:solidFill>
                      <a:srgbClr val="17212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19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Exceptions</a:t>
                      </a:r>
                    </a:p>
                  </a:txBody>
                  <a:tcPr marL="54864" marR="36576" marT="27432" marB="27432">
                    <a:solidFill>
                      <a:srgbClr val="17212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19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Kupiec p</a:t>
                      </a:r>
                    </a:p>
                  </a:txBody>
                  <a:tcPr marL="54864" marR="36576" marT="27432" marB="27432">
                    <a:solidFill>
                      <a:srgbClr val="17212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19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Indep. p</a:t>
                      </a:r>
                    </a:p>
                  </a:txBody>
                  <a:tcPr marL="54864" marR="36576" marT="27432" marB="27432">
                    <a:solidFill>
                      <a:srgbClr val="172127"/>
                    </a:solidFill>
                  </a:tcPr>
                </a:tc>
              </a:tr>
              <a:tr h="435254">
                <a:tc>
                  <a:txBody>
                    <a:bodyPr/>
                    <a:lstStyle/>
                    <a:p>
                      <a:pPr algn="l">
                        <a:defRPr sz="91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Overall</a:t>
                      </a:r>
                    </a:p>
                  </a:txBody>
                  <a:tcPr marL="54864" marR="36576" marT="22860" marB="22860">
                    <a:solidFill>
                      <a:srgbClr val="E8F4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1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95%</a:t>
                      </a:r>
                    </a:p>
                  </a:txBody>
                  <a:tcPr marL="54864" marR="36576" marT="22860" marB="22860">
                    <a:solidFill>
                      <a:srgbClr val="E8F4E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1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62/1152</a:t>
                      </a:r>
                    </a:p>
                  </a:txBody>
                  <a:tcPr marL="54864" marR="36576" marT="22860" marB="22860">
                    <a:solidFill>
                      <a:srgbClr val="E8F4E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1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0.557</a:t>
                      </a:r>
                    </a:p>
                  </a:txBody>
                  <a:tcPr marL="54864" marR="36576" marT="22860" marB="22860">
                    <a:solidFill>
                      <a:srgbClr val="E8F4E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1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0.367</a:t>
                      </a:r>
                    </a:p>
                  </a:txBody>
                  <a:tcPr marL="54864" marR="36576" marT="22860" marB="22860">
                    <a:solidFill>
                      <a:srgbClr val="E8F4EF"/>
                    </a:solidFill>
                  </a:tcPr>
                </a:tc>
              </a:tr>
              <a:tr h="435254">
                <a:tc>
                  <a:txBody>
                    <a:bodyPr/>
                    <a:lstStyle/>
                    <a:p>
                      <a:pPr algn="l">
                        <a:defRPr sz="91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Overall</a:t>
                      </a:r>
                    </a:p>
                  </a:txBody>
                  <a:tcPr marL="54864" marR="36576" marT="22860" marB="22860">
                    <a:solidFill>
                      <a:srgbClr val="E8F4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1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99%</a:t>
                      </a:r>
                    </a:p>
                  </a:txBody>
                  <a:tcPr marL="54864" marR="36576" marT="22860" marB="22860">
                    <a:solidFill>
                      <a:srgbClr val="E8F4E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1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10/1152</a:t>
                      </a:r>
                    </a:p>
                  </a:txBody>
                  <a:tcPr marL="54864" marR="36576" marT="22860" marB="22860">
                    <a:solidFill>
                      <a:srgbClr val="E8F4E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1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0.645</a:t>
                      </a:r>
                    </a:p>
                  </a:txBody>
                  <a:tcPr marL="54864" marR="36576" marT="22860" marB="22860">
                    <a:solidFill>
                      <a:srgbClr val="E8F4E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1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0.072</a:t>
                      </a:r>
                    </a:p>
                  </a:txBody>
                  <a:tcPr marL="54864" marR="36576" marT="22860" marB="22860">
                    <a:solidFill>
                      <a:srgbClr val="E8F4EF"/>
                    </a:solidFill>
                  </a:tcPr>
                </a:tc>
              </a:tr>
              <a:tr h="435254">
                <a:tc>
                  <a:txBody>
                    <a:bodyPr/>
                    <a:lstStyle/>
                    <a:p>
                      <a:pPr algn="l">
                        <a:defRPr sz="91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Holdout</a:t>
                      </a:r>
                    </a:p>
                  </a:txBody>
                  <a:tcPr marL="54864" marR="36576" marT="22860" marB="22860">
                    <a:solidFill>
                      <a:srgbClr val="E8F4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1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95%</a:t>
                      </a:r>
                    </a:p>
                  </a:txBody>
                  <a:tcPr marL="54864" marR="36576" marT="22860" marB="22860">
                    <a:solidFill>
                      <a:srgbClr val="E8F4E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1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21/460</a:t>
                      </a:r>
                    </a:p>
                  </a:txBody>
                  <a:tcPr marL="54864" marR="36576" marT="22860" marB="22860">
                    <a:solidFill>
                      <a:srgbClr val="E8F4E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1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0.664</a:t>
                      </a:r>
                    </a:p>
                  </a:txBody>
                  <a:tcPr marL="54864" marR="36576" marT="22860" marB="22860">
                    <a:solidFill>
                      <a:srgbClr val="E8F4E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1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0.074</a:t>
                      </a:r>
                    </a:p>
                  </a:txBody>
                  <a:tcPr marL="54864" marR="36576" marT="22860" marB="22860">
                    <a:solidFill>
                      <a:srgbClr val="E8F4EF"/>
                    </a:solidFill>
                  </a:tcPr>
                </a:tc>
              </a:tr>
              <a:tr h="435256">
                <a:tc>
                  <a:txBody>
                    <a:bodyPr/>
                    <a:lstStyle/>
                    <a:p>
                      <a:pPr algn="l">
                        <a:defRPr sz="91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Holdout</a:t>
                      </a:r>
                    </a:p>
                  </a:txBody>
                  <a:tcPr marL="54864" marR="36576" marT="22860" marB="22860">
                    <a:solidFill>
                      <a:srgbClr val="E8F4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1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99%</a:t>
                      </a:r>
                    </a:p>
                  </a:txBody>
                  <a:tcPr marL="54864" marR="36576" marT="22860" marB="22860">
                    <a:solidFill>
                      <a:srgbClr val="E8F4E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1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3/460</a:t>
                      </a:r>
                    </a:p>
                  </a:txBody>
                  <a:tcPr marL="54864" marR="36576" marT="22860" marB="22860">
                    <a:solidFill>
                      <a:srgbClr val="E8F4E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1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0.423</a:t>
                      </a:r>
                    </a:p>
                  </a:txBody>
                  <a:tcPr marL="54864" marR="36576" marT="22860" marB="22860">
                    <a:solidFill>
                      <a:srgbClr val="E8F4E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1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0.843</a:t>
                      </a:r>
                    </a:p>
                  </a:txBody>
                  <a:tcPr marL="54864" marR="36576" marT="22860" marB="22860">
                    <a:solidFill>
                      <a:srgbClr val="E8F4EF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6336792" y="4251960"/>
            <a:ext cx="5340096" cy="1325880"/>
          </a:xfrm>
          <a:prstGeom prst="rect">
            <a:avLst/>
          </a:prstGeom>
          <a:solidFill>
            <a:srgbClr val="E8F4EF"/>
          </a:solidFill>
          <a:ln w="10160">
            <a:solidFill>
              <a:srgbClr val="E8F4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36792" y="4251960"/>
            <a:ext cx="54864" cy="1325880"/>
          </a:xfrm>
          <a:prstGeom prst="rect">
            <a:avLst/>
          </a:prstGeom>
          <a:solidFill>
            <a:srgbClr val="14966F"/>
          </a:solidFill>
          <a:ln w="10160">
            <a:solidFill>
              <a:srgbClr val="1496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: Adaptive risk stack: 15 / 15"/>
          <p:cNvSpPr txBox="1"/>
          <p:nvPr/>
        </p:nvSpPr>
        <p:spPr>
          <a:xfrm>
            <a:off x="6537959" y="4398264"/>
            <a:ext cx="5010912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72127"/>
                </a:solidFill>
                <a:latin typeface="Aptos Display"/>
              </a:rPr>
              <a:t>Adaptive risk stack: 15 / 15</a:t>
            </a:r>
          </a:p>
        </p:txBody>
      </p:sp>
      <p:sp>
        <p:nvSpPr>
          <p:cNvPr id="14" name="Text: DCC-IGARCH Student-t, filtered historical simulati"/>
          <p:cNvSpPr txBox="1"/>
          <p:nvPr/>
        </p:nvSpPr>
        <p:spPr>
          <a:xfrm>
            <a:off x="6537959" y="4773168"/>
            <a:ext cx="5010912" cy="6858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647078"/>
                </a:solidFill>
                <a:latin typeface="Aptos"/>
              </a:rPr>
              <a:t>DCC-IGARCH Student-t, filtered historical simulation, EWMA Normal and EWMA Student-t are selected using trailing data. The holdout is chronological reconstructed evidence, not a pristine future shadow period.</a:t>
            </a:r>
          </a:p>
        </p:txBody>
      </p:sp>
      <p:sp>
        <p:nvSpPr>
          <p:cNvPr id="15" name="Text: Overall 87.5/100  |  6 pass  |  PIT and portfolio "/>
          <p:cNvSpPr txBox="1"/>
          <p:nvPr/>
        </p:nvSpPr>
        <p:spPr>
          <a:xfrm>
            <a:off x="530352" y="5943600"/>
            <a:ext cx="11018520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230" b="1">
                <a:solidFill>
                  <a:srgbClr val="0B6F56"/>
                </a:solidFill>
                <a:latin typeface="Aptos"/>
              </a:rPr>
              <a:t>Overall 87.5/100  |  6 pass  |  PIT and portfolio warnings  |  0 critical failures  |  full local suite passed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: Turnover and modeled cost drag now meet target"/>
          <p:cNvSpPr txBox="1"/>
          <p:nvPr/>
        </p:nvSpPr>
        <p:spPr>
          <a:xfrm>
            <a:off x="475488" y="292608"/>
            <a:ext cx="9966960" cy="40233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72127"/>
                </a:solidFill>
                <a:latin typeface="Aptos Display"/>
              </a:rPr>
              <a:t>Turnover and modeled cost drag now meet target</a:t>
            </a:r>
          </a:p>
        </p:txBody>
      </p:sp>
      <p:sp>
        <p:nvSpPr>
          <p:cNvPr id="3" name="Text: Retention hysteresis and minimum-turnover transiti"/>
          <p:cNvSpPr txBox="1"/>
          <p:nvPr/>
        </p:nvSpPr>
        <p:spPr>
          <a:xfrm>
            <a:off x="493776" y="740664"/>
            <a:ext cx="10424160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47078"/>
                </a:solidFill>
                <a:latin typeface="Aptos"/>
              </a:rPr>
              <a:t>Retention hysteresis and minimum-turnover transitions reduced churn.</a:t>
            </a:r>
          </a:p>
        </p:txBody>
      </p:sp>
      <p:sp>
        <p:nvSpPr>
          <p:cNvPr id="4" name="Text: 15"/>
          <p:cNvSpPr txBox="1"/>
          <p:nvPr/>
        </p:nvSpPr>
        <p:spPr>
          <a:xfrm>
            <a:off x="11219688" y="320040"/>
            <a:ext cx="475488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647078"/>
                </a:solidFill>
                <a:latin typeface="Aptos"/>
              </a:rPr>
              <a:t>15</a:t>
            </a:r>
          </a:p>
        </p:txBody>
      </p:sp>
      <p:sp>
        <p:nvSpPr>
          <p:cNvPr id="5" name="Header divider"/>
          <p:cNvSpPr/>
          <p:nvPr/>
        </p:nvSpPr>
        <p:spPr>
          <a:xfrm>
            <a:off x="493776" y="1060704"/>
            <a:ext cx="11201400" cy="10972"/>
          </a:xfrm>
          <a:prstGeom prst="rect">
            <a:avLst/>
          </a:prstGeom>
          <a:solidFill>
            <a:srgbClr val="D8E0DD"/>
          </a:solidFill>
          <a:ln w="10160"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: Wolf Quant Model | Research use"/>
          <p:cNvSpPr txBox="1"/>
          <p:nvPr/>
        </p:nvSpPr>
        <p:spPr>
          <a:xfrm>
            <a:off x="493776" y="6565392"/>
            <a:ext cx="3474720" cy="14630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647078"/>
                </a:solidFill>
                <a:latin typeface="Aptos"/>
              </a:rPr>
              <a:t>Wolf Quant Model | Research use</a:t>
            </a:r>
          </a:p>
        </p:txBody>
      </p:sp>
      <p:sp>
        <p:nvSpPr>
          <p:cNvPr id="7" name="Text: Before/after point-in-time cost and turnover valid"/>
          <p:cNvSpPr txBox="1"/>
          <p:nvPr/>
        </p:nvSpPr>
        <p:spPr>
          <a:xfrm>
            <a:off x="3749039" y="6565392"/>
            <a:ext cx="7936992" cy="14630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0"/>
              </a:spcAft>
            </a:pPr>
            <a:r>
              <a:rPr sz="750" b="0">
                <a:solidFill>
                  <a:srgbClr val="647078"/>
                </a:solidFill>
                <a:latin typeface="Aptos"/>
              </a:rPr>
              <a:t>Before/after point-in-time cost and turnover validation</a:t>
            </a:r>
          </a:p>
        </p:txBody>
      </p:sp>
      <p:pic>
        <p:nvPicPr>
          <p:cNvPr id="8" name="Chart: implementation_cost_drag.png" descr="implementation_cost_dr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12" y="1606104"/>
            <a:ext cx="6912864" cy="3837814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607808" y="1435608"/>
            <a:ext cx="4069080" cy="932688"/>
          </a:xfrm>
          <a:prstGeom prst="rect">
            <a:avLst/>
          </a:prstGeom>
          <a:solidFill>
            <a:srgbClr val="E8F4EF"/>
          </a:solidFill>
          <a:ln w="10160"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7808" y="1435608"/>
            <a:ext cx="50292" cy="932688"/>
          </a:xfrm>
          <a:prstGeom prst="rect">
            <a:avLst/>
          </a:prstGeom>
          <a:solidFill>
            <a:srgbClr val="14966F"/>
          </a:solidFill>
          <a:ln w="10160">
            <a:solidFill>
              <a:srgbClr val="1496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: 1.28%"/>
          <p:cNvSpPr txBox="1"/>
          <p:nvPr/>
        </p:nvSpPr>
        <p:spPr>
          <a:xfrm>
            <a:off x="7772400" y="1563624"/>
            <a:ext cx="3813048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100" b="1">
                <a:solidFill>
                  <a:srgbClr val="172127"/>
                </a:solidFill>
                <a:latin typeface="Aptos Display"/>
              </a:rPr>
              <a:t>1.28%</a:t>
            </a:r>
          </a:p>
        </p:txBody>
      </p:sp>
      <p:sp>
        <p:nvSpPr>
          <p:cNvPr id="12" name="Text: modeled cost drag; target &lt;= 1.50%"/>
          <p:cNvSpPr txBox="1"/>
          <p:nvPr/>
        </p:nvSpPr>
        <p:spPr>
          <a:xfrm>
            <a:off x="7772400" y="1965960"/>
            <a:ext cx="3813048" cy="20116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647078"/>
                </a:solidFill>
                <a:latin typeface="Aptos"/>
              </a:rPr>
              <a:t>modeled cost drag; target &lt;= 1.50%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7808" y="2587752"/>
            <a:ext cx="4069080" cy="932688"/>
          </a:xfrm>
          <a:prstGeom prst="rect">
            <a:avLst/>
          </a:prstGeom>
          <a:solidFill>
            <a:srgbClr val="E8F4EF"/>
          </a:solidFill>
          <a:ln w="10160"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7808" y="2587752"/>
            <a:ext cx="50292" cy="932688"/>
          </a:xfrm>
          <a:prstGeom prst="rect">
            <a:avLst/>
          </a:prstGeom>
          <a:solidFill>
            <a:srgbClr val="14966F"/>
          </a:solidFill>
          <a:ln w="10160">
            <a:solidFill>
              <a:srgbClr val="1496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: 1.33x"/>
          <p:cNvSpPr txBox="1"/>
          <p:nvPr/>
        </p:nvSpPr>
        <p:spPr>
          <a:xfrm>
            <a:off x="7772400" y="2715768"/>
            <a:ext cx="3813048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100" b="1">
                <a:solidFill>
                  <a:srgbClr val="172127"/>
                </a:solidFill>
                <a:latin typeface="Aptos Display"/>
              </a:rPr>
              <a:t>1.33x</a:t>
            </a:r>
          </a:p>
        </p:txBody>
      </p:sp>
      <p:sp>
        <p:nvSpPr>
          <p:cNvPr id="16" name="Text: annual turnover; target &lt;= 1.50x"/>
          <p:cNvSpPr txBox="1"/>
          <p:nvPr/>
        </p:nvSpPr>
        <p:spPr>
          <a:xfrm>
            <a:off x="7772400" y="3118104"/>
            <a:ext cx="3813048" cy="20116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647078"/>
                </a:solidFill>
                <a:latin typeface="Aptos"/>
              </a:rPr>
              <a:t>annual turnover; target &lt;= 1.50x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7808" y="3739896"/>
            <a:ext cx="4069080" cy="932688"/>
          </a:xfrm>
          <a:prstGeom prst="rect">
            <a:avLst/>
          </a:prstGeom>
          <a:solidFill>
            <a:srgbClr val="FFFFFF"/>
          </a:solidFill>
          <a:ln w="10160"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7808" y="3739896"/>
            <a:ext cx="50292" cy="932688"/>
          </a:xfrm>
          <a:prstGeom prst="rect">
            <a:avLst/>
          </a:prstGeom>
          <a:solidFill>
            <a:srgbClr val="3478A5"/>
          </a:solidFill>
          <a:ln w="10160">
            <a:solidFill>
              <a:srgbClr val="3478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: $465k"/>
          <p:cNvSpPr txBox="1"/>
          <p:nvPr/>
        </p:nvSpPr>
        <p:spPr>
          <a:xfrm>
            <a:off x="7772400" y="3867911"/>
            <a:ext cx="3813048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100" b="1">
                <a:solidFill>
                  <a:srgbClr val="172127"/>
                </a:solidFill>
                <a:latin typeface="Aptos Display"/>
              </a:rPr>
              <a:t>$465k</a:t>
            </a:r>
          </a:p>
        </p:txBody>
      </p:sp>
      <p:sp>
        <p:nvSpPr>
          <p:cNvPr id="20" name="Text: 0.25% annual bank fee at reference AUM"/>
          <p:cNvSpPr txBox="1"/>
          <p:nvPr/>
        </p:nvSpPr>
        <p:spPr>
          <a:xfrm>
            <a:off x="7772400" y="4270248"/>
            <a:ext cx="3813048" cy="20116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647078"/>
                </a:solidFill>
                <a:latin typeface="Aptos"/>
              </a:rPr>
              <a:t>0.25% annual bank fee at reference AUM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607808" y="4892040"/>
            <a:ext cx="4069080" cy="941832"/>
          </a:xfrm>
          <a:prstGeom prst="rect">
            <a:avLst/>
          </a:prstGeom>
          <a:solidFill>
            <a:srgbClr val="FBF3DF"/>
          </a:solidFill>
          <a:ln w="10160">
            <a:solidFill>
              <a:srgbClr val="FBF3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607808" y="4892040"/>
            <a:ext cx="54864" cy="941832"/>
          </a:xfrm>
          <a:prstGeom prst="rect">
            <a:avLst/>
          </a:prstGeom>
          <a:solidFill>
            <a:srgbClr val="C99328"/>
          </a:solidFill>
          <a:ln w="10160">
            <a:solidFill>
              <a:srgbClr val="C99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: Why portfolio remains a warning"/>
          <p:cNvSpPr txBox="1"/>
          <p:nvPr/>
        </p:nvSpPr>
        <p:spPr>
          <a:xfrm>
            <a:off x="7808976" y="5038344"/>
            <a:ext cx="3739896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72127"/>
                </a:solidFill>
                <a:latin typeface="Aptos Display"/>
              </a:rPr>
              <a:t>Why portfolio remains a warning</a:t>
            </a:r>
          </a:p>
        </p:txBody>
      </p:sp>
      <p:sp>
        <p:nvSpPr>
          <p:cNvPr id="24" name="Text: Both cost gates pass, but Wolf trailed equal weigh"/>
          <p:cNvSpPr txBox="1"/>
          <p:nvPr/>
        </p:nvSpPr>
        <p:spPr>
          <a:xfrm>
            <a:off x="7808976" y="5413248"/>
            <a:ext cx="3739896" cy="30175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647078"/>
                </a:solidFill>
                <a:latin typeface="Aptos"/>
              </a:rPr>
              <a:t>Both cost gates pass, but Wolf trailed equal weight by 1.06% per year and the difference was not significant (p=0.734).</a:t>
            </a:r>
          </a:p>
        </p:txBody>
      </p:sp>
      <p:sp>
        <p:nvSpPr>
          <p:cNvPr id="25" name="Text: Retention and capped/minimum-turnover transitions "/>
          <p:cNvSpPr txBox="1"/>
          <p:nvPr/>
        </p:nvSpPr>
        <p:spPr>
          <a:xfrm>
            <a:off x="530352" y="5989320"/>
            <a:ext cx="11064240" cy="24688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180" b="1">
                <a:solidFill>
                  <a:srgbClr val="0B6F56"/>
                </a:solidFill>
                <a:latin typeface="Aptos"/>
              </a:rPr>
              <a:t>Retention and capped/minimum-turnover transitions drove the improvement; the configured no-trade band did not trigger in this sample.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: A controlled path to live use"/>
          <p:cNvSpPr txBox="1"/>
          <p:nvPr/>
        </p:nvSpPr>
        <p:spPr>
          <a:xfrm>
            <a:off x="475488" y="292608"/>
            <a:ext cx="9966960" cy="40233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72127"/>
                </a:solidFill>
                <a:latin typeface="Aptos Display"/>
              </a:rPr>
              <a:t>A controlled path to live use</a:t>
            </a:r>
          </a:p>
        </p:txBody>
      </p:sp>
      <p:sp>
        <p:nvSpPr>
          <p:cNvPr id="3" name="Text: Scale only when operations, costs and evidence ear"/>
          <p:cNvSpPr txBox="1"/>
          <p:nvPr/>
        </p:nvSpPr>
        <p:spPr>
          <a:xfrm>
            <a:off x="493776" y="740664"/>
            <a:ext cx="10424160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47078"/>
                </a:solidFill>
                <a:latin typeface="Aptos"/>
              </a:rPr>
              <a:t>Scale only when operations, costs and evidence earn it.</a:t>
            </a:r>
          </a:p>
        </p:txBody>
      </p:sp>
      <p:sp>
        <p:nvSpPr>
          <p:cNvPr id="4" name="Text: 16"/>
          <p:cNvSpPr txBox="1"/>
          <p:nvPr/>
        </p:nvSpPr>
        <p:spPr>
          <a:xfrm>
            <a:off x="11219688" y="320040"/>
            <a:ext cx="475488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647078"/>
                </a:solidFill>
                <a:latin typeface="Aptos"/>
              </a:rPr>
              <a:t>16</a:t>
            </a:r>
          </a:p>
        </p:txBody>
      </p:sp>
      <p:sp>
        <p:nvSpPr>
          <p:cNvPr id="5" name="Header divider"/>
          <p:cNvSpPr/>
          <p:nvPr/>
        </p:nvSpPr>
        <p:spPr>
          <a:xfrm>
            <a:off x="493776" y="1060704"/>
            <a:ext cx="11201400" cy="10972"/>
          </a:xfrm>
          <a:prstGeom prst="rect">
            <a:avLst/>
          </a:prstGeom>
          <a:solidFill>
            <a:srgbClr val="D8E0DD"/>
          </a:solidFill>
          <a:ln w="10160"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: Wolf Quant Model | Research use"/>
          <p:cNvSpPr txBox="1"/>
          <p:nvPr/>
        </p:nvSpPr>
        <p:spPr>
          <a:xfrm>
            <a:off x="493776" y="6565392"/>
            <a:ext cx="3474720" cy="14630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647078"/>
                </a:solidFill>
                <a:latin typeface="Aptos"/>
              </a:rPr>
              <a:t>Wolf Quant Model | Research use</a:t>
            </a:r>
          </a:p>
        </p:txBody>
      </p:sp>
      <p:sp>
        <p:nvSpPr>
          <p:cNvPr id="7" name="Text: Proposed implementation and model-risk controls"/>
          <p:cNvSpPr txBox="1"/>
          <p:nvPr/>
        </p:nvSpPr>
        <p:spPr>
          <a:xfrm>
            <a:off x="3749039" y="6565392"/>
            <a:ext cx="7936992" cy="14630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0"/>
              </a:spcAft>
            </a:pPr>
            <a:r>
              <a:rPr sz="750" b="0">
                <a:solidFill>
                  <a:srgbClr val="647078"/>
                </a:solidFill>
                <a:latin typeface="Aptos"/>
              </a:rPr>
              <a:t>Proposed implementation and model-risk controls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444752"/>
            <a:ext cx="3511296" cy="1901952"/>
          </a:xfrm>
          <a:prstGeom prst="rect">
            <a:avLst/>
          </a:prstGeom>
          <a:solidFill>
            <a:srgbClr val="FFFFFF"/>
          </a:solidFill>
          <a:ln w="10160"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444752"/>
            <a:ext cx="3511296" cy="109728"/>
          </a:xfrm>
          <a:prstGeom prst="rect">
            <a:avLst/>
          </a:prstGeom>
          <a:solidFill>
            <a:srgbClr val="3478A5"/>
          </a:solidFill>
          <a:ln w="10160">
            <a:solidFill>
              <a:srgbClr val="3478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: 0  SHADOW"/>
          <p:cNvSpPr txBox="1"/>
          <p:nvPr/>
        </p:nvSpPr>
        <p:spPr>
          <a:xfrm>
            <a:off x="685800" y="1746504"/>
            <a:ext cx="3108960" cy="2926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72127"/>
                </a:solidFill>
                <a:latin typeface="Aptos Display"/>
              </a:rPr>
              <a:t>0  SHADOW</a:t>
            </a:r>
          </a:p>
        </p:txBody>
      </p:sp>
      <p:sp>
        <p:nvSpPr>
          <p:cNvPr id="11" name="Text: 4 weeks"/>
          <p:cNvSpPr txBox="1"/>
          <p:nvPr/>
        </p:nvSpPr>
        <p:spPr>
          <a:xfrm>
            <a:off x="685800" y="2167128"/>
            <a:ext cx="3108960" cy="21945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B6F56"/>
                </a:solidFill>
                <a:latin typeface="Aptos"/>
              </a:rPr>
              <a:t>4 weeks</a:t>
            </a:r>
          </a:p>
        </p:txBody>
      </p:sp>
      <p:sp>
        <p:nvSpPr>
          <p:cNvPr id="12" name="Text: Generate orders, do not trade. Validate data, NAV,"/>
          <p:cNvSpPr txBox="1"/>
          <p:nvPr/>
        </p:nvSpPr>
        <p:spPr>
          <a:xfrm>
            <a:off x="685800" y="2542032"/>
            <a:ext cx="3099816" cy="56692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647078"/>
                </a:solidFill>
                <a:latin typeface="Aptos"/>
              </a:rPr>
              <a:t>Generate orders, do not trade. Validate data, NAV, FX and fills.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70248" y="1444752"/>
            <a:ext cx="3511296" cy="1901952"/>
          </a:xfrm>
          <a:prstGeom prst="rect">
            <a:avLst/>
          </a:prstGeom>
          <a:solidFill>
            <a:srgbClr val="FFFFFF"/>
          </a:solidFill>
          <a:ln w="10160"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70248" y="1444752"/>
            <a:ext cx="3511296" cy="109728"/>
          </a:xfrm>
          <a:prstGeom prst="rect">
            <a:avLst/>
          </a:prstGeom>
          <a:solidFill>
            <a:srgbClr val="14966F"/>
          </a:solidFill>
          <a:ln w="10160">
            <a:solidFill>
              <a:srgbClr val="1496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: 1  PILOT"/>
          <p:cNvSpPr txBox="1"/>
          <p:nvPr/>
        </p:nvSpPr>
        <p:spPr>
          <a:xfrm>
            <a:off x="4453128" y="1746504"/>
            <a:ext cx="3108960" cy="2926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72127"/>
                </a:solidFill>
                <a:latin typeface="Aptos Display"/>
              </a:rPr>
              <a:t>1  PILOT</a:t>
            </a:r>
          </a:p>
        </p:txBody>
      </p:sp>
      <p:sp>
        <p:nvSpPr>
          <p:cNvPr id="16" name="Text: 6 to 12 months"/>
          <p:cNvSpPr txBox="1"/>
          <p:nvPr/>
        </p:nvSpPr>
        <p:spPr>
          <a:xfrm>
            <a:off x="4453128" y="2167128"/>
            <a:ext cx="3108960" cy="21945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B6F56"/>
                </a:solidFill>
                <a:latin typeface="Aptos"/>
              </a:rPr>
              <a:t>6 to 12 months</a:t>
            </a:r>
          </a:p>
        </p:txBody>
      </p:sp>
      <p:sp>
        <p:nvSpPr>
          <p:cNvPr id="17" name="Text: Use limited capital with human approval and staged"/>
          <p:cNvSpPr txBox="1"/>
          <p:nvPr/>
        </p:nvSpPr>
        <p:spPr>
          <a:xfrm>
            <a:off x="4453128" y="2542032"/>
            <a:ext cx="3099816" cy="56692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647078"/>
                </a:solidFill>
                <a:latin typeface="Aptos"/>
              </a:rPr>
              <a:t>Use limited capital with human approval and staged execution.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37576" y="1444752"/>
            <a:ext cx="3511296" cy="1901952"/>
          </a:xfrm>
          <a:prstGeom prst="rect">
            <a:avLst/>
          </a:prstGeom>
          <a:solidFill>
            <a:srgbClr val="FFFFFF"/>
          </a:solidFill>
          <a:ln w="10160"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37576" y="1444752"/>
            <a:ext cx="3511296" cy="109728"/>
          </a:xfrm>
          <a:prstGeom prst="rect">
            <a:avLst/>
          </a:prstGeom>
          <a:solidFill>
            <a:srgbClr val="C99328"/>
          </a:solidFill>
          <a:ln w="10160">
            <a:solidFill>
              <a:srgbClr val="C99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: 2  SCALE"/>
          <p:cNvSpPr txBox="1"/>
          <p:nvPr/>
        </p:nvSpPr>
        <p:spPr>
          <a:xfrm>
            <a:off x="8220456" y="1746504"/>
            <a:ext cx="3108960" cy="2926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72127"/>
                </a:solidFill>
                <a:latin typeface="Aptos Display"/>
              </a:rPr>
              <a:t>2  SCALE</a:t>
            </a:r>
          </a:p>
        </p:txBody>
      </p:sp>
      <p:sp>
        <p:nvSpPr>
          <p:cNvPr id="21" name="Text: Evidence gated"/>
          <p:cNvSpPr txBox="1"/>
          <p:nvPr/>
        </p:nvSpPr>
        <p:spPr>
          <a:xfrm>
            <a:off x="8220456" y="2167128"/>
            <a:ext cx="3108960" cy="21945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B6F56"/>
                </a:solidFill>
                <a:latin typeface="Aptos"/>
              </a:rPr>
              <a:t>Evidence gated</a:t>
            </a:r>
          </a:p>
        </p:txBody>
      </p:sp>
      <p:sp>
        <p:nvSpPr>
          <p:cNvPr id="22" name="Text: Increase capital only after cost, risk and benchma"/>
          <p:cNvSpPr txBox="1"/>
          <p:nvPr/>
        </p:nvSpPr>
        <p:spPr>
          <a:xfrm>
            <a:off x="8220456" y="2542032"/>
            <a:ext cx="3099816" cy="56692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647078"/>
                </a:solidFill>
                <a:latin typeface="Aptos"/>
              </a:rPr>
              <a:t>Increase capital only after cost, risk and benchmark hurdles hold.</a:t>
            </a:r>
          </a:p>
        </p:txBody>
      </p:sp>
      <p:sp>
        <p:nvSpPr>
          <p:cNvPr id="23" name="Text: Proposed pilot gates"/>
          <p:cNvSpPr txBox="1"/>
          <p:nvPr/>
        </p:nvSpPr>
        <p:spPr>
          <a:xfrm>
            <a:off x="530352" y="3721608"/>
            <a:ext cx="4937760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172127"/>
                </a:solidFill>
                <a:latin typeface="Aptos Display"/>
              </a:rPr>
              <a:t>Proposed pilot gates</a:t>
            </a:r>
          </a:p>
        </p:txBody>
      </p:sp>
      <p:sp>
        <p:nvSpPr>
          <p:cNvPr id="24" name="Bullet list"/>
          <p:cNvSpPr txBox="1"/>
          <p:nvPr/>
        </p:nvSpPr>
        <p:spPr>
          <a:xfrm>
            <a:off x="530352" y="4133087"/>
            <a:ext cx="5330952" cy="1673352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  <a:defRPr sz="1350">
                <a:solidFill>
                  <a:srgbClr val="172127"/>
                </a:solidFill>
                <a:latin typeface="Aptos"/>
              </a:defRPr>
            </a:pPr>
            <a:r>
              <a:t>• Zero hard constraint or data-lineage breaches</a:t>
            </a:r>
          </a:p>
          <a:p>
            <a:pPr>
              <a:lnSpc>
                <a:spcPct val="105000"/>
              </a:lnSpc>
              <a:spcAft>
                <a:spcPts val="1000"/>
              </a:spcAft>
              <a:defRPr sz="1350">
                <a:solidFill>
                  <a:srgbClr val="172127"/>
                </a:solidFill>
                <a:latin typeface="Aptos"/>
              </a:defRPr>
            </a:pPr>
            <a:r>
              <a:t>• Pre-trade cost estimate approved for every rebalance</a:t>
            </a:r>
          </a:p>
          <a:p>
            <a:pPr>
              <a:lnSpc>
                <a:spcPct val="105000"/>
              </a:lnSpc>
              <a:spcAft>
                <a:spcPts val="1000"/>
              </a:spcAft>
              <a:defRPr sz="1350">
                <a:solidFill>
                  <a:srgbClr val="172127"/>
                </a:solidFill>
                <a:latin typeface="Aptos"/>
              </a:defRPr>
            </a:pPr>
            <a:r>
              <a:t>• Keep turnover &lt;=1.5x; stretch goal &lt;=1.0x in the pilot</a:t>
            </a:r>
          </a:p>
          <a:p>
            <a:pPr>
              <a:lnSpc>
                <a:spcPct val="105000"/>
              </a:lnSpc>
              <a:spcAft>
                <a:spcPts val="1000"/>
              </a:spcAft>
              <a:defRPr sz="1350">
                <a:solidFill>
                  <a:srgbClr val="172127"/>
                </a:solidFill>
                <a:latin typeface="Aptos"/>
              </a:defRPr>
            </a:pPr>
            <a:r>
              <a:t>• Net performance tracked against equal and cap weight</a:t>
            </a:r>
          </a:p>
          <a:p>
            <a:pPr>
              <a:lnSpc>
                <a:spcPct val="105000"/>
              </a:lnSpc>
              <a:spcAft>
                <a:spcPts val="1000"/>
              </a:spcAft>
              <a:defRPr sz="1350">
                <a:solidFill>
                  <a:srgbClr val="172127"/>
                </a:solidFill>
                <a:latin typeface="Aptos"/>
              </a:defRPr>
            </a:pPr>
            <a:r>
              <a:t>• Monthly model-risk and investment-committee review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36208" y="3767328"/>
            <a:ext cx="5440680" cy="1234440"/>
          </a:xfrm>
          <a:prstGeom prst="rect">
            <a:avLst/>
          </a:prstGeom>
          <a:solidFill>
            <a:srgbClr val="F8EAEA"/>
          </a:solidFill>
          <a:ln w="10160">
            <a:solidFill>
              <a:srgbClr val="F8EA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36208" y="3767328"/>
            <a:ext cx="54864" cy="1234440"/>
          </a:xfrm>
          <a:prstGeom prst="rect">
            <a:avLst/>
          </a:prstGeom>
          <a:solidFill>
            <a:srgbClr val="BB4A4A"/>
          </a:solidFill>
          <a:ln w="10160">
            <a:solidFill>
              <a:srgbClr val="BB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: Immediate stop conditions"/>
          <p:cNvSpPr txBox="1"/>
          <p:nvPr/>
        </p:nvSpPr>
        <p:spPr>
          <a:xfrm>
            <a:off x="6437376" y="3913632"/>
            <a:ext cx="5111496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72127"/>
                </a:solidFill>
                <a:latin typeface="Aptos Display"/>
              </a:rPr>
              <a:t>Immediate stop conditions</a:t>
            </a:r>
          </a:p>
        </p:txBody>
      </p:sp>
      <p:sp>
        <p:nvSpPr>
          <p:cNvPr id="28" name="Text: Stale critical data, any hard breach, a failed liv"/>
          <p:cNvSpPr txBox="1"/>
          <p:nvPr/>
        </p:nvSpPr>
        <p:spPr>
          <a:xfrm>
            <a:off x="6437376" y="4288536"/>
            <a:ext cx="5111496" cy="5943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647078"/>
                </a:solidFill>
                <a:latin typeface="Aptos"/>
              </a:rPr>
              <a:t>Stale critical data, any hard breach, a failed live risk test, failed reconciliation or trading costs above the approved budget.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36208" y="5221224"/>
            <a:ext cx="5440680" cy="768096"/>
          </a:xfrm>
          <a:prstGeom prst="rect">
            <a:avLst/>
          </a:prstGeom>
          <a:solidFill>
            <a:srgbClr val="FBF3DF"/>
          </a:solidFill>
          <a:ln w="10160">
            <a:solidFill>
              <a:srgbClr val="FBF3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236208" y="5221224"/>
            <a:ext cx="54864" cy="768096"/>
          </a:xfrm>
          <a:prstGeom prst="rect">
            <a:avLst/>
          </a:prstGeom>
          <a:solidFill>
            <a:srgbClr val="C99328"/>
          </a:solidFill>
          <a:ln w="10160">
            <a:solidFill>
              <a:srgbClr val="C99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: Alpha gate: Full-scale alpha claims require native"/>
          <p:cNvSpPr txBox="1"/>
          <p:nvPr/>
        </p:nvSpPr>
        <p:spPr>
          <a:xfrm>
            <a:off x="6437376" y="5312664"/>
            <a:ext cx="5111496" cy="603503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19" b="1">
                <a:solidFill>
                  <a:srgbClr val="172127"/>
                </a:solidFill>
                <a:latin typeface="Aptos"/>
              </a:rPr>
              <a:t>Alpha gate: Full-scale alpha claims require native live evidence and at least 60 months under the existing governance policy.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: How to read the results"/>
          <p:cNvSpPr txBox="1"/>
          <p:nvPr/>
        </p:nvSpPr>
        <p:spPr>
          <a:xfrm>
            <a:off x="475488" y="292608"/>
            <a:ext cx="9966960" cy="40233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72127"/>
                </a:solidFill>
                <a:latin typeface="Aptos Display"/>
              </a:rPr>
              <a:t>How to read the results</a:t>
            </a:r>
          </a:p>
        </p:txBody>
      </p:sp>
      <p:sp>
        <p:nvSpPr>
          <p:cNvPr id="3" name="Text: Plain-language definitions for the investment comm"/>
          <p:cNvSpPr txBox="1"/>
          <p:nvPr/>
        </p:nvSpPr>
        <p:spPr>
          <a:xfrm>
            <a:off x="493776" y="740664"/>
            <a:ext cx="10424160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47078"/>
                </a:solidFill>
                <a:latin typeface="Aptos"/>
              </a:rPr>
              <a:t>Plain-language definitions for the investment committee.</a:t>
            </a:r>
          </a:p>
        </p:txBody>
      </p:sp>
      <p:sp>
        <p:nvSpPr>
          <p:cNvPr id="4" name="Text: 17"/>
          <p:cNvSpPr txBox="1"/>
          <p:nvPr/>
        </p:nvSpPr>
        <p:spPr>
          <a:xfrm>
            <a:off x="11219688" y="320040"/>
            <a:ext cx="475488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647078"/>
                </a:solidFill>
                <a:latin typeface="Aptos"/>
              </a:rPr>
              <a:t>17</a:t>
            </a:r>
          </a:p>
        </p:txBody>
      </p:sp>
      <p:sp>
        <p:nvSpPr>
          <p:cNvPr id="5" name="Header divider"/>
          <p:cNvSpPr/>
          <p:nvPr/>
        </p:nvSpPr>
        <p:spPr>
          <a:xfrm>
            <a:off x="493776" y="1060704"/>
            <a:ext cx="11201400" cy="10972"/>
          </a:xfrm>
          <a:prstGeom prst="rect">
            <a:avLst/>
          </a:prstGeom>
          <a:solidFill>
            <a:srgbClr val="D8E0DD"/>
          </a:solidFill>
          <a:ln w="10160"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: Wolf Quant Model | Research use"/>
          <p:cNvSpPr txBox="1"/>
          <p:nvPr/>
        </p:nvSpPr>
        <p:spPr>
          <a:xfrm>
            <a:off x="493776" y="6565392"/>
            <a:ext cx="3474720" cy="14630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647078"/>
                </a:solidFill>
                <a:latin typeface="Aptos"/>
              </a:rPr>
              <a:t>Wolf Quant Model | Research use</a:t>
            </a:r>
          </a:p>
        </p:txBody>
      </p:sp>
      <p:sp>
        <p:nvSpPr>
          <p:cNvPr id="7" name="Text: Backtest methodology and validation framework"/>
          <p:cNvSpPr txBox="1"/>
          <p:nvPr/>
        </p:nvSpPr>
        <p:spPr>
          <a:xfrm>
            <a:off x="3749039" y="6565392"/>
            <a:ext cx="7936992" cy="14630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0"/>
              </a:spcAft>
            </a:pPr>
            <a:r>
              <a:rPr sz="750" b="0">
                <a:solidFill>
                  <a:srgbClr val="647078"/>
                </a:solidFill>
                <a:latin typeface="Aptos"/>
              </a:rPr>
              <a:t>Backtest methodology and validation framework</a:t>
            </a:r>
          </a:p>
        </p:txBody>
      </p:sp>
      <p:graphicFrame>
        <p:nvGraphicFramePr>
          <p:cNvPr id="8" name="Evidence table"/>
          <p:cNvGraphicFramePr>
            <a:graphicFrameLocks noGrp="1"/>
          </p:cNvGraphicFramePr>
          <p:nvPr/>
        </p:nvGraphicFramePr>
        <p:xfrm>
          <a:off x="502920" y="1362456"/>
          <a:ext cx="6400800" cy="4526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0200"/>
                <a:gridCol w="4800600"/>
              </a:tblGrid>
              <a:tr h="502920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Measure</a:t>
                      </a:r>
                    </a:p>
                  </a:txBody>
                  <a:tcPr marL="54864" marR="36576" marT="27432" marB="27432">
                    <a:solidFill>
                      <a:srgbClr val="17212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Simple meaning</a:t>
                      </a:r>
                    </a:p>
                  </a:txBody>
                  <a:tcPr marL="54864" marR="36576" marT="27432" marB="27432">
                    <a:solidFill>
                      <a:srgbClr val="17212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CAGR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Average compounded annual growth.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Sharpe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Return earned per unit of overall variability.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Sortino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Return earned per unit of harmful downside variation.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Max drawdown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Largest peak-to-trough loss.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CVaR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Average loss among the worst modeled outcomes.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Information ratio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Active return per unit of benchmark-relative risk.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p-value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How surprising the result is if true alpha were zero.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PBO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Chance that selecting the backtest winner overfits history.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7187184" y="1362456"/>
            <a:ext cx="4489704" cy="1481328"/>
          </a:xfrm>
          <a:prstGeom prst="rect">
            <a:avLst/>
          </a:prstGeom>
          <a:solidFill>
            <a:srgbClr val="E9F1F6"/>
          </a:solidFill>
          <a:ln w="10160">
            <a:solidFill>
              <a:srgbClr val="E9F1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87184" y="1362456"/>
            <a:ext cx="54864" cy="1481328"/>
          </a:xfrm>
          <a:prstGeom prst="rect">
            <a:avLst/>
          </a:prstGeom>
          <a:solidFill>
            <a:srgbClr val="3478A5"/>
          </a:solidFill>
          <a:ln w="10160">
            <a:solidFill>
              <a:srgbClr val="3478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: Three evidence layers"/>
          <p:cNvSpPr txBox="1"/>
          <p:nvPr/>
        </p:nvSpPr>
        <p:spPr>
          <a:xfrm>
            <a:off x="7388352" y="1508760"/>
            <a:ext cx="4160520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72127"/>
                </a:solidFill>
                <a:latin typeface="Aptos Display"/>
              </a:rPr>
              <a:t>Three evidence layers</a:t>
            </a:r>
          </a:p>
        </p:txBody>
      </p:sp>
      <p:sp>
        <p:nvSpPr>
          <p:cNvPr id="12" name="Text: 1. Dated 60-month proxy: primary model evidence.&#10;2"/>
          <p:cNvSpPr txBox="1"/>
          <p:nvPr/>
        </p:nvSpPr>
        <p:spPr>
          <a:xfrm>
            <a:off x="7388352" y="1883664"/>
            <a:ext cx="4160520" cy="84124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647078"/>
                </a:solidFill>
                <a:latin typeface="Aptos"/>
              </a:rPr>
              <a:t>1. Dated 60-month proxy: primary model evidence.
2. 1997 replay: stress and exposure history.
3. Native live record: required before full alpha approval.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187184" y="3154680"/>
            <a:ext cx="4489704" cy="1298448"/>
          </a:xfrm>
          <a:prstGeom prst="rect">
            <a:avLst/>
          </a:prstGeom>
          <a:solidFill>
            <a:srgbClr val="FBF3DF"/>
          </a:solidFill>
          <a:ln w="10160">
            <a:solidFill>
              <a:srgbClr val="FBF3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187184" y="3154680"/>
            <a:ext cx="54864" cy="1298448"/>
          </a:xfrm>
          <a:prstGeom prst="rect">
            <a:avLst/>
          </a:prstGeom>
          <a:solidFill>
            <a:srgbClr val="C99328"/>
          </a:solidFill>
          <a:ln w="10160">
            <a:solidFill>
              <a:srgbClr val="C99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: Higher is not always better"/>
          <p:cNvSpPr txBox="1"/>
          <p:nvPr/>
        </p:nvSpPr>
        <p:spPr>
          <a:xfrm>
            <a:off x="7388352" y="3300984"/>
            <a:ext cx="4160520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72127"/>
                </a:solidFill>
                <a:latin typeface="Aptos Display"/>
              </a:rPr>
              <a:t>Higher is not always better</a:t>
            </a:r>
          </a:p>
        </p:txBody>
      </p:sp>
      <p:sp>
        <p:nvSpPr>
          <p:cNvPr id="16" name="Text: A portfolio can have a higher return but a deeper "/>
          <p:cNvSpPr txBox="1"/>
          <p:nvPr/>
        </p:nvSpPr>
        <p:spPr>
          <a:xfrm>
            <a:off x="7388352" y="3675888"/>
            <a:ext cx="4160520" cy="65836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647078"/>
                </a:solidFill>
                <a:latin typeface="Aptos"/>
              </a:rPr>
              <a:t>A portfolio can have a higher return but a deeper drawdown, more turnover or weaker statistical evidence. The committee should judge the package, not one headline number.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187184" y="4764024"/>
            <a:ext cx="4489704" cy="1124712"/>
          </a:xfrm>
          <a:prstGeom prst="rect">
            <a:avLst/>
          </a:prstGeom>
          <a:solidFill>
            <a:srgbClr val="E8F4EF"/>
          </a:solidFill>
          <a:ln w="10160">
            <a:solidFill>
              <a:srgbClr val="E8F4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187184" y="4764024"/>
            <a:ext cx="54864" cy="1124712"/>
          </a:xfrm>
          <a:prstGeom prst="rect">
            <a:avLst/>
          </a:prstGeom>
          <a:solidFill>
            <a:srgbClr val="14966F"/>
          </a:solidFill>
          <a:ln w="10160">
            <a:solidFill>
              <a:srgbClr val="1496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: Where to verify"/>
          <p:cNvSpPr txBox="1"/>
          <p:nvPr/>
        </p:nvSpPr>
        <p:spPr>
          <a:xfrm>
            <a:off x="7388352" y="4910328"/>
            <a:ext cx="4160520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72127"/>
                </a:solidFill>
                <a:latin typeface="Aptos Display"/>
              </a:rPr>
              <a:t>Where to verify</a:t>
            </a:r>
          </a:p>
        </p:txBody>
      </p:sp>
      <p:sp>
        <p:nvSpPr>
          <p:cNvPr id="20" name="Text: The GitHub release contains the 42-page PDF, plain"/>
          <p:cNvSpPr txBox="1"/>
          <p:nvPr/>
        </p:nvSpPr>
        <p:spPr>
          <a:xfrm>
            <a:off x="7388352" y="5285232"/>
            <a:ext cx="4160520" cy="4846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647078"/>
                </a:solidFill>
                <a:latin typeface="Aptos"/>
              </a:rPr>
              <a:t>The GitHub release contains the 42-page PDF, plain-language interpretation, CSV evidence, plots, manifests and checksums.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: THE RECOMMENDATION"/>
          <p:cNvSpPr txBox="1"/>
          <p:nvPr/>
        </p:nvSpPr>
        <p:spPr>
          <a:xfrm>
            <a:off x="832104" y="676656"/>
            <a:ext cx="4389120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8FD7BF"/>
                </a:solidFill>
                <a:latin typeface="Aptos"/>
              </a:rPr>
              <a:t>THE RECOMMENDATION</a:t>
            </a:r>
          </a:p>
        </p:txBody>
      </p:sp>
      <p:sp>
        <p:nvSpPr>
          <p:cNvPr id="3" name="Text: Approve a controlled live pilot."/>
          <p:cNvSpPr txBox="1"/>
          <p:nvPr/>
        </p:nvSpPr>
        <p:spPr>
          <a:xfrm>
            <a:off x="813816" y="1207008"/>
            <a:ext cx="7955279" cy="56692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Aptos Display"/>
              </a:rPr>
              <a:t>Approve a controlled live pilot.</a:t>
            </a:r>
          </a:p>
        </p:txBody>
      </p:sp>
      <p:sp>
        <p:nvSpPr>
          <p:cNvPr id="4" name="Text: Wolf is ready to improve how decisions are made: b"/>
          <p:cNvSpPr txBox="1"/>
          <p:nvPr/>
        </p:nvSpPr>
        <p:spPr>
          <a:xfrm>
            <a:off x="841248" y="2066543"/>
            <a:ext cx="7818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D7E1DE"/>
                </a:solidFill>
                <a:latin typeface="Aptos"/>
              </a:rPr>
              <a:t>Wolf is ready to improve how decisions are made: broad screening, explicit risk, consistent portfolio construction and an audit trail. It is not yet ready to promise alpha.</a:t>
            </a:r>
          </a:p>
        </p:txBody>
      </p:sp>
      <p:sp>
        <p:nvSpPr>
          <p:cNvPr id="5" name="Rectangle 4"/>
          <p:cNvSpPr/>
          <p:nvPr/>
        </p:nvSpPr>
        <p:spPr>
          <a:xfrm>
            <a:off x="841248" y="3730752"/>
            <a:ext cx="3355848" cy="1225296"/>
          </a:xfrm>
          <a:prstGeom prst="rect">
            <a:avLst/>
          </a:prstGeom>
          <a:solidFill>
            <a:srgbClr val="243037"/>
          </a:solidFill>
          <a:ln w="10160">
            <a:solidFill>
              <a:srgbClr val="4351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: USE NOW"/>
          <p:cNvSpPr txBox="1"/>
          <p:nvPr/>
        </p:nvSpPr>
        <p:spPr>
          <a:xfrm>
            <a:off x="1005840" y="3950208"/>
            <a:ext cx="2926080" cy="24688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8FD7BF"/>
                </a:solidFill>
                <a:latin typeface="Aptos"/>
              </a:rPr>
              <a:t>USE NOW</a:t>
            </a:r>
          </a:p>
        </p:txBody>
      </p:sp>
      <p:sp>
        <p:nvSpPr>
          <p:cNvPr id="7" name="Text: Ranking, diversification, adaptive risk and govern"/>
          <p:cNvSpPr txBox="1"/>
          <p:nvPr/>
        </p:nvSpPr>
        <p:spPr>
          <a:xfrm>
            <a:off x="1005840" y="4379976"/>
            <a:ext cx="2898648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FFFFFF"/>
                </a:solidFill>
                <a:latin typeface="Aptos"/>
              </a:rPr>
              <a:t>Ranking, diversification, adaptive risk and governance</a:t>
            </a:r>
          </a:p>
        </p:txBody>
      </p:sp>
      <p:sp>
        <p:nvSpPr>
          <p:cNvPr id="8" name="Rectangle 7"/>
          <p:cNvSpPr/>
          <p:nvPr/>
        </p:nvSpPr>
        <p:spPr>
          <a:xfrm>
            <a:off x="4526280" y="3730752"/>
            <a:ext cx="3355848" cy="1225296"/>
          </a:xfrm>
          <a:prstGeom prst="rect">
            <a:avLst/>
          </a:prstGeom>
          <a:solidFill>
            <a:srgbClr val="243037"/>
          </a:solidFill>
          <a:ln w="10160">
            <a:solidFill>
              <a:srgbClr val="4351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: PROVE LIVE"/>
          <p:cNvSpPr txBox="1"/>
          <p:nvPr/>
        </p:nvSpPr>
        <p:spPr>
          <a:xfrm>
            <a:off x="4690872" y="3950208"/>
            <a:ext cx="2926080" cy="24688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8FD7BF"/>
                </a:solidFill>
                <a:latin typeface="Aptos"/>
              </a:rPr>
              <a:t>PROVE LIVE</a:t>
            </a:r>
          </a:p>
        </p:txBody>
      </p:sp>
      <p:sp>
        <p:nvSpPr>
          <p:cNvPr id="10" name="Text: Net benchmark edge in a genuine future shadow reco"/>
          <p:cNvSpPr txBox="1"/>
          <p:nvPr/>
        </p:nvSpPr>
        <p:spPr>
          <a:xfrm>
            <a:off x="4690872" y="4379976"/>
            <a:ext cx="2898648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FFFFFF"/>
                </a:solidFill>
                <a:latin typeface="Aptos"/>
              </a:rPr>
              <a:t>Net benchmark edge in a genuine future shadow record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11312" y="3730752"/>
            <a:ext cx="3355848" cy="1225296"/>
          </a:xfrm>
          <a:prstGeom prst="rect">
            <a:avLst/>
          </a:prstGeom>
          <a:solidFill>
            <a:srgbClr val="243037"/>
          </a:solidFill>
          <a:ln w="10160">
            <a:solidFill>
              <a:srgbClr val="4351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: FIX NEXT"/>
          <p:cNvSpPr txBox="1"/>
          <p:nvPr/>
        </p:nvSpPr>
        <p:spPr>
          <a:xfrm>
            <a:off x="8375904" y="3950208"/>
            <a:ext cx="2926080" cy="24688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8FD7BF"/>
                </a:solidFill>
                <a:latin typeface="Aptos"/>
              </a:rPr>
              <a:t>FIX NEXT</a:t>
            </a:r>
          </a:p>
        </p:txBody>
      </p:sp>
      <p:sp>
        <p:nvSpPr>
          <p:cNvPr id="13" name="Text: Observed PIT vintages and probability calibration"/>
          <p:cNvSpPr txBox="1"/>
          <p:nvPr/>
        </p:nvSpPr>
        <p:spPr>
          <a:xfrm>
            <a:off x="8375904" y="4379976"/>
            <a:ext cx="2898648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FFFFFF"/>
                </a:solidFill>
                <a:latin typeface="Aptos"/>
              </a:rPr>
              <a:t>Observed PIT vintages and probability calibration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41248" y="5623560"/>
            <a:ext cx="10716768" cy="530352"/>
          </a:xfrm>
          <a:prstGeom prst="rect">
            <a:avLst/>
          </a:prstGeom>
          <a:solidFill>
            <a:srgbClr val="0B6F56"/>
          </a:solidFill>
          <a:ln w="10160">
            <a:solidFill>
              <a:srgbClr val="0B6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: Investment edge today: a better-controlled process"/>
          <p:cNvSpPr txBox="1"/>
          <p:nvPr/>
        </p:nvSpPr>
        <p:spPr>
          <a:xfrm>
            <a:off x="1051560" y="5788152"/>
            <a:ext cx="10287000" cy="20116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ptos"/>
              </a:rPr>
              <a:t>Investment edge today: a better-controlled process.  Investment edge tomorrow: only what live evidence proves.</a:t>
            </a:r>
          </a:p>
        </p:txBody>
      </p:sp>
      <p:sp>
        <p:nvSpPr>
          <p:cNvPr id="16" name="Text: CONDITIONALLY_APPROVED  |  Governance 87.5/100  | "/>
          <p:cNvSpPr txBox="1"/>
          <p:nvPr/>
        </p:nvSpPr>
        <p:spPr>
          <a:xfrm>
            <a:off x="841248" y="6419088"/>
            <a:ext cx="10698480" cy="1828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9EAFAB"/>
                </a:solidFill>
                <a:latin typeface="Aptos"/>
              </a:rPr>
              <a:t>CONDITIONALLY_APPROVED  |  Governance 87.5/100  |  As of 13 August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Wolf Quant Model Investment Committee Briefing</dc:title>
  <dc:subject>Current recommendations, validation evidence and live pilot plan</dc:subject>
  <dc:creator>The Wolf Quant Model</dc:creator>
  <cp:keywords>equities, portfolio, validation, backtest, investment committee</cp:keywords>
  <dc:description>Generated from tracked repository evidence. Research use only.</dc:description>
  <cp:lastModifiedBy>Steve Canny</cp:lastModifiedBy>
  <cp:revision>1</cp:revision>
  <dcterms:created xsi:type="dcterms:W3CDTF">2026-08-13T14:27:31Z</dcterms:created>
  <dcterms:modified xsi:type="dcterms:W3CDTF">2026-08-13T14:27:31Z</dcterms:modified>
  <cp:category/>
</cp:coreProperties>
</file>